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customXml/item1.xml" ContentType="application/xml"/>
  <Override PartName="/customXml/itemProps1.xml" ContentType="application/vnd.openxmlformats-officedocument.customXmlProperties+xml"/>
  <Override PartName="/customXml/item2.xml" ContentType="application/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7c984dd18b604a6b" Type="http://schemas.openxmlformats.org/package/2006/relationships/metadata/core-properties" Target="/docProps/core.xml"/><Relationship Id="Rd3f4dfcb385047a8" Type="http://schemas.openxmlformats.org/officeDocument/2006/relationships/officeDocument" Target="/ppt/presentation.xml"/><Relationship Id="Rd9b38c6ec1254c29" Type="http://schemas.openxmlformats.org/officeDocument/2006/relationships/extended-properties" Target="/docProps/app.xml"/><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d34c9d5bd9ae43f9"/>
  </p:sldMasterIdLst>
  <p:notesMasterIdLst>
    <p:notesMasterId xmlns:r="http://schemas.openxmlformats.org/officeDocument/2006/relationships" r:id="Re9385efb45be4ac0"/>
  </p:notesMasterIdLst>
  <p:sldIdLst>
    <p:sldId xmlns:r="http://schemas.openxmlformats.org/officeDocument/2006/relationships" id="256" r:id="R8a01ec32a4984260"/>
    <p:sldId xmlns:r="http://schemas.openxmlformats.org/officeDocument/2006/relationships" id="257" r:id="Rdbe9d3c667864658"/>
    <p:sldId xmlns:r="http://schemas.openxmlformats.org/officeDocument/2006/relationships" id="258" r:id="R8bcd697e392d4fb1"/>
    <p:sldId xmlns:r="http://schemas.openxmlformats.org/officeDocument/2006/relationships" id="259" r:id="Rd6940c7d73b14f2e"/>
    <p:sldId xmlns:r="http://schemas.openxmlformats.org/officeDocument/2006/relationships" id="260" r:id="Rfb84e19a8c674ed5"/>
    <p:sldId xmlns:r="http://schemas.openxmlformats.org/officeDocument/2006/relationships" id="261" r:id="Rd2a3720414f04514"/>
    <p:sldId xmlns:r="http://schemas.openxmlformats.org/officeDocument/2006/relationships" id="262" r:id="R0284e3de7927458b"/>
    <p:sldId xmlns:r="http://schemas.openxmlformats.org/officeDocument/2006/relationships" id="263" r:id="R99c7355c02774bc7"/>
    <p:sldId xmlns:r="http://schemas.openxmlformats.org/officeDocument/2006/relationships" id="264" r:id="R45ad2eca803e4d5d"/>
    <p:sldId xmlns:r="http://schemas.openxmlformats.org/officeDocument/2006/relationships" id="265" r:id="Rba4ebbeb2ec845d9"/>
    <p:sldId xmlns:r="http://schemas.openxmlformats.org/officeDocument/2006/relationships" id="266" r:id="Rdc23757b992b4055"/>
    <p:sldId xmlns:r="http://schemas.openxmlformats.org/officeDocument/2006/relationships" id="267" r:id="R53888063d21e40cc"/>
    <p:sldId xmlns:r="http://schemas.openxmlformats.org/officeDocument/2006/relationships" id="268" r:id="Rda67a24e194c4392"/>
    <p:sldId xmlns:r="http://schemas.openxmlformats.org/officeDocument/2006/relationships" id="269" r:id="R994681ff81e849ea"/>
    <p:sldId xmlns:r="http://schemas.openxmlformats.org/officeDocument/2006/relationships" id="270" r:id="R584ba2fc482f474e"/>
    <p:sldId xmlns:r="http://schemas.openxmlformats.org/officeDocument/2006/relationships" id="271" r:id="R693c2b3fd9af46d3"/>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ec311361b5004fa9" Type="http://schemas.openxmlformats.org/officeDocument/2006/relationships/tableStyles" Target="/ppt/tableStyles.xml"/><Relationship Id="Rdbe9d3c667864658" Type="http://schemas.openxmlformats.org/officeDocument/2006/relationships/slide" Target="/ppt/slides/slide2.xml"/><Relationship Id="R4eb75e6ca6044905" Type="http://schemas.openxmlformats.org/officeDocument/2006/relationships/presProps" Target="/ppt/presProps.xml"/><Relationship Id="R53888063d21e40cc" Type="http://schemas.openxmlformats.org/officeDocument/2006/relationships/slide" Target="/ppt/slides/slide12.xml"/><Relationship Id="rId3" Type="http://schemas.openxmlformats.org/officeDocument/2006/relationships/customXml" Target="../customXml/item3.xml"/><Relationship Id="R8a01ec32a4984260" Type="http://schemas.openxmlformats.org/officeDocument/2006/relationships/slide" Target="/ppt/slides/slide1.xml"/><Relationship Id="R8bcd697e392d4fb1" Type="http://schemas.openxmlformats.org/officeDocument/2006/relationships/slide" Target="/ppt/slides/slide3.xml"/><Relationship Id="R45ad2eca803e4d5d" Type="http://schemas.openxmlformats.org/officeDocument/2006/relationships/slide" Target="/ppt/slides/slide9.xml"/><Relationship Id="Rba4ebbeb2ec845d9" Type="http://schemas.openxmlformats.org/officeDocument/2006/relationships/slide" Target="/ppt/slides/slide10.xml"/><Relationship Id="Rdc23757b992b4055" Type="http://schemas.openxmlformats.org/officeDocument/2006/relationships/slide" Target="/ppt/slides/slide11.xml"/><Relationship Id="R994681ff81e849ea" Type="http://schemas.openxmlformats.org/officeDocument/2006/relationships/slide" Target="/ppt/slides/slide14.xml"/><Relationship Id="R693c2b3fd9af46d3" Type="http://schemas.openxmlformats.org/officeDocument/2006/relationships/slide" Target="/ppt/slides/slide16.xml"/><Relationship Id="rId2" Type="http://schemas.openxmlformats.org/officeDocument/2006/relationships/customXml" Target="../customXml/item2.xml"/><Relationship Id="Re9385efb45be4ac0" Type="http://schemas.openxmlformats.org/officeDocument/2006/relationships/notesMaster" Target="/ppt/notesMasters/notesMaster1.xml"/><Relationship Id="R99c7355c02774bc7" Type="http://schemas.openxmlformats.org/officeDocument/2006/relationships/slide" Target="/ppt/slides/slide8.xml"/><Relationship Id="R584ba2fc482f474e" Type="http://schemas.openxmlformats.org/officeDocument/2006/relationships/slide" Target="/ppt/slides/slide15.xml"/><Relationship Id="rId1" Type="http://schemas.openxmlformats.org/officeDocument/2006/relationships/customXml" Target="../customXml/item1.xml"/><Relationship Id="Rd6940c7d73b14f2e" Type="http://schemas.openxmlformats.org/officeDocument/2006/relationships/slide" Target="/ppt/slides/slide4.xml"/><Relationship Id="R0284e3de7927458b" Type="http://schemas.openxmlformats.org/officeDocument/2006/relationships/slide" Target="/ppt/slides/slide7.xml"/><Relationship Id="Rd34c9d5bd9ae43f9" Type="http://schemas.openxmlformats.org/officeDocument/2006/relationships/slideMaster" Target="/ppt/slideMasters/slideMaster1.xml"/><Relationship Id="Rfb84e19a8c674ed5" Type="http://schemas.openxmlformats.org/officeDocument/2006/relationships/slide" Target="/ppt/slides/slide5.xml"/><Relationship Id="Rd2a3720414f04514" Type="http://schemas.openxmlformats.org/officeDocument/2006/relationships/slide" Target="/ppt/slides/slide6.xml"/><Relationship Id="Rda67a24e194c4392" Type="http://schemas.openxmlformats.org/officeDocument/2006/relationships/slide" Target="/ppt/slides/slide13.xml"/><Relationship Id="Re7c37c4a2f3c4682" Type="http://schemas.openxmlformats.org/officeDocument/2006/relationships/theme" Target="/ppt/theme/theme1.xml"/><Relationship Id="Rddef53a9bcdf4bd8" Type="http://schemas.openxmlformats.org/officeDocument/2006/relationships/viewProps" Target="/ppt/viewProps.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a19b1ce43846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70b68936484eb2" /><Relationship Type="http://schemas.openxmlformats.org/officeDocument/2006/relationships/notesMaster" Target="/ppt/notesMasters/notesMaster1.xml" Id="Rcda092b474ec43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142b69a13c46d7" /><Relationship Type="http://schemas.openxmlformats.org/officeDocument/2006/relationships/notesMaster" Target="/ppt/notesMasters/notesMaster1.xml" Id="R8d01b17c853348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06bc0ecdba427d" /><Relationship Type="http://schemas.openxmlformats.org/officeDocument/2006/relationships/notesMaster" Target="/ppt/notesMasters/notesMaster1.xml" Id="R32d16c11450249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85be8de0ac43b8" /><Relationship Type="http://schemas.openxmlformats.org/officeDocument/2006/relationships/notesMaster" Target="/ppt/notesMasters/notesMaster1.xml" Id="R1bad96039a2244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9a200cb41b4107" /><Relationship Type="http://schemas.openxmlformats.org/officeDocument/2006/relationships/notesMaster" Target="/ppt/notesMasters/notesMaster1.xml" Id="R4b9cbf51ea7941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1968f2de664698" /><Relationship Type="http://schemas.openxmlformats.org/officeDocument/2006/relationships/notesMaster" Target="/ppt/notesMasters/notesMaster1.xml" Id="Re1135594c4c74c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e2f9a6daf74921" /><Relationship Type="http://schemas.openxmlformats.org/officeDocument/2006/relationships/notesMaster" Target="/ppt/notesMasters/notesMaster1.xml" Id="R7ed3bba066b049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2800414a444391" /><Relationship Type="http://schemas.openxmlformats.org/officeDocument/2006/relationships/notesMaster" Target="/ppt/notesMasters/notesMaster1.xml" Id="R76a7e07009c641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49845b73ad4612" /><Relationship Type="http://schemas.openxmlformats.org/officeDocument/2006/relationships/notesMaster" Target="/ppt/notesMasters/notesMaster1.xml" Id="R6aa28a8e6f9e41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6a95266879475a" /><Relationship Type="http://schemas.openxmlformats.org/officeDocument/2006/relationships/notesMaster" Target="/ppt/notesMasters/notesMaster1.xml" Id="R4072169b1e264c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ac592c22914f78" /><Relationship Type="http://schemas.openxmlformats.org/officeDocument/2006/relationships/notesMaster" Target="/ppt/notesMasters/notesMaster1.xml" Id="R55ad569ba8404f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c7be0993cb4e67" /><Relationship Type="http://schemas.openxmlformats.org/officeDocument/2006/relationships/notesMaster" Target="/ppt/notesMasters/notesMaster1.xml" Id="R200353f327fb41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6f148756c242d7" /><Relationship Type="http://schemas.openxmlformats.org/officeDocument/2006/relationships/notesMaster" Target="/ppt/notesMasters/notesMaster1.xml" Id="Rc1576f7ad77444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aba3c7d9ae4b8e" /><Relationship Type="http://schemas.openxmlformats.org/officeDocument/2006/relationships/notesMaster" Target="/ppt/notesMasters/notesMaster1.xml" Id="R411da9f3f0094c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ea49b15fc94dd2" /><Relationship Type="http://schemas.openxmlformats.org/officeDocument/2006/relationships/notesMaster" Target="/ppt/notesMasters/notesMaster1.xml" Id="R5d53e65708424e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4017fa0fcd42d7" /><Relationship Type="http://schemas.openxmlformats.org/officeDocument/2006/relationships/notesMaster" Target="/ppt/notesMasters/notesMaster1.xml" Id="R497c8f75880547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transition, about 25 seconds:</a:t>
            </a:r>
          </a:p>
          <a:p xmlns:a="http://schemas.openxmlformats.org/drawingml/2006/main">
            <a:r>
              <a:t>"Microsoft just announced a new Copilot experience with Home, Code and Autopilot. Home brings Chat and Cowork together. The part I want to focus on today is Autopilot: an agent that keeps working after we log off. That makes this question very practical. If it acts on our behalf, what evidence do we have of what it did?"</a:t>
            </a:r>
            <a:endParaRPr/>
          </a:p>
          <a:p xmlns:a="http://schemas.openxmlformats.org/drawingml/2006/main">
            <a:r>
              <a:t/>
            </a:r>
          </a:p>
          <a:p xmlns:a="http://schemas.openxmlformats.org/drawingml/2006/main">
            <a:r>
              <a:t>Pause on the thesis, then point to runtime, skills, boundary and tests. Before moving into the announcement detail, use the next slide for your brief personal introduction.</a:t>
            </a:r>
            <a:endParaRPr/>
          </a:p>
          <a:p xmlns:a="http://schemas.openxmlformats.org/drawingml/2006/main">
            <a:r>
              <a:t/>
            </a:r>
          </a:p>
          <a:p xmlns:a="http://schemas.openxmlformats.org/drawingml/2006/main">
            <a:r>
              <a:t>The subtitle describes Microsoft's announced cloud Autopilot direction. The private preview expands at the end of September, as explained on the later announcement slide. It does not imply that all attendees already have access.</a:t>
            </a:r>
          </a:p>
          <a:p xmlns:a="http://schemas.openxmlformats.org/drawingml/2006/main">
            <a:r>
              <a:t/>
            </a:r>
          </a:p>
          <a:p xmlns:a="http://schemas.openxmlformats.org/drawingml/2006/main">
            <a:r>
              <a:t>Pacing: 2 minutes.</a:t>
            </a:r>
          </a:p>
          <a:p xmlns:a="http://schemas.openxmlformats.org/drawingml/2006/main">
            <a:r>
              <a:t/>
            </a:r>
          </a:p>
          <a:p xmlns:a="http://schemas.openxmlformats.org/drawingml/2006/main">
            <a:r>
              <a:t>Opening: From Vibes to Verifiable, Modern Workplace Conference, Manila, 29 September 2026.</a:t>
            </a:r>
          </a:p>
          <a:p xmlns:a="http://schemas.openxmlformats.org/drawingml/2006/main">
            <a:r>
              <a:t/>
            </a:r>
          </a:p>
          <a:p xmlns:a="http://schemas.openxmlformats.org/drawingml/2006/main">
            <a:r>
              <a:t>The four ownership layers are the framework for this session. They describe what a team must inspect when an agent can take action. Skills state intended behavior. Runtime permissions and tests provide additional enforcement and evidence.</a:t>
            </a:r>
          </a:p>
          <a:p xmlns:a="http://schemas.openxmlformats.org/drawingml/2006/main">
            <a:r>
              <a:t/>
            </a:r>
          </a:p>
          <a:p xmlns:a="http://schemas.openxmlformats.org/drawingml/2006/main">
            <a:r>
              <a:t>The examples use Autopilot and Tula. Healthcare is the worked example, while the ownership questions apply to any workplace workflow.</a:t>
            </a:r>
          </a:p>
          <a:p xmlns:a="http://schemas.openxmlformats.org/drawingml/2006/main">
            <a:r>
              <a:t/>
            </a:r>
          </a:p>
          <a:p xmlns:a="http://schemas.openxmlformats.org/drawingml/2006/main">
            <a:r>
              <a:t>Sources</a:t>
            </a:r>
          </a:p>
          <a:p xmlns:a="http://schemas.openxmlformats.org/drawingml/2006/main">
            <a:r>
              <a:t>- https://github.com/realactivity/tula</a:t>
            </a:r>
          </a:p>
          <a:p xmlns:a="http://schemas.openxmlformats.org/drawingml/2006/main">
            <a:r>
              <a:t>- https://blogs.microsoft.com/blog/2026/09/25/introducing-the-new-copilot-with-home-code-and-autopilot/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 45-60 seconds</a:t>
            </a:r>
          </a:p>
          <a:p xmlns:a="http://schemas.openxmlformats.org/drawingml/2006/main">
            <a:r>
              <a:t/>
            </a:r>
            <a:endParaRPr/>
          </a:p>
          <a:p xmlns:a="http://schemas.openxmlformats.org/drawingml/2006/main">
            <a:r>
              <a:t>Suggested opening:</a:t>
            </a:r>
          </a:p>
          <a:p xmlns:a="http://schemas.openxmlformats.org/drawingml/2006/main">
            <a:r>
              <a:t>"I'm Paul Swider. This is less a headshot and more a screenshot of my brain. I've spent 30 years building healthcare technology. Lately that means Tula, an agent patients can own, and the question behind this whole session: how do we let AI do useful work and still know what it did? I also write for Cloud Wars and bring people together through the Boston Healthcare Cloud &amp; AI Community. It's good to be back in Manila."</a:t>
            </a:r>
            <a:endParaRPr/>
          </a:p>
          <a:p xmlns:a="http://schemas.openxmlformats.org/drawingml/2006/main">
            <a:r>
              <a:t/>
            </a:r>
          </a:p>
          <a:p xmlns:a="http://schemas.openxmlformats.org/drawingml/2006/main">
            <a:r>
              <a:t>The browser-tabs line is an original, lighthearted introduction, not a measured biographical claim. BOSHUG is the Boston Healthcare Cloud &amp; AI Community.</a:t>
            </a:r>
          </a:p>
          <a:p xmlns:a="http://schemas.openxmlformats.org/drawingml/2006/main">
            <a:r>
              <a:t/>
            </a:r>
          </a:p>
          <a:p xmlns:a="http://schemas.openxmlformats.org/drawingml/2006/main">
            <a:r>
              <a:t>RESEARCH WINDOW: 29 September 2024 through 29 September 2026. Reviewed 29 September 2026, Manila time.</a:t>
            </a:r>
          </a:p>
          <a:p xmlns:a="http://schemas.openxmlformats.org/drawingml/2006/main">
            <a:r>
              <a:t/>
            </a:r>
          </a:p>
          <a:p xmlns:a="http://schemas.openxmlformats.org/drawingml/2006/main">
            <a:r>
              <a:t>Recent-work context, for optional remarks:</a:t>
            </a:r>
          </a:p>
          <a:p xmlns:a="http://schemas.openxmlformats.org/drawingml/2006/main">
            <a:r>
              <a:t>- October 2024: Sessionize lists Manila, Kuala Lumpur and Seoul speaking appearances, followed by CollabCon in December.</a:t>
            </a:r>
          </a:p>
          <a:p xmlns:a="http://schemas.openxmlformats.org/drawingml/2006/main">
            <a:r>
              <a:t>- 2025: Sessionize lists Boston health-tech and AI community events, AgentCon Mexico City and M365 Community Days NYC. RealActivity's Asian Tour announcement describes Paul presenting Microsoft AI developer services and demonstrating Wheelhouse AI CoE in Manila and Malaysia.</a:t>
            </a:r>
          </a:p>
          <a:p xmlns:a="http://schemas.openxmlformats.org/drawingml/2006/main">
            <a:r>
              <a:t>- February 2026: Cloud Wars interviewed Paul about production AI, vibe coding and Microsoft's AI Tour.</a:t>
            </a:r>
          </a:p>
          <a:p xmlns:a="http://schemas.openxmlformats.org/drawingml/2006/main">
            <a:r>
              <a:t>- May 2026: Cloud Wars covered his development of Tula and its focus on patient agency. The public repository describes Tula as an open-source collection of OpenClaw skills and patterns for personal health intelligence.</a:t>
            </a:r>
          </a:p>
          <a:p xmlns:a="http://schemas.openxmlformats.org/drawingml/2006/main">
            <a:r>
              <a:t>- September 2026: AvePoint's #shifthappens episode 136 featured Paul on patient ownership of agents and governance beyond the hospital perimeter.</a:t>
            </a:r>
          </a:p>
          <a:p xmlns:a="http://schemas.openxmlformats.org/drawingml/2006/main">
            <a:r>
              <a:t/>
            </a:r>
          </a:p>
          <a:p xmlns:a="http://schemas.openxmlformats.org/drawingml/2006/main">
            <a:r>
              <a:t>Credential checks:</a:t>
            </a:r>
          </a:p>
          <a:p xmlns:a="http://schemas.openxmlformats.org/drawingml/2006/main">
            <a:r>
              <a:t>- The current RealActivity team page identifies Paul as Founder, CEO &amp; Chief AI Officer, Microsoft Certified Trainer and former Microsoft MVP. The slide therefore says MVP Alumni.</a:t>
            </a:r>
          </a:p>
          <a:p xmlns:a="http://schemas.openxmlformats.org/drawingml/2006/main">
            <a:r>
              <a:t>- Paul's About page supports his Wheelhouse AI Center of Excellence co-founder role and BOSHUG founder role. His current team page and Cloud Wars author profile support the healthcare AI analyst role.</a:t>
            </a:r>
          </a:p>
          <a:p xmlns:a="http://schemas.openxmlformats.org/drawingml/2006/main">
            <a:r>
              <a:t>- Public biographies disagree on the exact Wheelhouse/Frontier release year. No launch year or world-first claim is used here.</a:t>
            </a:r>
          </a:p>
          <a:p xmlns:a="http://schemas.openxmlformats.org/drawingml/2006/main">
            <a:r>
              <a:t>- Omitted unverified outcome metrics, client claims and the ambiguous top-3%-rated wording. A Sessionize activity badge does not establish a speaker-quality ranking.</a:t>
            </a:r>
          </a:p>
          <a:p xmlns:a="http://schemas.openxmlformats.org/drawingml/2006/main">
            <a:r>
              <a:t/>
            </a:r>
          </a:p>
          <a:p xmlns:a="http://schemas.openxmlformats.org/drawingml/2006/main">
            <a:r>
              <a:t>PHOTO: User-supplied 17251.png. Preserved as an editable PowerPoint image with a native crop. No claim that the composited objects represent a photographed event.</a:t>
            </a:r>
          </a:p>
          <a:p xmlns:a="http://schemas.openxmlformats.org/drawingml/2006/main">
            <a:r>
              <a:t/>
            </a:r>
          </a:p>
          <a:p xmlns:a="http://schemas.openxmlformats.org/drawingml/2006/main">
            <a:r>
              <a:t>SOURCES</a:t>
            </a:r>
          </a:p>
          <a:p xmlns:a="http://schemas.openxmlformats.org/drawingml/2006/main">
            <a:r>
              <a:t>- https://www.realactivity.ai/team.html</a:t>
            </a:r>
          </a:p>
          <a:p xmlns:a="http://schemas.openxmlformats.org/drawingml/2006/main">
            <a:r>
              <a:t>- https://www.paulswider.com/about</a:t>
            </a:r>
          </a:p>
          <a:p xmlns:a="http://schemas.openxmlformats.org/drawingml/2006/main">
            <a:r>
              <a:t>- https://sessionize.com/pswider/</a:t>
            </a:r>
          </a:p>
          <a:p xmlns:a="http://schemas.openxmlformats.org/drawingml/2006/main">
            <a:r>
              <a:t>- https://www.linkedin.com/posts/realactivityusa_ampasiantour2025-ampmanila-ampcolombo-activity-7372262564988305408-bQXQ</a:t>
            </a:r>
          </a:p>
          <a:p xmlns:a="http://schemas.openxmlformats.org/drawingml/2006/main">
            <a:r>
              <a:t>- https://github.com/realactivity/tula</a:t>
            </a:r>
          </a:p>
          <a:p xmlns:a="http://schemas.openxmlformats.org/drawingml/2006/main">
            <a:r>
              <a:t>- https://cloudwars.com/copilot-podcast/ai-agent-and-copilot-podcast-openclaw-powered-healthcare-assistant-builds-patient-agency/</a:t>
            </a:r>
          </a:p>
          <a:p xmlns:a="http://schemas.openxmlformats.org/drawingml/2006/main">
            <a:r>
              <a:t>- https://www.avepoint.com/shifthappens/podcast/list/when-the-patient-owns-the-agent-the-case-for-individual-first-ai-governance</a:t>
            </a:r>
          </a:p>
          <a:p xmlns:a="http://schemas.openxmlformats.org/drawingml/2006/main">
            <a:r>
              <a:t>- https://cloudwars.com/ai/ai-agent-and-copilot-podcast-healthcare-leader-embraces-vibe-coding-production-ai-focus-at-microsoft-ai-tour/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2 minutes.</a:t>
            </a:r>
          </a:p>
          <a:p xmlns:a="http://schemas.openxmlformats.org/drawingml/2006/main">
            <a:r>
              <a:t/>
            </a:r>
            <a:endParaRPr/>
          </a:p>
          <a:p xmlns:a="http://schemas.openxmlformats.org/drawingml/2006/main">
            <a:r>
              <a:t>Microsoft announced the new experience on 25 September 2026. Home contains Chat and Cowork. Code is a separate place to build solutions. Autopilot handles persistent work.</a:t>
            </a:r>
          </a:p>
          <a:p xmlns:a="http://schemas.openxmlformats.org/drawingml/2006/main">
            <a:r>
              <a:t/>
            </a:r>
            <a:endParaRPr/>
          </a:p>
          <a:p xmlns:a="http://schemas.openxmlformats.org/drawingml/2006/main">
            <a:r>
              <a:t>Home and Code begin rolling out through Frontier over the coming weeks. The Autopilot private preview expands at the end of September. Availability depends on enrollment and rollout. Cowork itself became generally available in June; the new Home experience is a separate rollout.</a:t>
            </a:r>
          </a:p>
          <a:p xmlns:a="http://schemas.openxmlformats.org/drawingml/2006/main">
            <a:r>
              <a:t/>
            </a:r>
          </a:p>
          <a:p xmlns:a="http://schemas.openxmlformats.org/drawingml/2006/main">
            <a:r>
              <a:t>The commercial distinction matters: the Copilot user subscription covers everyday AI. Advanced experiences require that subscription and consume Copilot Credits. Usage billing does not replace the required seat.</a:t>
            </a:r>
          </a:p>
          <a:p xmlns:a="http://schemas.openxmlformats.org/drawingml/2006/main">
            <a:r>
              <a:t/>
            </a:r>
          </a:p>
          <a:p xmlns:a="http://schemas.openxmlformats.org/drawingml/2006/main">
            <a:r>
              <a:t>Sources</a:t>
            </a:r>
          </a:p>
          <a:p xmlns:a="http://schemas.openxmlformats.org/drawingml/2006/main">
            <a:r>
              <a:t>- https://news.microsoft.com/source/emea/2026/09/new-microsoft-copilot-brings-home-code-and-autopilot-together/</a:t>
            </a:r>
          </a:p>
          <a:p xmlns:a="http://schemas.openxmlformats.org/drawingml/2006/main">
            <a:r>
              <a:t>- https://www.microsoft.com/en-us/copilot/blog/2026/06/16/copilot-cowork-is-now-generally-available/</a:t>
            </a:r>
          </a:p>
          <a:p xmlns:a="http://schemas.openxmlformats.org/drawingml/2006/main">
            <a:r>
              <a:t>- https://learn.microsoft.com/en-us/microsoft-365/copilot/user-subscription-license-usage-based-billing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3 minutes.</a:t>
            </a:r>
          </a:p>
          <a:p xmlns:a="http://schemas.openxmlformats.org/drawingml/2006/main">
            <a:r>
              <a:t/>
            </a:r>
            <a:endParaRPr/>
          </a:p>
          <a:p xmlns:a="http://schemas.openxmlformats.org/drawingml/2006/main">
            <a:r>
              <a:t>Microsoft renamed Scout to Autopilot. The September announcement describes an agent hosted in the cloud, with its own identity, memory, computer and workspace. It can follow recurring work and resume projects across days.</a:t>
            </a:r>
          </a:p>
          <a:p xmlns:a="http://schemas.openxmlformats.org/drawingml/2006/main">
            <a:r>
              <a:t/>
            </a:r>
            <a:endParaRPr/>
          </a:p>
          <a:p xmlns:a="http://schemas.openxmlformats.org/drawingml/2006/main">
            <a:r>
              <a:t>Use the official product image to point out the recurring brief, workspace, integrations and permissions. It illustrates the announced experience and does not establish access in our tenant. The private preview expands at the end of September.</a:t>
            </a:r>
          </a:p>
          <a:p xmlns:a="http://schemas.openxmlformats.org/drawingml/2006/main">
            <a:r>
              <a:t/>
            </a:r>
          </a:p>
          <a:p xmlns:a="http://schemas.openxmlformats.org/drawingml/2006/main">
            <a:r>
              <a:t>Ask the audience: who owns the objective, which resources can the agent access, and what evidence remains after an action? Those are the operating questions for the next slide.</a:t>
            </a:r>
          </a:p>
          <a:p xmlns:a="http://schemas.openxmlformats.org/drawingml/2006/main">
            <a:r>
              <a:t/>
            </a:r>
          </a:p>
          <a:p xmlns:a="http://schemas.openxmlformats.org/drawingml/2006/main">
            <a:r>
              <a:t>Image: Microsoft product image. The example agent in the image is named Scout.</a:t>
            </a:r>
          </a:p>
          <a:p xmlns:a="http://schemas.openxmlformats.org/drawingml/2006/main">
            <a:r>
              <a:t/>
            </a:r>
          </a:p>
          <a:p xmlns:a="http://schemas.openxmlformats.org/drawingml/2006/main">
            <a:r>
              <a:t>Sources</a:t>
            </a:r>
          </a:p>
          <a:p xmlns:a="http://schemas.openxmlformats.org/drawingml/2006/main">
            <a:r>
              <a:t>- https://blogs.microsoft.com/blog/2026/09/25/introducing-the-new-copilot-with-home-code-and-autopilot/</a:t>
            </a:r>
          </a:p>
          <a:p xmlns:a="http://schemas.openxmlformats.org/drawingml/2006/main">
            <a:r>
              <a:t>- https://cdn-dynmedia-1.microsoft.com/is/image/microsoftcorp/3892351-microsoft-scout-new-4x3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3 minutes.</a:t>
            </a:r>
          </a:p>
          <a:p xmlns:a="http://schemas.openxmlformats.org/drawingml/2006/main">
            <a:r>
              <a:t/>
            </a:r>
            <a:endParaRPr/>
          </a:p>
          <a:p xmlns:a="http://schemas.openxmlformats.org/drawingml/2006/main">
            <a:r>
              <a:t>Autopilot is the new name for Scout. Microsoft describes identity, permissions and audit as part of the September cloud experience.</a:t>
            </a:r>
          </a:p>
          <a:p xmlns:a="http://schemas.openxmlformats.org/drawingml/2006/main">
            <a:r>
              <a:t/>
            </a:r>
          </a:p>
          <a:p xmlns:a="http://schemas.openxmlformats.org/drawingml/2006/main">
            <a:r>
              <a:t>The June Scout announcement specifies a governed Entra identity, approved resources, and human sign-off for sensitive actions. It also states that Scout is powered by OpenClaw and that Microsoft is contributing policy conformance upstream. These are Microsoft product statements, not an independent security certification.</a:t>
            </a:r>
          </a:p>
          <a:p xmlns:a="http://schemas.openxmlformats.org/drawingml/2006/main">
            <a:r>
              <a:t/>
            </a:r>
            <a:endParaRPr/>
          </a:p>
          <a:p xmlns:a="http://schemas.openxmlformats.org/drawingml/2006/main">
            <a:r>
              <a:t>The older desktop Scout preview and the new cloud Autopilot experience have different rollout and setup details. Do not imply that a local Scout demo proves every announced cloud feature.</a:t>
            </a:r>
          </a:p>
          <a:p xmlns:a="http://schemas.openxmlformats.org/drawingml/2006/main">
            <a:r>
              <a:t/>
            </a:r>
            <a:endParaRPr/>
          </a:p>
          <a:p xmlns:a="http://schemas.openxmlformats.org/drawingml/2006/main">
            <a:r>
              <a:t>Sources</a:t>
            </a:r>
          </a:p>
          <a:p xmlns:a="http://schemas.openxmlformats.org/drawingml/2006/main">
            <a:r>
              <a:t>- https://blogs.microsoft.com/blog/2026/09/25/introducing-the-new-copilot-with-home-code-and-autopilot/</a:t>
            </a:r>
          </a:p>
          <a:p xmlns:a="http://schemas.openxmlformats.org/drawingml/2006/main">
            <a:r>
              <a:t>- https://www.microsoft.com/en-us/copilot/blog/2026/06/02/introducing-microsoft-scout-your-always-on-personal-agent/</a:t>
            </a:r>
          </a:p>
          <a:p xmlns:a="http://schemas.openxmlformats.org/drawingml/2006/main">
            <a:r>
              <a:t>- https://learn.microsoft.com/en-us/microsoft-scout/overview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7 minutes.</a:t>
            </a:r>
          </a:p>
          <a:p xmlns:a="http://schemas.openxmlformats.org/drawingml/2006/main">
            <a:r>
              <a:t/>
            </a:r>
            <a:endParaRPr/>
          </a:p>
          <a:p xmlns:a="http://schemas.openxmlformats.org/drawingml/2006/main">
            <a:r>
              <a:t>Use whichever preview is already enabled in the demo tenant. If it is the desktop Scout app, call it the earlier Scout preview. Do not describe that desktop session as the new cloud Autopilot UI.</a:t>
            </a:r>
          </a:p>
          <a:p xmlns:a="http://schemas.openxmlformats.org/drawingml/2006/main">
            <a:r>
              <a:t/>
            </a:r>
          </a:p>
          <a:p xmlns:a="http://schemas.openxmlformats.org/drawingml/2006/main">
            <a:r>
              <a:t>Suggested task: Find open commitments in selected Outlook and Teams context, prepare a follow-up plan, and do not send anything.</a:t>
            </a:r>
            <a:endParaRPr/>
          </a:p>
          <a:p xmlns:a="http://schemas.openxmlformats.org/drawingml/2006/main">
            <a:r>
              <a:t/>
            </a:r>
          </a:p>
          <a:p xmlns:a="http://schemas.openxmlformats.org/drawingml/2006/main">
            <a:r>
              <a:t>Show the data sources, the permission boundary, and the approval point. Use synthetic data and stop before sending.</a:t>
            </a:r>
          </a:p>
          <a:p xmlns:a="http://schemas.openxmlformats.org/drawingml/2006/main">
            <a:r>
              <a:t/>
            </a:r>
          </a:p>
          <a:p xmlns:a="http://schemas.openxmlformats.org/drawingml/2006/main">
            <a:r>
              <a:t>If preview access is unavailable, return to slide 4 and walk through the official Autopilot product image.</a:t>
            </a:r>
          </a:p>
          <a:p xmlns:a="http://schemas.openxmlformats.org/drawingml/2006/main">
            <a:r>
              <a:t/>
            </a:r>
            <a:endParaRPr/>
          </a:p>
          <a:p xmlns:a="http://schemas.openxmlformats.org/drawingml/2006/main">
            <a:r>
              <a:t>Sources</a:t>
            </a:r>
          </a:p>
          <a:p xmlns:a="http://schemas.openxmlformats.org/drawingml/2006/main">
            <a:r>
              <a:t>- https://blogs.microsoft.com/blog/2026/09/25/introducing-the-new-copilot-with-home-code-and-autopilot/</a:t>
            </a:r>
          </a:p>
          <a:p xmlns:a="http://schemas.openxmlformats.org/drawingml/2006/main">
            <a:r>
              <a:t>- https://learn.microsoft.com/en-us/microsoft-scout/overview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3 minutes.</a:t>
            </a:r>
          </a:p>
          <a:p xmlns:a="http://schemas.openxmlformats.org/drawingml/2006/main">
            <a:r>
              <a:t/>
            </a:r>
            <a:endParaRPr/>
          </a:p>
          <a:p xmlns:a="http://schemas.openxmlformats.org/drawingml/2006/main">
            <a:r>
              <a:t>This diagram is a generic OpenClaw and Tula architecture. Teams, Telegram and email are example channels across deployments. They are not a promise that the new Microsoft Autopilot exposes all those channels.</a:t>
            </a:r>
          </a:p>
          <a:p xmlns:a="http://schemas.openxmlformats.org/drawingml/2006/main">
            <a:r>
              <a:t/>
            </a:r>
            <a:endParaRPr/>
          </a:p>
          <a:p xmlns:a="http://schemas.openxmlformats.org/drawingml/2006/main">
            <a:r>
              <a:t>FHIR and health memory belong to the Tula example. The runtime, skill contract, data boundary and evaluation evidence are reusable concepts. Microsoft described the Scout foundation as OpenClaw in June. The September rename does not imply identical deployment architectures.</a:t>
            </a:r>
          </a:p>
          <a:p xmlns:a="http://schemas.openxmlformats.org/drawingml/2006/main">
            <a:r>
              <a:t/>
            </a:r>
            <a:endParaRPr/>
          </a:p>
          <a:p xmlns:a="http://schemas.openxmlformats.org/drawingml/2006/main">
            <a:r>
              <a:t>A SKILL.md instruction expresses intent. Permissions, tool policy, data controls and tests are also needed to enforce and verify it.</a:t>
            </a:r>
          </a:p>
          <a:p xmlns:a="http://schemas.openxmlformats.org/drawingml/2006/main">
            <a:r>
              <a:t/>
            </a:r>
          </a:p>
          <a:p xmlns:a="http://schemas.openxmlformats.org/drawingml/2006/main">
            <a:r>
              <a:t>Sources</a:t>
            </a:r>
          </a:p>
          <a:p xmlns:a="http://schemas.openxmlformats.org/drawingml/2006/main">
            <a:r>
              <a:t>- https://www.microsoft.com/en-us/copilot/blog/2026/06/02/introducing-microsoft-scout-your-always-on-personal-agent/</a:t>
            </a:r>
          </a:p>
          <a:p xmlns:a="http://schemas.openxmlformats.org/drawingml/2006/main">
            <a:r>
              <a:t>- https://github.com/realactivity/tula/blob/main/docs/architecture.md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3 minutes.</a:t>
            </a:r>
          </a:p>
          <a:p xmlns:a="http://schemas.openxmlformats.org/drawingml/2006/main">
            <a:r>
              <a:t/>
            </a:r>
            <a:endParaRPr/>
          </a:p>
          <a:p xmlns:a="http://schemas.openxmlformats.org/drawingml/2006/main">
            <a:r>
              <a:t>Tula is the open-source collection of health skills for OpenClaw. The reference deployment is a single-user workspace. My Aria is the patient-facing demonstration UI and its documented public version renders synthetic fixtures.</a:t>
            </a:r>
          </a:p>
          <a:p xmlns:a="http://schemas.openxmlformats.org/drawingml/2006/main">
            <a:r>
              <a:t/>
            </a:r>
            <a:endParaRPr/>
          </a:p>
          <a:p xmlns:a="http://schemas.openxmlformats.org/drawingml/2006/main">
            <a:r>
              <a:t>Use this as a software and governance example. It does not establish clinical validity, medical-device clearance or production deployment. Self-hosted storage alone does not mean inference is local. Model routing and provider processing must be configured and assessed separately.</a:t>
            </a:r>
          </a:p>
          <a:p xmlns:a="http://schemas.openxmlformats.org/drawingml/2006/main">
            <a:r>
              <a:t/>
            </a:r>
          </a:p>
          <a:p xmlns:a="http://schemas.openxmlformats.org/drawingml/2006/main">
            <a:r>
              <a:t>Sources</a:t>
            </a:r>
          </a:p>
          <a:p xmlns:a="http://schemas.openxmlformats.org/drawingml/2006/main">
            <a:r>
              <a:t>- https://github.com/realactivity/tula</a:t>
            </a:r>
          </a:p>
          <a:p xmlns:a="http://schemas.openxmlformats.org/drawingml/2006/main">
            <a:r>
              <a:t>- https://github.com/realactivity/tula/blob/main/OPEN_CORE.md</a:t>
            </a:r>
            <a:endParaRPr/>
          </a:p>
          <a:p xmlns:a="http://schemas.openxmlformats.org/drawingml/2006/main">
            <a:r>
              <a:t>- https://github.com/realactivity/tula/blob/main/apps/my-aria/README.md</a:t>
            </a:r>
          </a:p>
          <a:p xmlns:a="http://schemas.openxmlformats.org/drawingml/2006/main">
            <a:r>
              <a:t>- https://github.com/realactivity/tula/blob/main/docs/architecture.md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9 minutes.</a:t>
            </a:r>
          </a:p>
          <a:p xmlns:a="http://schemas.openxmlformats.org/drawingml/2006/main">
            <a:r>
              <a:t/>
            </a:r>
            <a:endParaRPr/>
          </a:p>
          <a:p xmlns:a="http://schemas.openxmlformats.org/drawingml/2006/main">
            <a:r>
              <a:t>Live sequence:</a:t>
            </a:r>
          </a:p>
          <a:p xmlns:a="http://schemas.openxmlformats.org/drawingml/2006/main">
            <a:r>
              <a:t>1. Open skills/prep-my-visit/SKILL.md.</a:t>
            </a:r>
          </a:p>
          <a:p xmlns:a="http://schemas.openxmlformats.org/drawingml/2006/main">
            <a:r>
              <a:t>2. Point out use, non-use, workflow, and privacy as intended behavior that the runtime and tests must support.</a:t>
            </a:r>
          </a:p>
          <a:p xmlns:a="http://schemas.openxmlformats.org/drawingml/2006/main">
            <a:r>
              <a:t>3. Open evals/prep-my-visit/tasks/adversarial-phi-exfiltration-coercion.yaml.</a:t>
            </a:r>
          </a:p>
          <a:p xmlns:a="http://schemas.openxmlformats.org/drawingml/2006/main">
            <a:r>
              <a:t>4. Run: waza check skills/prep-my-visit</a:t>
            </a:r>
          </a:p>
          <a:p xmlns:a="http://schemas.openxmlformats.org/drawingml/2006/main">
            <a:r>
              <a:t>5. Run the live suite if authentication and time allow:</a:t>
            </a:r>
          </a:p>
          <a:p xmlns:a="http://schemas.openxmlformats.org/drawingml/2006/main">
            <a:r>
              <a:t>   waza run evals/prep-my-visit/eval.yaml -v</a:t>
            </a:r>
          </a:p>
          <a:p xmlns:a="http://schemas.openxmlformats.org/drawingml/2006/main">
            <a:r>
              <a:t/>
            </a:r>
            <a:endParaRPr/>
          </a:p>
          <a:p xmlns:a="http://schemas.openxmlformats.org/drawingml/2006/main">
            <a:r>
              <a:t>Show how a plausible failure becomes a test. The repo already contains the PHI exfiltration + coercion scenario, so demonstrate the pattern rather than inventing a production incident.</a:t>
            </a:r>
          </a:p>
          <a:p xmlns:a="http://schemas.openxmlformats.org/drawingml/2006/main">
            <a:r>
              <a:t/>
            </a:r>
            <a:endParaRPr/>
          </a:p>
          <a:p xmlns:a="http://schemas.openxmlformats.org/drawingml/2006/main">
            <a:r>
              <a:t>Fallback:</a:t>
            </a:r>
          </a:p>
          <a:p xmlns:a="http://schemas.openxmlformats.org/drawingml/2006/main">
            <a:r>
              <a:t>- Run the structural lane:</a:t>
            </a:r>
          </a:p>
          <a:p xmlns:a="http://schemas.openxmlformats.org/drawingml/2006/main">
            <a:r>
              <a:t>  waza run evals/prep-my-visit/eval.mock.yaml --skip-graders -v</a:t>
            </a:r>
          </a:p>
          <a:p xmlns:a="http://schemas.openxmlformats.org/drawingml/2006/main">
            <a:r>
              <a:t>- If the CLI is unavailable, inspect the YAML and explain the expected refusal, boundary language, and review requirement.</a:t>
            </a:r>
          </a:p>
          <a:p xmlns:a="http://schemas.openxmlformats.org/drawingml/2006/main">
            <a:r>
              <a:t/>
            </a:r>
            <a:endParaRPr/>
          </a:p>
          <a:p xmlns:a="http://schemas.openxmlformats.org/drawingml/2006/main">
            <a:r>
              <a:t>[Sources]</a:t>
            </a:r>
          </a:p>
          <a:p xmlns:a="http://schemas.openxmlformats.org/drawingml/2006/main">
            <a:r>
              <a:t>- https://github.com/realactivity/tula/blob/main/skills/prep-my-visit/SKILL.md</a:t>
            </a:r>
          </a:p>
          <a:p xmlns:a="http://schemas.openxmlformats.org/drawingml/2006/main">
            <a:r>
              <a:t>- https://github.com/realactivity/tula/blob/main/evals/prep-my-visit/tasks/adversarial-phi-exfiltration-coercion.yaml</a:t>
            </a:r>
          </a:p>
          <a:p xmlns:a="http://schemas.openxmlformats.org/drawingml/2006/main">
            <a:r>
              <a:t>- https://github.com/realactivity/tula/blob/main/evals/prep-my-visit/tasks/golden/golden-full-visit-package-deterministic.yaml</a:t>
            </a:r>
          </a:p>
          <a:p xmlns:a="http://schemas.openxmlformats.org/drawingml/2006/main">
            <a:r>
              <a:t>- https://github.com/microsoft/waza</a:t>
            </a:r>
          </a:p>
          <a:p xmlns:a="http://schemas.openxmlformats.org/drawingml/2006/main">
            <a:r>
              <a:t>[/Sources]</a:t>
            </a:r>
          </a:p>
          <a:p xmlns:a="http://schemas.openxmlformats.org/drawingml/2006/main">
            <a:r>
              <a:t/>
            </a:r>
          </a:p>
          <a:p xmlns:a="http://schemas.openxmlformats.org/drawingml/2006/main">
            <a:r>
              <a:t>A successful static check establishes skill readiness, not clinical correctness. The mock lane checks wiring and skips graders. Any live result shown belongs to that model, version and run. The public status page does not currently publish live pass rates.</a:t>
            </a:r>
          </a:p>
          <a:p xmlns:a="http://schemas.openxmlformats.org/drawingml/2006/main">
            <a:r>
              <a:t/>
            </a:r>
          </a:p>
          <a:p xmlns:a="http://schemas.openxmlformats.org/drawingml/2006/main">
            <a:r>
              <a:t>Current command reference: https://github.com/microsoft/waza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4 minutes.</a:t>
            </a:r>
          </a:p>
          <a:p xmlns:a="http://schemas.openxmlformats.org/drawingml/2006/main">
            <a:r>
              <a:t/>
            </a:r>
            <a:endParaRPr/>
          </a:p>
          <a:p xmlns:a="http://schemas.openxmlformats.org/drawingml/2006/main">
            <a:r>
              <a:t>The repository lists 78 task definitions across eight skills and one composition suite. Counts: 8 + 8 + 6 + 6 + 7 + 16 + 12 + 9 + 6 = 78.</a:t>
            </a:r>
          </a:p>
          <a:p xmlns:a="http://schemas.openxmlformats.org/drawingml/2006/main">
            <a:r>
              <a:t/>
            </a:r>
            <a:endParaRPr/>
          </a:p>
          <a:p xmlns:a="http://schemas.openxmlformats.org/drawingml/2006/main">
            <a:r>
              <a:t>These are coverage counts. The public status table currently shows no published live-run pass rates. The tests inspect output structure, routing, refusal language and other behavior signals using synthetic fixtures. They do not validate clinical correctness or production PHI handling.</a:t>
            </a:r>
          </a:p>
          <a:p xmlns:a="http://schemas.openxmlformats.org/drawingml/2006/main">
            <a:r>
              <a:t/>
            </a:r>
            <a:endParaRPr/>
          </a:p>
          <a:p xmlns:a="http://schemas.openxmlformats.org/drawingml/2006/main">
            <a:r>
              <a:t>The five required behavior dimensions shown here come from Tula's Patient Agent Eval Standard v0.1, a community proposal maintained by RealActivity.</a:t>
            </a:r>
          </a:p>
          <a:p xmlns:a="http://schemas.openxmlformats.org/drawingml/2006/main">
            <a:r>
              <a:t/>
            </a:r>
          </a:p>
          <a:p xmlns:a="http://schemas.openxmlformats.org/drawingml/2006/main">
            <a:r>
              <a:t>Sources</a:t>
            </a:r>
          </a:p>
          <a:p xmlns:a="http://schemas.openxmlformats.org/drawingml/2006/main">
            <a:r>
              <a:t>- https://github.com/realactivity/tula/blob/main/evals/README.md</a:t>
            </a:r>
          </a:p>
          <a:p xmlns:a="http://schemas.openxmlformats.org/drawingml/2006/main">
            <a:r>
              <a:t>- https://github.com/realactivity/tula/blob/main/docs/evals.md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4 minutes.</a:t>
            </a:r>
          </a:p>
          <a:p xmlns:a="http://schemas.openxmlformats.org/drawingml/2006/main">
            <a:r>
              <a:t/>
            </a:r>
            <a:endParaRPr/>
          </a:p>
          <a:p xmlns:a="http://schemas.openxmlformats.org/drawingml/2006/main">
            <a:r>
              <a:t>This two-lane design and its thresholds are Tula project policy. Microsoft Waza provides the evaluation framework. A live evaluation run is not Microsoft certification, regulatory approval or a clinical safety claim.</a:t>
            </a:r>
          </a:p>
          <a:p xmlns:a="http://schemas.openxmlformats.org/drawingml/2006/main">
            <a:r>
              <a:t/>
            </a:r>
          </a:p>
          <a:p xmlns:a="http://schemas.openxmlformats.org/drawingml/2006/main">
            <a:r>
              <a:t>The structural lane checks schema, links, fixtures and task wiring. The live lane runs a configured model and applies graders. Tula sets a default live threshold of 0.85 and 1.0 for strict suites. PHI boundary, adversarial, triage override and golden tags are release blockers.</a:t>
            </a:r>
          </a:p>
          <a:p xmlns:a="http://schemas.openxmlformats.org/drawingml/2006/main">
            <a:r>
              <a:t/>
            </a:r>
            <a:endParaRPr/>
          </a:p>
          <a:p xmlns:a="http://schemas.openxmlformats.org/drawingml/2006/main">
            <a:r>
              <a:t>Do not present 0.85 as achieved performance. The public repository does not currently publish live pass rates.</a:t>
            </a:r>
          </a:p>
          <a:p xmlns:a="http://schemas.openxmlformats.org/drawingml/2006/main">
            <a:r>
              <a:t/>
            </a:r>
            <a:endParaRPr/>
          </a:p>
          <a:p xmlns:a="http://schemas.openxmlformats.org/drawingml/2006/main">
            <a:r>
              <a:t>Sources</a:t>
            </a:r>
          </a:p>
          <a:p xmlns:a="http://schemas.openxmlformats.org/drawingml/2006/main">
            <a:r>
              <a:t>- https://github.com/realactivity/tula/blob/main/evals/TAXONOMY.yaml</a:t>
            </a:r>
          </a:p>
          <a:p xmlns:a="http://schemas.openxmlformats.org/drawingml/2006/main">
            <a:r>
              <a:t>- https://github.com/realactivity/tula/blob/main/evals/README.md</a:t>
            </a:r>
          </a:p>
          <a:p xmlns:a="http://schemas.openxmlformats.org/drawingml/2006/main">
            <a:r>
              <a:t>- https://github.com/realactivity/tula/blob/main/docs/evals.md</a:t>
            </a:r>
          </a:p>
          <a:p xmlns:a="http://schemas.openxmlformats.org/drawingml/2006/main">
            <a:r>
              <a:t>- https://github.com/microsoft/waza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3 minutes.</a:t>
            </a:r>
          </a:p>
          <a:p xmlns:a="http://schemas.openxmlformats.org/drawingml/2006/main">
            <a:r>
              <a:t/>
            </a:r>
            <a:endParaRPr/>
          </a:p>
          <a:p xmlns:a="http://schemas.openxmlformats.org/drawingml/2006/main">
            <a:r>
              <a:t>This is the pivot into the governance plane. Self-hosting can improve control over infrastructure and data location, but it does not automatically provide consent, role-aware policy, audit aggregation, or multi-tenant isolation.</a:t>
            </a:r>
          </a:p>
          <a:p xmlns:a="http://schemas.openxmlformats.org/drawingml/2006/main">
            <a:r>
              <a:t/>
            </a:r>
            <a:endParaRPr/>
          </a:p>
          <a:p xmlns:a="http://schemas.openxmlformats.org/drawingml/2006/main">
            <a:r>
              <a:t>The My Aria screenshot uses synthetic fixtures. It is evidence of the patient-facing context, not of a production governance deployment.</a:t>
            </a:r>
          </a:p>
          <a:p xmlns:a="http://schemas.openxmlformats.org/drawingml/2006/main">
            <a:r>
              <a:t/>
            </a:r>
            <a:endParaRPr/>
          </a:p>
          <a:p xmlns:a="http://schemas.openxmlformats.org/drawingml/2006/main">
            <a:r>
              <a:t>[Sources]</a:t>
            </a:r>
          </a:p>
          <a:p xmlns:a="http://schemas.openxmlformats.org/drawingml/2006/main">
            <a:r>
              <a:t>- https://github.com/realactivity/tula/blob/main/OPEN_CORE.md</a:t>
            </a:r>
          </a:p>
          <a:p xmlns:a="http://schemas.openxmlformats.org/drawingml/2006/main">
            <a:r>
              <a:t>- https://github.com/realactivity/tula/blob/main/docs/aria-commercial-platform.md</a:t>
            </a:r>
          </a:p>
          <a:p xmlns:a="http://schemas.openxmlformats.org/drawingml/2006/main">
            <a:r>
              <a:t>- https://github.com/realactivity/tula/blob/main/apps/my-aria/README.md</a:t>
            </a:r>
          </a:p>
          <a:p xmlns:a="http://schemas.openxmlformats.org/drawingml/2006/main">
            <a:r>
              <a:t>- Asset: https://github.com/realactivity/tula/blob/main/apps/my-aria/public/my-aria-ai-chats.png</a:t>
            </a:r>
          </a:p>
          <a:p xmlns:a="http://schemas.openxmlformats.org/drawingml/2006/main">
            <a:r>
              <a:t>[/Sources]</a:t>
            </a:r>
          </a:p>
          <a:p xmlns:a="http://schemas.openxmlformats.org/drawingml/2006/main">
            <a:r>
              <a:t/>
            </a:r>
          </a:p>
          <a:p xmlns:a="http://schemas.openxmlformats.org/drawingml/2006/main">
            <a:r>
              <a:t>Self-hosting does not itself provide local inference, consent enforcement or proof of regulatory compliance. Those require deployment-specific controls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2 minutes.</a:t>
            </a:r>
          </a:p>
          <a:p xmlns:a="http://schemas.openxmlformats.org/drawingml/2006/main">
            <a:r>
              <a:t/>
            </a:r>
            <a:endParaRPr/>
          </a:p>
          <a:p xmlns:a="http://schemas.openxmlformats.org/drawingml/2006/main">
            <a:r>
              <a:t>Explain what the prototype makes visible:</a:t>
            </a:r>
          </a:p>
          <a:p xmlns:a="http://schemas.openxmlformats.org/drawingml/2006/main">
            <a:r>
              <a:t>- Patient-owned Tula agents on one side.</a:t>
            </a:r>
          </a:p>
          <a:p xmlns:a="http://schemas.openxmlformats.org/drawingml/2006/main">
            <a:r>
              <a:t>- Institutional Microsoft 365 agents on the other.</a:t>
            </a:r>
          </a:p>
          <a:p xmlns:a="http://schemas.openxmlformats.org/drawingml/2006/main">
            <a:r>
              <a:t>- A trust bridge whose interactions can be filtered by consent, sensitivity, status, and attention.</a:t>
            </a:r>
          </a:p>
          <a:p xmlns:a="http://schemas.openxmlformats.org/drawingml/2006/main">
            <a:r>
              <a:t/>
            </a:r>
            <a:endParaRPr/>
          </a:p>
          <a:p xmlns:a="http://schemas.openxmlformats.org/drawingml/2006/main">
            <a:r>
              <a:t>Be explicit: the public view is labeled synthetic. Use it as a governance model and demo surface, not as production telemetry.</a:t>
            </a:r>
          </a:p>
          <a:p xmlns:a="http://schemas.openxmlformats.org/drawingml/2006/main">
            <a:r>
              <a:t/>
            </a:r>
            <a:endParaRPr/>
          </a:p>
          <a:p xmlns:a="http://schemas.openxmlformats.org/drawingml/2006/main">
            <a:r>
              <a:t>[Sources]</a:t>
            </a:r>
          </a:p>
          <a:p xmlns:a="http://schemas.openxmlformats.org/drawingml/2006/main">
            <a:r>
              <a:t>- https://mellowmushroom.realactivity.ai/</a:t>
            </a:r>
          </a:p>
          <a:p xmlns:a="http://schemas.openxmlformats.org/drawingml/2006/main">
            <a:r>
              <a:t>- Screenshot captured from the public Trust Bridge view on 2026-07-29</a:t>
            </a:r>
          </a:p>
          <a:p xmlns:a="http://schemas.openxmlformats.org/drawingml/2006/main">
            <a:r>
              <a:t>- https://github.com/realactivity/tula/blob/main/docs/aria-commercial-platform.md</a:t>
            </a:r>
          </a:p>
          <a:p xmlns:a="http://schemas.openxmlformats.org/drawingml/2006/main">
            <a:r>
              <a:t>[/Sources]</a:t>
            </a:r>
          </a:p>
          <a:p xmlns:a="http://schemas.openxmlformats.org/drawingml/2006/main">
            <a:r>
              <a:t/>
            </a:r>
          </a:p>
          <a:p xmlns:a="http://schemas.openxmlformats.org/drawingml/2006/main">
            <a:r>
              <a:t>Treat the captured synthetic dashboard as the dependable presentation example. Public site availability and its live controls can vary.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5 minutes.</a:t>
            </a:r>
          </a:p>
          <a:p xmlns:a="http://schemas.openxmlformats.org/drawingml/2006/main">
            <a:r>
              <a:t/>
            </a:r>
            <a:endParaRPr/>
          </a:p>
          <a:p xmlns:a="http://schemas.openxmlformats.org/drawingml/2006/main">
            <a:r>
              <a:t>At https://mellowmushroom.realactivity.ai/:</a:t>
            </a:r>
          </a:p>
          <a:p xmlns:a="http://schemas.openxmlformats.org/drawingml/2006/main">
            <a:r>
              <a:t>1. Stay on the Trust Bridge tab.</a:t>
            </a:r>
          </a:p>
          <a:p xmlns:a="http://schemas.openxmlformats.org/drawingml/2006/main">
            <a:r>
              <a:t>2. Enable "Only consent-blocked".</a:t>
            </a:r>
          </a:p>
          <a:p xmlns:a="http://schemas.openxmlformats.org/drawingml/2006/main">
            <a:r>
              <a:t>3. Select one bridge interaction.</a:t>
            </a:r>
          </a:p>
          <a:p xmlns:a="http://schemas.openxmlformats.org/drawingml/2006/main">
            <a:r>
              <a:t>4. Narrate the patient agent, the M365 agent, the consent outcome, sensitivity, and resulting status.</a:t>
            </a:r>
          </a:p>
          <a:p xmlns:a="http://schemas.openxmlformats.org/drawingml/2006/main">
            <a:r>
              <a:t>5. Close by showing the executive attention surface.</a:t>
            </a:r>
          </a:p>
          <a:p xmlns:a="http://schemas.openxmlformats.org/drawingml/2006/main">
            <a:r>
              <a:t/>
            </a:r>
            <a:endParaRPr/>
          </a:p>
          <a:p xmlns:a="http://schemas.openxmlformats.org/drawingml/2006/main">
            <a:r>
              <a:t>Do not sign in or expose live tenant data during the public session. The synthetic public view is sufficient.</a:t>
            </a:r>
          </a:p>
          <a:p xmlns:a="http://schemas.openxmlformats.org/drawingml/2006/main">
            <a:r>
              <a:t/>
            </a:r>
            <a:endParaRPr/>
          </a:p>
          <a:p xmlns:a="http://schemas.openxmlformats.org/drawingml/2006/main">
            <a:r>
              <a:t>Fallback:</a:t>
            </a:r>
          </a:p>
          <a:p xmlns:a="http://schemas.openxmlformats.org/drawingml/2006/main">
            <a:r>
              <a:t>- Return to slide 13 and narrate the same three steps from the captured dashboard.</a:t>
            </a:r>
          </a:p>
          <a:p xmlns:a="http://schemas.openxmlformats.org/drawingml/2006/main">
            <a:r>
              <a:t/>
            </a:r>
            <a:endParaRPr/>
          </a:p>
          <a:p xmlns:a="http://schemas.openxmlformats.org/drawingml/2006/main">
            <a:r>
              <a:t>[Sources]</a:t>
            </a:r>
          </a:p>
          <a:p xmlns:a="http://schemas.openxmlformats.org/drawingml/2006/main">
            <a:r>
              <a:t>- https://mellowmushroom.realactivity.ai/</a:t>
            </a:r>
          </a:p>
          <a:p xmlns:a="http://schemas.openxmlformats.org/drawingml/2006/main">
            <a:r>
              <a:t>[/Sources]</a:t>
            </a:r>
          </a:p>
          <a:p xmlns:a="http://schemas.openxmlformats.org/drawingml/2006/main">
            <a:r>
              <a:t/>
            </a:r>
          </a:p>
          <a:p xmlns:a="http://schemas.openxmlformats.org/drawingml/2006/main">
            <a:r>
              <a:t>If the public site cannot be opened, use the embedded synthetic dashboard on slide 13. Do not imply that the screenshot is current production telemetry.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2 minutes.</a:t>
            </a:r>
          </a:p>
          <a:p xmlns:a="http://schemas.openxmlformats.org/drawingml/2006/main">
            <a:r>
              <a:t/>
            </a:r>
            <a:endParaRPr/>
          </a:p>
          <a:p xmlns:a="http://schemas.openxmlformats.org/drawingml/2006/main">
            <a:r>
              <a:t>Autopilot illustrates workforce automation. Tula illustrates a patient-owned health workflow. Their common lesson is that identity, policy, approval, audit and evaluations need explicit design.</a:t>
            </a:r>
          </a:p>
          <a:p xmlns:a="http://schemas.openxmlformats.org/drawingml/2006/main">
            <a:r>
              <a:t/>
            </a:r>
          </a:p>
          <a:p xmlns:a="http://schemas.openxmlformats.org/drawingml/2006/main">
            <a:r>
              <a:t>Microsoft described Scout as built on OpenClaw, and Tula is an OpenClaw skill collection. This shared foundation does not establish feature parity, shared control implementations or the same hosting model. Clinical guardrails are design constraints and tests, not evidence of clinical validation.</a:t>
            </a:r>
          </a:p>
          <a:p xmlns:a="http://schemas.openxmlformats.org/drawingml/2006/main">
            <a:r>
              <a:t/>
            </a:r>
          </a:p>
          <a:p xmlns:a="http://schemas.openxmlformats.org/drawingml/2006/main">
            <a:r>
              <a:t>Sources</a:t>
            </a:r>
          </a:p>
          <a:p xmlns:a="http://schemas.openxmlformats.org/drawingml/2006/main">
            <a:r>
              <a:t>- https://www.microsoft.com/en-us/copilot/blog/2026/06/02/introducing-microsoft-scout-your-always-on-personal-agent/</a:t>
            </a:r>
            <a:endParaRPr/>
          </a:p>
          <a:p xmlns:a="http://schemas.openxmlformats.org/drawingml/2006/main">
            <a:r>
              <a:t>- https://blogs.microsoft.com/blog/2026/09/25/introducing-the-new-copilot-with-home-code-and-autopilot/</a:t>
            </a:r>
          </a:p>
          <a:p xmlns:a="http://schemas.openxmlformats.org/drawingml/2006/main">
            <a:r>
              <a:t>- https://github.com/realactivity/tula</a:t>
            </a:r>
            <a:endParaRPr/>
          </a:p>
          <a:p xmlns:a="http://schemas.openxmlformats.org/drawingml/2006/main">
            <a:r>
              <a:t>- https://github.com/realactivity/tula/blob/main/OPEN_CORE.md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Pacing: 2 minutes.</a:t>
            </a:r>
          </a:p>
          <a:p xmlns:a="http://schemas.openxmlformats.org/drawingml/2006/main">
            <a:r>
              <a:t/>
            </a:r>
            <a:endParaRPr/>
          </a:p>
          <a:p xmlns:a="http://schemas.openxmlformats.org/drawingml/2006/main">
            <a:r>
              <a:t>Return to the opening thesis and leave the audience with four verbs:</a:t>
            </a:r>
          </a:p>
          <a:p xmlns:a="http://schemas.openxmlformats.org/drawingml/2006/main">
            <a:r>
              <a:t>inspect, test, constrain, audit.</a:t>
            </a:r>
          </a:p>
          <a:p xmlns:a="http://schemas.openxmlformats.org/drawingml/2006/main">
            <a:r>
              <a:t/>
            </a:r>
            <a:endParaRPr/>
          </a:p>
          <a:p xmlns:a="http://schemas.openxmlformats.org/drawingml/2006/main">
            <a:r>
              <a:t>Suggested final line:</a:t>
            </a:r>
          </a:p>
          <a:p xmlns:a="http://schemas.openxmlformats.org/drawingml/2006/main">
            <a:r>
              <a:t>"The goal is not an agent that never fails. The goal is an agent system that tells you what it did, what stopped it, and whether the behavior still passes the contract after the next change."</a:t>
            </a:r>
          </a:p>
          <a:p xmlns:a="http://schemas.openxmlformats.org/drawingml/2006/main">
            <a:r>
              <a:t/>
            </a:r>
            <a:endParaRPr/>
          </a:p>
          <a:p xmlns:a="http://schemas.openxmlformats.org/drawingml/2006/main">
            <a:r>
              <a:t>[Sources]</a:t>
            </a:r>
          </a:p>
          <a:p xmlns:a="http://schemas.openxmlformats.org/drawingml/2006/main">
            <a:r>
              <a:t>- https://blogs.microsoft.com/blog/2026/09/25/introducing-the-new-copilot-with-home-code-and-autopilot/</a:t>
            </a:r>
          </a:p>
          <a:p xmlns:a="http://schemas.openxmlformats.org/drawingml/2006/main">
            <a:r>
              <a:t>- https://github.com/realactivity/tula</a:t>
            </a:r>
          </a:p>
          <a:p xmlns:a="http://schemas.openxmlformats.org/drawingml/2006/main">
            <a:r>
              <a:t>- https://github.com/microsoft/waza</a:t>
            </a:r>
          </a:p>
          <a:p xmlns:a="http://schemas.openxmlformats.org/drawingml/2006/main">
            <a:r>
              <a:t>[/Sources]</a:t>
            </a:r>
          </a:p>
          <a:p xmlns:a="http://schemas.openxmlformats.org/drawingml/2006/main">
            <a:r>
              <a:t/>
            </a:r>
          </a:p>
          <a:p xmlns:a="http://schemas.openxmlformats.org/drawingml/2006/main">
            <a:r>
              <a:t>Use the announcement link for current Autopilot direction. Older /microsoft-scout documentation describes the desktop preview.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b4cabe08f44c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606322614f4c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blank">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D137A57-61D5-4D9B-8E43-BDEF84F1EC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8/5/2026</a:t>
            </a:fld>
            <a:endParaRPr/>
          </a:p>
        </p:txBody>
      </p:sp>
      <p:sp>
        <p:nvSpPr>
          <p:cNvPr id="3" name="Footer Placeholder 2">
            <a:extLst xmlns:a="http://schemas.openxmlformats.org/drawingml/2006/main">
              <a:ext uri="{FF2B5EF4-FFF2-40B4-BE49-F238E27FC236}">
                <a16:creationId xmlns:a16="http://schemas.microsoft.com/office/drawing/2014/main" id="{13DC76DC-2743-4624-ADFE-5987B36457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5E6DA36-262D-41F3-8C19-547C93A2F6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6bd315e1f94cbb" /><Relationship Type="http://schemas.openxmlformats.org/officeDocument/2006/relationships/slideLayout" Target="/ppt/slideLayouts/slideLayout1.xml" Id="R3dce3faa78f84ef0" /><Relationship Type="http://schemas.openxmlformats.org/officeDocument/2006/relationships/slideLayout" Target="/ppt/slideLayouts/slideLayout2.xml" Id="R26d7a335eeb246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ce3faa78f84ef0"/>
    <p:sldLayoutId xmlns:r="http://schemas.openxmlformats.org/officeDocument/2006/relationships" id="2147483650" r:id="R26d7a335eeb246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48ef9af5484a37" /><Relationship Type="http://schemas.openxmlformats.org/officeDocument/2006/relationships/notesSlide" Target="/ppt/notesSlides/notesSlide1.xml" Id="R356c133697bf43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9161a81ede478e" /><Relationship Type="http://schemas.openxmlformats.org/officeDocument/2006/relationships/image" Target="/ppt/media/image.jpeg" Id="R6dbbfb8515b14c17" /><Relationship Type="http://schemas.openxmlformats.org/officeDocument/2006/relationships/notesSlide" Target="/ppt/notesSlides/notesSlide2.xml" Id="R8b5d35e78dde40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c2702523bd494e" /><Relationship Type="http://schemas.openxmlformats.org/officeDocument/2006/relationships/notesSlide" Target="/ppt/notesSlides/notesSlide3.xml" Id="Rceea7bed409c45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d61c00c5c348b3" /><Relationship Type="http://schemas.openxmlformats.org/officeDocument/2006/relationships/image" Target="/ppt/media/image2.jpeg" Id="Rc42a8c78f8474fb7" /><Relationship Type="http://schemas.openxmlformats.org/officeDocument/2006/relationships/notesSlide" Target="/ppt/notesSlides/notesSlide4.xml" Id="R2bb5e5b6d72c45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43dd6582e34371" /><Relationship Type="http://schemas.openxmlformats.org/officeDocument/2006/relationships/notesSlide" Target="/ppt/notesSlides/notesSlide5.xml" Id="R8b2756715bae40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5c85309e7c4988" /><Relationship Type="http://schemas.openxmlformats.org/officeDocument/2006/relationships/notesSlide" Target="/ppt/notesSlides/notesSlide6.xml" Id="Rf694a377f11e4b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6a6c6f81544361" /><Relationship Type="http://schemas.openxmlformats.org/officeDocument/2006/relationships/notesSlide" Target="/ppt/notesSlides/notesSlide7.xml" Id="R9334c42451e849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2a583de54b4ca8" /><Relationship Type="http://schemas.openxmlformats.org/officeDocument/2006/relationships/image" Target="/ppt/media/image.png" Id="R86a300699d1441bc" /><Relationship Type="http://schemas.openxmlformats.org/officeDocument/2006/relationships/notesSlide" Target="/ppt/notesSlides/notesSlide8.xml" Id="R3bb420337fbf4e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6f6227b77a4b5d" /><Relationship Type="http://schemas.openxmlformats.org/officeDocument/2006/relationships/notesSlide" Target="/ppt/notesSlides/notesSlide9.xml" Id="R9dfbaa2879b641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c29554871846a2" /><Relationship Type="http://schemas.openxmlformats.org/officeDocument/2006/relationships/notesSlide" Target="/ppt/notesSlides/notesSlide10.xml" Id="R29b1d555f87940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04702d6ae44cc7" /><Relationship Type="http://schemas.openxmlformats.org/officeDocument/2006/relationships/notesSlide" Target="/ppt/notesSlides/notesSlide11.xml" Id="R032814dd4ff244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ec240fa5dc4516" /><Relationship Type="http://schemas.openxmlformats.org/officeDocument/2006/relationships/image" Target="/ppt/media/image2.png" Id="Rf3edc0b26a5e4384" /><Relationship Type="http://schemas.openxmlformats.org/officeDocument/2006/relationships/notesSlide" Target="/ppt/notesSlides/notesSlide12.xml" Id="R30f5a4b227b24b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7ae79fc92f4763" /><Relationship Type="http://schemas.openxmlformats.org/officeDocument/2006/relationships/image" Target="/ppt/media/image3.jpeg" Id="Rcdd517c2c30a4770" /><Relationship Type="http://schemas.openxmlformats.org/officeDocument/2006/relationships/notesSlide" Target="/ppt/notesSlides/notesSlide13.xml" Id="R77dca403ed634a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144357a9ea4012" /><Relationship Type="http://schemas.openxmlformats.org/officeDocument/2006/relationships/notesSlide" Target="/ppt/notesSlides/notesSlide14.xml" Id="Rf8d4039d02a449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37d8f13f1c4b3b" /><Relationship Type="http://schemas.openxmlformats.org/officeDocument/2006/relationships/notesSlide" Target="/ppt/notesSlides/notesSlide15.xml" Id="Rda4ef1d6a8d546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976a8c27ad45f3" /><Relationship Type="http://schemas.openxmlformats.org/officeDocument/2006/relationships/hyperlink" Target="https://blogs.microsoft.com/blog/2026/09/25/introducing-the-new-copilot-with-home-code-and-autopilot/" TargetMode="External" Id="Rf68af95dc529451a" /><Relationship Type="http://schemas.openxmlformats.org/officeDocument/2006/relationships/hyperlink" Target="https://github.com/realactivity/tula" TargetMode="External" Id="R1636fc73d81243d0" /><Relationship Type="http://schemas.openxmlformats.org/officeDocument/2006/relationships/hyperlink" Target="https://github.com/microsoft/waza" TargetMode="External" Id="Rdaab7e7268e24244" /><Relationship Type="http://schemas.openxmlformats.org/officeDocument/2006/relationships/notesSlide" Target="/ppt/notesSlides/notesSlide16.xml" Id="R59d1a972dae84c02" /></Relationships>
</file>

<file path=ppt/slides/slide1.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20" name="s2-eyebrow">
            <a:extLst xmlns:a="http://schemas.openxmlformats.org/drawingml/2006/main">
              <a:ext uri="{FF2B5EF4-FFF2-40B4-BE49-F238E27FC236}">
                <a16:creationId xmlns:a16="http://schemas.microsoft.com/office/drawing/2014/main" id="{34FADE08-0426-42D7-83A4-948CEC7872B9}"/>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FROM VIBES TO VERIFIABLE</a:t>
            </a:r>
          </a:p>
        </p:txBody>
      </p:sp>
      <p:sp>
        <p:nvSpPr>
          <p:cNvPr id="2" name="s2-accent-rule">
            <a:extLst xmlns:a="http://schemas.openxmlformats.org/drawingml/2006/main">
              <a:ext uri="{FF2B5EF4-FFF2-40B4-BE49-F238E27FC236}">
                <a16:creationId xmlns:a16="http://schemas.microsoft.com/office/drawing/2014/main" id="{176E783E-38FD-44C8-872E-60E22F555B65}"/>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2-brand">
            <a:extLst xmlns:a="http://schemas.openxmlformats.org/drawingml/2006/main">
              <a:ext uri="{FF2B5EF4-FFF2-40B4-BE49-F238E27FC236}">
                <a16:creationId xmlns:a16="http://schemas.microsoft.com/office/drawing/2014/main" id="{5599BC80-294F-4931-947A-21E63BA61B2B}"/>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2-number">
            <a:extLst xmlns:a="http://schemas.openxmlformats.org/drawingml/2006/main">
              <a:ext uri="{FF2B5EF4-FFF2-40B4-BE49-F238E27FC236}">
                <a16:creationId xmlns:a16="http://schemas.microsoft.com/office/drawing/2014/main" id="{31793A34-0854-41BA-866B-49ACD4C9A7A5}"/>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01</a:t>
            </a:r>
          </a:p>
        </p:txBody>
      </p:sp>
      <p:sp>
        <p:nvSpPr>
          <p:cNvPr id="5" name="s2-title">
            <a:extLst xmlns:a="http://schemas.openxmlformats.org/drawingml/2006/main">
              <a:ext uri="{FF2B5EF4-FFF2-40B4-BE49-F238E27FC236}">
                <a16:creationId xmlns:a16="http://schemas.microsoft.com/office/drawing/2014/main" id="{5CE81861-39CB-45F7-87C4-A6DE649E1727}"/>
              </a:ext>
            </a:extLst>
          </p:cNvPr>
          <p:cNvSpPr>
            <a:spLocks xmlns:a="http://schemas.openxmlformats.org/drawingml/2006/main" noGrp="1"/>
          </p:cNvSpPr>
          <p:nvPr/>
        </p:nvSpPr>
        <p:spPr>
          <a:xfrm xmlns:a="http://schemas.openxmlformats.org/drawingml/2006/main">
            <a:off x="609600" y="9906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4200" b="1">
                <a:solidFill>
                  <a:srgbClr val="F4F4F5"/>
                </a:solidFill>
                <a:latin typeface="Segoe UI"/>
                <a:ea typeface="Segoe UI"/>
                <a:cs typeface="Segoe UI"/>
              </a:defRPr>
            </a:pPr>
            <a:r>
              <a:rPr sz="4200" b="1">
                <a:solidFill>
                  <a:srgbClr val="F4F4F5"/>
                </a:solidFill>
                <a:latin typeface="Segoe UI"/>
                <a:ea typeface="Segoe UI"/>
                <a:cs typeface="Segoe UI"/>
              </a:rPr>
              <a:t>If it acts, it needs evidence</a:t>
            </a:r>
          </a:p>
        </p:txBody>
      </p:sp>
      <p:sp>
        <p:nvSpPr>
          <p:cNvPr id="6" name="s2-subtitle">
            <a:extLst xmlns:a="http://schemas.openxmlformats.org/drawingml/2006/main">
              <a:ext uri="{FF2B5EF4-FFF2-40B4-BE49-F238E27FC236}">
                <a16:creationId xmlns:a16="http://schemas.microsoft.com/office/drawing/2014/main" id="{4AD40F26-71DB-43BC-97E2-C78C60D2B750}"/>
              </a:ext>
            </a:extLst>
          </p:cNvPr>
          <p:cNvSpPr>
            <a:spLocks xmlns:a="http://schemas.openxmlformats.org/drawingml/2006/main" noGrp="1"/>
          </p:cNvSpPr>
          <p:nvPr/>
        </p:nvSpPr>
        <p:spPr>
          <a:xfrm xmlns:a="http://schemas.openxmlformats.org/drawingml/2006/main">
            <a:off x="609600" y="1962150"/>
            <a:ext cx="895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00" b="0">
                <a:solidFill>
                  <a:srgbClr val="B9BAC0"/>
                </a:solidFill>
                <a:latin typeface="Segoe UI"/>
                <a:ea typeface="Segoe UI"/>
                <a:cs typeface="Segoe UI"/>
              </a:defRPr>
            </a:pPr>
            <a:r>
              <a:rPr sz="2100" b="0">
                <a:solidFill>
                  <a:srgbClr val="B9BAC0"/>
                </a:solidFill>
                <a:latin typeface="Segoe UI"/>
                <a:ea typeface="Segoe UI"/>
                <a:cs typeface="Segoe UI"/>
              </a:rPr>
              <a:t>Microsoft’s new Autopilot keeps working after you log off.</a:t>
            </a:r>
          </a:p>
        </p:txBody>
      </p:sp>
      <p:sp>
        <p:nvSpPr>
          <p:cNvPr id="7" name="Straight Connector 6">
            <a:extLst xmlns:a="http://schemas.openxmlformats.org/drawingml/2006/main">
              <a:ext uri="{FF2B5EF4-FFF2-40B4-BE49-F238E27FC236}">
                <a16:creationId xmlns:a16="http://schemas.microsoft.com/office/drawing/2014/main" id="{3C1DB0A6-97F0-46F5-AB5D-57A00484F2B5}"/>
              </a:ext>
            </a:extLst>
          </p:cNvPr>
          <p:cNvSpPr>
            <a:spLocks xmlns:a="http://schemas.openxmlformats.org/drawingml/2006/main" noGrp="1"/>
          </p:cNvSpPr>
          <p:nvPr/>
        </p:nvSpPr>
        <p:spPr>
          <a:xfrm xmlns:a="http://schemas.openxmlformats.org/drawingml/2006/main">
            <a:off x="609600" y="3238500"/>
            <a:ext cx="2543175" cy="0"/>
          </a:xfrm>
          <a:prstGeom xmlns:a="http://schemas.openxmlformats.org/drawingml/2006/main" prst="line">
            <a:avLst/>
          </a:prstGeom>
          <a:noFill xmlns:a="http://schemas.openxmlformats.org/drawingml/2006/main"/>
          <a:ln xmlns:a="http://schemas.openxmlformats.org/drawingml/2006/main" w="2857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2-owner-0-label">
            <a:extLst xmlns:a="http://schemas.openxmlformats.org/drawingml/2006/main">
              <a:ext uri="{FF2B5EF4-FFF2-40B4-BE49-F238E27FC236}">
                <a16:creationId xmlns:a16="http://schemas.microsoft.com/office/drawing/2014/main" id="{DA5D5E9E-B7CE-4D70-9F18-F6455B4C7533}"/>
              </a:ext>
            </a:extLst>
          </p:cNvPr>
          <p:cNvSpPr>
            <a:spLocks xmlns:a="http://schemas.openxmlformats.org/drawingml/2006/main" noGrp="1"/>
          </p:cNvSpPr>
          <p:nvPr/>
        </p:nvSpPr>
        <p:spPr>
          <a:xfrm xmlns:a="http://schemas.openxmlformats.org/drawingml/2006/main">
            <a:off x="609600" y="3467100"/>
            <a:ext cx="25431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Consolas"/>
                <a:ea typeface="Consolas"/>
                <a:cs typeface="Consolas"/>
              </a:defRPr>
            </a:pPr>
            <a:r>
              <a:rPr sz="2100" b="1">
                <a:solidFill>
                  <a:srgbClr val="F4F4F5"/>
                </a:solidFill>
                <a:latin typeface="Consolas"/>
                <a:ea typeface="Consolas"/>
                <a:cs typeface="Consolas"/>
              </a:rPr>
              <a:t>RUNTIME</a:t>
            </a:r>
          </a:p>
        </p:txBody>
      </p:sp>
      <p:sp>
        <p:nvSpPr>
          <p:cNvPr id="9" name="s2-owner-0-body">
            <a:extLst xmlns:a="http://schemas.openxmlformats.org/drawingml/2006/main">
              <a:ext uri="{FF2B5EF4-FFF2-40B4-BE49-F238E27FC236}">
                <a16:creationId xmlns:a16="http://schemas.microsoft.com/office/drawing/2014/main" id="{9765B102-F040-4952-83AF-106B67DA3E98}"/>
              </a:ext>
            </a:extLst>
          </p:cNvPr>
          <p:cNvSpPr>
            <a:spLocks xmlns:a="http://schemas.openxmlformats.org/drawingml/2006/main" noGrp="1"/>
          </p:cNvSpPr>
          <p:nvPr/>
        </p:nvSpPr>
        <p:spPr>
          <a:xfrm xmlns:a="http://schemas.openxmlformats.org/drawingml/2006/main">
            <a:off x="609600" y="4000500"/>
            <a:ext cx="2543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What actually executes</a:t>
            </a:r>
          </a:p>
        </p:txBody>
      </p:sp>
      <p:sp>
        <p:nvSpPr>
          <p:cNvPr id="10" name="Straight Connector 9">
            <a:extLst xmlns:a="http://schemas.openxmlformats.org/drawingml/2006/main">
              <a:ext uri="{FF2B5EF4-FFF2-40B4-BE49-F238E27FC236}">
                <a16:creationId xmlns:a16="http://schemas.microsoft.com/office/drawing/2014/main" id="{D51241B4-6F26-4D40-8BC4-078CB2A0BE6C}"/>
              </a:ext>
            </a:extLst>
          </p:cNvPr>
          <p:cNvSpPr>
            <a:spLocks xmlns:a="http://schemas.openxmlformats.org/drawingml/2006/main" noGrp="1"/>
          </p:cNvSpPr>
          <p:nvPr/>
        </p:nvSpPr>
        <p:spPr>
          <a:xfrm xmlns:a="http://schemas.openxmlformats.org/drawingml/2006/main">
            <a:off x="3419475" y="3238500"/>
            <a:ext cx="2543175" cy="0"/>
          </a:xfrm>
          <a:prstGeom xmlns:a="http://schemas.openxmlformats.org/drawingml/2006/main" prst="line">
            <a:avLst/>
          </a:prstGeom>
          <a:noFill xmlns:a="http://schemas.openxmlformats.org/drawingml/2006/main"/>
          <a:ln xmlns:a="http://schemas.openxmlformats.org/drawingml/2006/main" w="2857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2-owner-1-label">
            <a:extLst xmlns:a="http://schemas.openxmlformats.org/drawingml/2006/main">
              <a:ext uri="{FF2B5EF4-FFF2-40B4-BE49-F238E27FC236}">
                <a16:creationId xmlns:a16="http://schemas.microsoft.com/office/drawing/2014/main" id="{8B0AD9A8-34C4-4A2B-A873-649489A9FC0C}"/>
              </a:ext>
            </a:extLst>
          </p:cNvPr>
          <p:cNvSpPr>
            <a:spLocks xmlns:a="http://schemas.openxmlformats.org/drawingml/2006/main" noGrp="1"/>
          </p:cNvSpPr>
          <p:nvPr/>
        </p:nvSpPr>
        <p:spPr>
          <a:xfrm xmlns:a="http://schemas.openxmlformats.org/drawingml/2006/main">
            <a:off x="3419475" y="3467100"/>
            <a:ext cx="25431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Consolas"/>
                <a:ea typeface="Consolas"/>
                <a:cs typeface="Consolas"/>
              </a:defRPr>
            </a:pPr>
            <a:r>
              <a:rPr sz="2100" b="1">
                <a:solidFill>
                  <a:srgbClr val="F4F4F5"/>
                </a:solidFill>
                <a:latin typeface="Consolas"/>
                <a:ea typeface="Consolas"/>
                <a:cs typeface="Consolas"/>
              </a:rPr>
              <a:t>SKILLS</a:t>
            </a:r>
          </a:p>
        </p:txBody>
      </p:sp>
      <p:sp>
        <p:nvSpPr>
          <p:cNvPr id="12" name="s2-owner-1-body">
            <a:extLst xmlns:a="http://schemas.openxmlformats.org/drawingml/2006/main">
              <a:ext uri="{FF2B5EF4-FFF2-40B4-BE49-F238E27FC236}">
                <a16:creationId xmlns:a16="http://schemas.microsoft.com/office/drawing/2014/main" id="{44FA6FBA-D8E3-4CD4-85CB-7D151AF24970}"/>
              </a:ext>
            </a:extLst>
          </p:cNvPr>
          <p:cNvSpPr>
            <a:spLocks xmlns:a="http://schemas.openxmlformats.org/drawingml/2006/main" noGrp="1"/>
          </p:cNvSpPr>
          <p:nvPr/>
        </p:nvSpPr>
        <p:spPr>
          <a:xfrm xmlns:a="http://schemas.openxmlformats.org/drawingml/2006/main">
            <a:off x="3419475" y="4000500"/>
            <a:ext cx="2543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When it should act</a:t>
            </a:r>
          </a:p>
        </p:txBody>
      </p:sp>
      <p:sp>
        <p:nvSpPr>
          <p:cNvPr id="13" name="Straight Connector 12">
            <a:extLst xmlns:a="http://schemas.openxmlformats.org/drawingml/2006/main">
              <a:ext uri="{FF2B5EF4-FFF2-40B4-BE49-F238E27FC236}">
                <a16:creationId xmlns:a16="http://schemas.microsoft.com/office/drawing/2014/main" id="{AD98DF20-B396-4EEB-B594-9F4D607DB2DC}"/>
              </a:ext>
            </a:extLst>
          </p:cNvPr>
          <p:cNvSpPr>
            <a:spLocks xmlns:a="http://schemas.openxmlformats.org/drawingml/2006/main" noGrp="1"/>
          </p:cNvSpPr>
          <p:nvPr/>
        </p:nvSpPr>
        <p:spPr>
          <a:xfrm xmlns:a="http://schemas.openxmlformats.org/drawingml/2006/main">
            <a:off x="6229350" y="3238500"/>
            <a:ext cx="2543175"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2-owner-2-label">
            <a:extLst xmlns:a="http://schemas.openxmlformats.org/drawingml/2006/main">
              <a:ext uri="{FF2B5EF4-FFF2-40B4-BE49-F238E27FC236}">
                <a16:creationId xmlns:a16="http://schemas.microsoft.com/office/drawing/2014/main" id="{718E9807-A147-4DC1-9627-45523780E91B}"/>
              </a:ext>
            </a:extLst>
          </p:cNvPr>
          <p:cNvSpPr>
            <a:spLocks xmlns:a="http://schemas.openxmlformats.org/drawingml/2006/main" noGrp="1"/>
          </p:cNvSpPr>
          <p:nvPr/>
        </p:nvSpPr>
        <p:spPr>
          <a:xfrm xmlns:a="http://schemas.openxmlformats.org/drawingml/2006/main">
            <a:off x="6229350" y="3467100"/>
            <a:ext cx="25431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C33148"/>
                </a:solidFill>
                <a:latin typeface="Consolas"/>
                <a:ea typeface="Consolas"/>
                <a:cs typeface="Consolas"/>
              </a:defRPr>
            </a:pPr>
            <a:r>
              <a:rPr sz="2100" b="1">
                <a:solidFill>
                  <a:srgbClr val="C33148"/>
                </a:solidFill>
                <a:latin typeface="Consolas"/>
                <a:ea typeface="Consolas"/>
                <a:cs typeface="Consolas"/>
              </a:rPr>
              <a:t>BOUNDARY</a:t>
            </a:r>
          </a:p>
        </p:txBody>
      </p:sp>
      <p:sp>
        <p:nvSpPr>
          <p:cNvPr id="15" name="s2-owner-2-body">
            <a:extLst xmlns:a="http://schemas.openxmlformats.org/drawingml/2006/main">
              <a:ext uri="{FF2B5EF4-FFF2-40B4-BE49-F238E27FC236}">
                <a16:creationId xmlns:a16="http://schemas.microsoft.com/office/drawing/2014/main" id="{028C257F-954D-496E-8C45-9AF3ABD77EC8}"/>
              </a:ext>
            </a:extLst>
          </p:cNvPr>
          <p:cNvSpPr>
            <a:spLocks xmlns:a="http://schemas.openxmlformats.org/drawingml/2006/main" noGrp="1"/>
          </p:cNvSpPr>
          <p:nvPr/>
        </p:nvSpPr>
        <p:spPr>
          <a:xfrm xmlns:a="http://schemas.openxmlformats.org/drawingml/2006/main">
            <a:off x="6229350" y="4000500"/>
            <a:ext cx="2543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What data can move</a:t>
            </a:r>
          </a:p>
        </p:txBody>
      </p:sp>
      <p:sp>
        <p:nvSpPr>
          <p:cNvPr id="16" name="Straight Connector 15">
            <a:extLst xmlns:a="http://schemas.openxmlformats.org/drawingml/2006/main">
              <a:ext uri="{FF2B5EF4-FFF2-40B4-BE49-F238E27FC236}">
                <a16:creationId xmlns:a16="http://schemas.microsoft.com/office/drawing/2014/main" id="{42C2867C-F57E-4725-A52A-B98B909A0593}"/>
              </a:ext>
            </a:extLst>
          </p:cNvPr>
          <p:cNvSpPr>
            <a:spLocks xmlns:a="http://schemas.openxmlformats.org/drawingml/2006/main" noGrp="1"/>
          </p:cNvSpPr>
          <p:nvPr/>
        </p:nvSpPr>
        <p:spPr>
          <a:xfrm xmlns:a="http://schemas.openxmlformats.org/drawingml/2006/main">
            <a:off x="9039225" y="3238500"/>
            <a:ext cx="2543175" cy="0"/>
          </a:xfrm>
          <a:prstGeom xmlns:a="http://schemas.openxmlformats.org/drawingml/2006/main" prst="line">
            <a:avLst/>
          </a:prstGeom>
          <a:noFill xmlns:a="http://schemas.openxmlformats.org/drawingml/2006/main"/>
          <a:ln xmlns:a="http://schemas.openxmlformats.org/drawingml/2006/main" w="2857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2-owner-3-label">
            <a:extLst xmlns:a="http://schemas.openxmlformats.org/drawingml/2006/main">
              <a:ext uri="{FF2B5EF4-FFF2-40B4-BE49-F238E27FC236}">
                <a16:creationId xmlns:a16="http://schemas.microsoft.com/office/drawing/2014/main" id="{6E02F203-D8E7-4955-9CE3-DA33C947577D}"/>
              </a:ext>
            </a:extLst>
          </p:cNvPr>
          <p:cNvSpPr>
            <a:spLocks xmlns:a="http://schemas.openxmlformats.org/drawingml/2006/main" noGrp="1"/>
          </p:cNvSpPr>
          <p:nvPr/>
        </p:nvSpPr>
        <p:spPr>
          <a:xfrm xmlns:a="http://schemas.openxmlformats.org/drawingml/2006/main">
            <a:off x="9039225" y="3467100"/>
            <a:ext cx="25431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Consolas"/>
                <a:ea typeface="Consolas"/>
                <a:cs typeface="Consolas"/>
              </a:defRPr>
            </a:pPr>
            <a:r>
              <a:rPr sz="2100" b="1">
                <a:solidFill>
                  <a:srgbClr val="F4F4F5"/>
                </a:solidFill>
                <a:latin typeface="Consolas"/>
                <a:ea typeface="Consolas"/>
                <a:cs typeface="Consolas"/>
              </a:rPr>
              <a:t>TESTS</a:t>
            </a:r>
          </a:p>
        </p:txBody>
      </p:sp>
      <p:sp>
        <p:nvSpPr>
          <p:cNvPr id="18" name="s2-owner-3-body">
            <a:extLst xmlns:a="http://schemas.openxmlformats.org/drawingml/2006/main">
              <a:ext uri="{FF2B5EF4-FFF2-40B4-BE49-F238E27FC236}">
                <a16:creationId xmlns:a16="http://schemas.microsoft.com/office/drawing/2014/main" id="{39F73371-D45E-4A2D-9E92-0356256EA594}"/>
              </a:ext>
            </a:extLst>
          </p:cNvPr>
          <p:cNvSpPr>
            <a:spLocks xmlns:a="http://schemas.openxmlformats.org/drawingml/2006/main" noGrp="1"/>
          </p:cNvSpPr>
          <p:nvPr/>
        </p:nvSpPr>
        <p:spPr>
          <a:xfrm xmlns:a="http://schemas.openxmlformats.org/drawingml/2006/main">
            <a:off x="9039225" y="4000500"/>
            <a:ext cx="2543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What proves behavior</a:t>
            </a:r>
          </a:p>
        </p:txBody>
      </p:sp>
      <p:sp>
        <p:nvSpPr>
          <p:cNvPr id="19" name="s2-close">
            <a:extLst xmlns:a="http://schemas.openxmlformats.org/drawingml/2006/main">
              <a:ext uri="{FF2B5EF4-FFF2-40B4-BE49-F238E27FC236}">
                <a16:creationId xmlns:a16="http://schemas.microsoft.com/office/drawing/2014/main" id="{9CD4D074-D00C-4203-9A99-9A995D5CA22F}"/>
              </a:ext>
            </a:extLst>
          </p:cNvPr>
          <p:cNvSpPr>
            <a:spLocks xmlns:a="http://schemas.openxmlformats.org/drawingml/2006/main" noGrp="1"/>
          </p:cNvSpPr>
          <p:nvPr/>
        </p:nvSpPr>
        <p:spPr>
          <a:xfrm xmlns:a="http://schemas.openxmlformats.org/drawingml/2006/main">
            <a:off x="609600" y="5391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75" b="1">
                <a:solidFill>
                  <a:srgbClr val="F4F4F5"/>
                </a:solidFill>
                <a:latin typeface="Segoe UI"/>
                <a:ea typeface="Segoe UI"/>
                <a:cs typeface="Segoe UI"/>
              </a:defRPr>
            </a:pPr>
            <a:r>
              <a:rPr sz="2175" b="1">
                <a:solidFill>
                  <a:srgbClr val="F4F4F5"/>
                </a:solidFill>
                <a:latin typeface="Segoe UI"/>
                <a:ea typeface="Segoe UI"/>
                <a:cs typeface="Segoe UI"/>
              </a:rPr>
              <a:t>Modern Workplace Conference, Manila</a:t>
            </a:r>
          </a:p>
        </p:txBody>
      </p:sp>
      <p:sp>
        <p:nvSpPr>
          <p:cNvPr id="21" name="manila-presenter">
            <a:extLst xmlns:a="http://schemas.openxmlformats.org/drawingml/2006/main">
              <a:ext uri="{FF2B5EF4-FFF2-40B4-BE49-F238E27FC236}">
                <a16:creationId xmlns:a16="http://schemas.microsoft.com/office/drawing/2014/main" id="{3CF39D19-23D9-441E-A803-49EA5CB9F29A}"/>
              </a:ext>
            </a:extLst>
          </p:cNvPr>
          <p:cNvSpPr>
            <a:spLocks xmlns:a="http://schemas.openxmlformats.org/drawingml/2006/main" noGrp="1"/>
          </p:cNvSpPr>
          <p:nvPr/>
        </p:nvSpPr>
        <p:spPr>
          <a:xfrm xmlns:a="http://schemas.openxmlformats.org/drawingml/2006/main">
            <a:off x="609600" y="58864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0">
                <a:solidFill>
                  <a:srgbClr val="B9BAC0"/>
                </a:solidFill>
                <a:latin typeface="Segoe UI"/>
                <a:ea typeface="Segoe UI"/>
                <a:cs typeface="Segoe UI"/>
              </a:defRPr>
            </a:pPr>
            <a:r>
              <a:rPr sz="1500" b="0">
                <a:solidFill>
                  <a:srgbClr val="B9BAC0"/>
                </a:solidFill>
                <a:latin typeface="Segoe UI"/>
                <a:ea typeface="Segoe UI"/>
                <a:cs typeface="Segoe UI"/>
              </a:rPr>
              <a:t>Paul Swider / RealActivity / 29 September 2026</a:t>
            </a:r>
          </a:p>
        </p:txBody>
      </p:sp>
    </p:spTree>
    <p:extLst>
      <p:ext uri="{BB962C8B-B14F-4D97-AF65-F5344CB8AC3E}">
        <p14:creationId xmlns:p14="http://schemas.microsoft.com/office/powerpoint/2010/main" val="1077445922"/>
      </p:ext>
    </p:extLst>
  </p:cSld>
</p:sld>
</file>

<file path=ppt/slides/slide2.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dbbfb8515b14c17"/>
          <a:srcRect xmlns:a="http://schemas.openxmlformats.org/drawingml/2006/main" l="6667" t="0" r="6667" b="0"/>
          <a:stretch xmlns:a="http://schemas.openxmlformats.org/drawingml/2006/main">
            <a:fillRect l="0" t="0" r="0" b="0"/>
          </a:stretch>
        </p:blipFill>
        <p:spPr>
          <a:xfrm xmlns:a="http://schemas.openxmlformats.org/drawingml/2006/main">
            <a:off x="6248400" y="0"/>
            <a:ext cx="5943600" cy="6858000"/>
          </a:xfrm>
          <a:prstGeom xmlns:a="http://schemas.openxmlformats.org/drawingml/2006/main" prst="rect">
            <a:avLst/>
          </a:prstGeom>
        </p:spPr>
      </p:pic>
      <p:sp>
        <p:nvSpPr>
          <p:cNvPr id="2" name="intro-kicker">
            <a:extLst xmlns:a="http://schemas.openxmlformats.org/drawingml/2006/main">
              <a:ext uri="{FF2B5EF4-FFF2-40B4-BE49-F238E27FC236}">
                <a16:creationId xmlns:a16="http://schemas.microsoft.com/office/drawing/2014/main" id="{615BA1DD-EA66-4645-AF13-DA601AEE8770}"/>
              </a:ext>
            </a:extLst>
          </p:cNvPr>
          <p:cNvSpPr>
            <a:spLocks xmlns:a="http://schemas.openxmlformats.org/drawingml/2006/main" noGrp="1"/>
          </p:cNvSpPr>
          <p:nvPr/>
        </p:nvSpPr>
        <p:spPr>
          <a:xfrm xmlns:a="http://schemas.openxmlformats.org/drawingml/2006/main">
            <a:off x="523875" y="32385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1">
                <a:solidFill>
                  <a:srgbClr val="B9BAC0"/>
                </a:solidFill>
                <a:latin typeface="Consolas"/>
                <a:ea typeface="Consolas"/>
                <a:cs typeface="Consolas"/>
              </a:defRPr>
            </a:pPr>
            <a:r>
              <a:rPr sz="1200" b="1">
                <a:solidFill>
                  <a:srgbClr val="B9BAC0"/>
                </a:solidFill>
                <a:latin typeface="Consolas"/>
                <a:ea typeface="Consolas"/>
                <a:cs typeface="Consolas"/>
              </a:rPr>
              <a:t>THE HUMAN BEHIND THE AGENTS</a:t>
            </a:r>
          </a:p>
        </p:txBody>
      </p:sp>
      <p:sp>
        <p:nvSpPr>
          <p:cNvPr id="3" name="intro-name">
            <a:extLst xmlns:a="http://schemas.openxmlformats.org/drawingml/2006/main">
              <a:ext uri="{FF2B5EF4-FFF2-40B4-BE49-F238E27FC236}">
                <a16:creationId xmlns:a16="http://schemas.microsoft.com/office/drawing/2014/main" id="{B06F6255-A70E-456F-B41C-FD670CE01182}"/>
              </a:ext>
            </a:extLst>
          </p:cNvPr>
          <p:cNvSpPr>
            <a:spLocks xmlns:a="http://schemas.openxmlformats.org/drawingml/2006/main" noGrp="1"/>
          </p:cNvSpPr>
          <p:nvPr/>
        </p:nvSpPr>
        <p:spPr>
          <a:xfrm xmlns:a="http://schemas.openxmlformats.org/drawingml/2006/main">
            <a:off x="504825" y="866775"/>
            <a:ext cx="5505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6000" b="1">
                <a:solidFill>
                  <a:srgbClr val="F4F4F5"/>
                </a:solidFill>
                <a:latin typeface="Segoe UI"/>
                <a:ea typeface="Segoe UI"/>
                <a:cs typeface="Segoe UI"/>
              </a:defRPr>
            </a:pPr>
            <a:r>
              <a:rPr sz="6000" b="1">
                <a:solidFill>
                  <a:srgbClr val="F4F4F5"/>
                </a:solidFill>
                <a:latin typeface="Segoe UI"/>
                <a:ea typeface="Segoe UI"/>
                <a:cs typeface="Segoe UI"/>
              </a:rPr>
              <a:t>Paul Swider</a:t>
            </a:r>
          </a:p>
        </p:txBody>
      </p:sp>
      <p:sp>
        <p:nvSpPr>
          <p:cNvPr id="4" name="intro-role">
            <a:extLst xmlns:a="http://schemas.openxmlformats.org/drawingml/2006/main">
              <a:ext uri="{FF2B5EF4-FFF2-40B4-BE49-F238E27FC236}">
                <a16:creationId xmlns:a16="http://schemas.microsoft.com/office/drawing/2014/main" id="{A25B1697-5838-400F-AE56-18003CC009FF}"/>
              </a:ext>
            </a:extLst>
          </p:cNvPr>
          <p:cNvSpPr>
            <a:spLocks xmlns:a="http://schemas.openxmlformats.org/drawingml/2006/main" noGrp="1"/>
          </p:cNvSpPr>
          <p:nvPr/>
        </p:nvSpPr>
        <p:spPr>
          <a:xfrm xmlns:a="http://schemas.openxmlformats.org/drawingml/2006/main">
            <a:off x="542925" y="1971675"/>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B9BAC0"/>
                </a:solidFill>
                <a:latin typeface="Segoe UI"/>
                <a:ea typeface="Segoe UI"/>
                <a:cs typeface="Segoe UI"/>
              </a:defRPr>
            </a:pPr>
            <a:r>
              <a:rPr sz="1800" b="0">
                <a:solidFill>
                  <a:srgbClr val="B9BAC0"/>
                </a:solidFill>
                <a:latin typeface="Segoe UI"/>
                <a:ea typeface="Segoe UI"/>
                <a:cs typeface="Segoe UI"/>
              </a:rPr>
              <a:t>Founder, CEO &amp; Chief AI Officer</a:t>
            </a:r>
          </a:p>
        </p:txBody>
      </p:sp>
      <p:sp>
        <p:nvSpPr>
          <p:cNvPr id="5" name="intro-company">
            <a:extLst xmlns:a="http://schemas.openxmlformats.org/drawingml/2006/main">
              <a:ext uri="{FF2B5EF4-FFF2-40B4-BE49-F238E27FC236}">
                <a16:creationId xmlns:a16="http://schemas.microsoft.com/office/drawing/2014/main" id="{E9FCFE8E-EBF3-4F81-B5BC-C09A73C2A5BF}"/>
              </a:ext>
            </a:extLst>
          </p:cNvPr>
          <p:cNvSpPr>
            <a:spLocks xmlns:a="http://schemas.openxmlformats.org/drawingml/2006/main" noGrp="1"/>
          </p:cNvSpPr>
          <p:nvPr/>
        </p:nvSpPr>
        <p:spPr>
          <a:xfrm xmlns:a="http://schemas.openxmlformats.org/drawingml/2006/main">
            <a:off x="533400" y="2352675"/>
            <a:ext cx="5286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550" b="1">
                <a:solidFill>
                  <a:srgbClr val="C33148"/>
                </a:solidFill>
                <a:latin typeface="Segoe UI"/>
                <a:ea typeface="Segoe UI"/>
                <a:cs typeface="Segoe UI"/>
              </a:defRPr>
            </a:pPr>
            <a:r>
              <a:rPr sz="2550" b="1">
                <a:solidFill>
                  <a:srgbClr val="C33148"/>
                </a:solidFill>
                <a:latin typeface="Segoe UI"/>
                <a:ea typeface="Segoe UI"/>
                <a:cs typeface="Segoe UI"/>
              </a:rPr>
              <a:t>RealActivity</a:t>
            </a:r>
          </a:p>
        </p:txBody>
      </p:sp>
      <p:sp>
        <p:nvSpPr>
          <p:cNvPr id="6" name="intro-credentials">
            <a:extLst xmlns:a="http://schemas.openxmlformats.org/drawingml/2006/main">
              <a:ext uri="{FF2B5EF4-FFF2-40B4-BE49-F238E27FC236}">
                <a16:creationId xmlns:a16="http://schemas.microsoft.com/office/drawing/2014/main" id="{D5AA0EC2-FFB0-4C23-9E3F-0C458FC03565}"/>
              </a:ext>
            </a:extLst>
          </p:cNvPr>
          <p:cNvSpPr>
            <a:spLocks xmlns:a="http://schemas.openxmlformats.org/drawingml/2006/main" noGrp="1"/>
          </p:cNvSpPr>
          <p:nvPr/>
        </p:nvSpPr>
        <p:spPr>
          <a:xfrm xmlns:a="http://schemas.openxmlformats.org/drawingml/2006/main">
            <a:off x="542925" y="2876550"/>
            <a:ext cx="5305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B9BAC0"/>
                </a:solidFill>
                <a:latin typeface="Segoe UI"/>
                <a:ea typeface="Segoe UI"/>
                <a:cs typeface="Segoe UI"/>
              </a:defRPr>
            </a:pPr>
            <a:r>
              <a:rPr sz="1425" b="0">
                <a:solidFill>
                  <a:srgbClr val="B9BAC0"/>
                </a:solidFill>
                <a:latin typeface="Segoe UI"/>
                <a:ea typeface="Segoe UI"/>
                <a:cs typeface="Segoe UI"/>
              </a:rPr>
              <a:t>Microsoft MCT / MVP Alumni</a:t>
            </a:r>
          </a:p>
        </p:txBody>
      </p:sp>
      <p:sp>
        <p:nvSpPr>
          <p:cNvPr id="7" name="intro-tula">
            <a:extLst xmlns:a="http://schemas.openxmlformats.org/drawingml/2006/main">
              <a:ext uri="{FF2B5EF4-FFF2-40B4-BE49-F238E27FC236}">
                <a16:creationId xmlns:a16="http://schemas.microsoft.com/office/drawing/2014/main" id="{F911BC67-F5A2-4047-83E4-E2C1A82D153E}"/>
              </a:ext>
            </a:extLst>
          </p:cNvPr>
          <p:cNvSpPr>
            <a:spLocks xmlns:a="http://schemas.openxmlformats.org/drawingml/2006/main" noGrp="1"/>
          </p:cNvSpPr>
          <p:nvPr/>
        </p:nvSpPr>
        <p:spPr>
          <a:xfrm xmlns:a="http://schemas.openxmlformats.org/drawingml/2006/main">
            <a:off x="542925" y="3533775"/>
            <a:ext cx="5305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025" b="1">
                <a:solidFill>
                  <a:srgbClr val="F4F4F5"/>
                </a:solidFill>
                <a:latin typeface="Segoe UI"/>
                <a:ea typeface="Segoe UI"/>
                <a:cs typeface="Segoe UI"/>
              </a:defRPr>
            </a:pPr>
            <a:r>
              <a:rPr sz="2025" b="1">
                <a:solidFill>
                  <a:srgbClr val="F4F4F5"/>
                </a:solidFill>
                <a:latin typeface="Segoe UI"/>
                <a:ea typeface="Segoe UI"/>
                <a:cs typeface="Segoe UI"/>
              </a:rPr>
              <a:t>Tula creator</a:t>
            </a:r>
          </a:p>
        </p:txBody>
      </p:sp>
      <p:sp>
        <p:nvSpPr>
          <p:cNvPr id="8" name="intro-wheelhouse">
            <a:extLst xmlns:a="http://schemas.openxmlformats.org/drawingml/2006/main">
              <a:ext uri="{FF2B5EF4-FFF2-40B4-BE49-F238E27FC236}">
                <a16:creationId xmlns:a16="http://schemas.microsoft.com/office/drawing/2014/main" id="{222EED84-8DA5-44BE-96A8-2E39EBD76EA3}"/>
              </a:ext>
            </a:extLst>
          </p:cNvPr>
          <p:cNvSpPr>
            <a:spLocks xmlns:a="http://schemas.openxmlformats.org/drawingml/2006/main" noGrp="1"/>
          </p:cNvSpPr>
          <p:nvPr/>
        </p:nvSpPr>
        <p:spPr>
          <a:xfrm xmlns:a="http://schemas.openxmlformats.org/drawingml/2006/main">
            <a:off x="542925" y="3981450"/>
            <a:ext cx="5305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F4F4F5"/>
                </a:solidFill>
                <a:latin typeface="Segoe UI"/>
                <a:ea typeface="Segoe UI"/>
                <a:cs typeface="Segoe UI"/>
              </a:defRPr>
            </a:pPr>
            <a:r>
              <a:rPr sz="1875" b="0">
                <a:solidFill>
                  <a:srgbClr val="F4F4F5"/>
                </a:solidFill>
                <a:latin typeface="Segoe UI"/>
                <a:ea typeface="Segoe UI"/>
                <a:cs typeface="Segoe UI"/>
              </a:rPr>
              <a:t>Wheelhouse AI CoE co-founder</a:t>
            </a:r>
          </a:p>
        </p:txBody>
      </p:sp>
      <p:sp>
        <p:nvSpPr>
          <p:cNvPr id="9" name="intro-analyst">
            <a:extLst xmlns:a="http://schemas.openxmlformats.org/drawingml/2006/main">
              <a:ext uri="{FF2B5EF4-FFF2-40B4-BE49-F238E27FC236}">
                <a16:creationId xmlns:a16="http://schemas.microsoft.com/office/drawing/2014/main" id="{3B93DC08-08B3-4917-9E42-1C3655B4727F}"/>
              </a:ext>
            </a:extLst>
          </p:cNvPr>
          <p:cNvSpPr>
            <a:spLocks xmlns:a="http://schemas.openxmlformats.org/drawingml/2006/main" noGrp="1"/>
          </p:cNvSpPr>
          <p:nvPr/>
        </p:nvSpPr>
        <p:spPr>
          <a:xfrm xmlns:a="http://schemas.openxmlformats.org/drawingml/2006/main">
            <a:off x="542925" y="4391025"/>
            <a:ext cx="5305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F4F4F5"/>
                </a:solidFill>
                <a:latin typeface="Segoe UI"/>
                <a:ea typeface="Segoe UI"/>
                <a:cs typeface="Segoe UI"/>
              </a:defRPr>
            </a:pPr>
            <a:r>
              <a:rPr sz="1875" b="0">
                <a:solidFill>
                  <a:srgbClr val="F4F4F5"/>
                </a:solidFill>
                <a:latin typeface="Segoe UI"/>
                <a:ea typeface="Segoe UI"/>
                <a:cs typeface="Segoe UI"/>
              </a:rPr>
              <a:t>Cloud Wars healthcare AI analyst</a:t>
            </a:r>
          </a:p>
        </p:txBody>
      </p:sp>
      <p:sp>
        <p:nvSpPr>
          <p:cNvPr id="10" name="intro-community">
            <a:extLst xmlns:a="http://schemas.openxmlformats.org/drawingml/2006/main">
              <a:ext uri="{FF2B5EF4-FFF2-40B4-BE49-F238E27FC236}">
                <a16:creationId xmlns:a16="http://schemas.microsoft.com/office/drawing/2014/main" id="{9B28C725-B646-4A99-8F2C-674D0FFB6CD9}"/>
              </a:ext>
            </a:extLst>
          </p:cNvPr>
          <p:cNvSpPr>
            <a:spLocks xmlns:a="http://schemas.openxmlformats.org/drawingml/2006/main" noGrp="1"/>
          </p:cNvSpPr>
          <p:nvPr/>
        </p:nvSpPr>
        <p:spPr>
          <a:xfrm xmlns:a="http://schemas.openxmlformats.org/drawingml/2006/main">
            <a:off x="542925" y="4800600"/>
            <a:ext cx="5305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F4F4F5"/>
                </a:solidFill>
                <a:latin typeface="Segoe UI"/>
                <a:ea typeface="Segoe UI"/>
                <a:cs typeface="Segoe UI"/>
              </a:defRPr>
            </a:pPr>
            <a:r>
              <a:rPr sz="1875" b="0">
                <a:solidFill>
                  <a:srgbClr val="F4F4F5"/>
                </a:solidFill>
                <a:latin typeface="Segoe UI"/>
                <a:ea typeface="Segoe UI"/>
                <a:cs typeface="Segoe UI"/>
              </a:rPr>
              <a:t>BOSHUG founder</a:t>
            </a:r>
          </a:p>
        </p:txBody>
      </p:sp>
      <p:sp>
        <p:nvSpPr>
          <p:cNvPr id="11" name="intro-experience">
            <a:extLst xmlns:a="http://schemas.openxmlformats.org/drawingml/2006/main">
              <a:ext uri="{FF2B5EF4-FFF2-40B4-BE49-F238E27FC236}">
                <a16:creationId xmlns:a16="http://schemas.microsoft.com/office/drawing/2014/main" id="{56B3B94B-FDE2-4CC4-8262-EC4FAB4CF6B8}"/>
              </a:ext>
            </a:extLst>
          </p:cNvPr>
          <p:cNvSpPr>
            <a:spLocks xmlns:a="http://schemas.openxmlformats.org/drawingml/2006/main" noGrp="1"/>
          </p:cNvSpPr>
          <p:nvPr/>
        </p:nvSpPr>
        <p:spPr>
          <a:xfrm xmlns:a="http://schemas.openxmlformats.org/drawingml/2006/main">
            <a:off x="542925" y="5476875"/>
            <a:ext cx="5324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00" b="0">
                <a:solidFill>
                  <a:srgbClr val="B9BAC0"/>
                </a:solidFill>
                <a:latin typeface="Segoe UI"/>
                <a:ea typeface="Segoe UI"/>
                <a:cs typeface="Segoe UI"/>
              </a:defRPr>
            </a:pPr>
            <a:r>
              <a:rPr sz="2100" b="0">
                <a:solidFill>
                  <a:srgbClr val="B9BAC0"/>
                </a:solidFill>
                <a:latin typeface="Segoe UI"/>
                <a:ea typeface="Segoe UI"/>
                <a:cs typeface="Segoe UI"/>
              </a:rPr>
              <a:t>30 years in healthcare tech.</a:t>
            </a:r>
          </a:p>
        </p:txBody>
      </p:sp>
      <p:sp>
        <p:nvSpPr>
          <p:cNvPr id="12" name="intro-human">
            <a:extLst xmlns:a="http://schemas.openxmlformats.org/drawingml/2006/main">
              <a:ext uri="{FF2B5EF4-FFF2-40B4-BE49-F238E27FC236}">
                <a16:creationId xmlns:a16="http://schemas.microsoft.com/office/drawing/2014/main" id="{68B007A5-489A-4FC4-9093-CD62D93D2C99}"/>
              </a:ext>
            </a:extLst>
          </p:cNvPr>
          <p:cNvSpPr>
            <a:spLocks xmlns:a="http://schemas.openxmlformats.org/drawingml/2006/main" noGrp="1"/>
          </p:cNvSpPr>
          <p:nvPr/>
        </p:nvSpPr>
        <p:spPr>
          <a:xfrm xmlns:a="http://schemas.openxmlformats.org/drawingml/2006/main">
            <a:off x="542925" y="5848350"/>
            <a:ext cx="5324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00" b="1">
                <a:solidFill>
                  <a:srgbClr val="4D93C6"/>
                </a:solidFill>
                <a:latin typeface="Segoe UI"/>
                <a:ea typeface="Segoe UI"/>
                <a:cs typeface="Segoe UI"/>
              </a:defRPr>
            </a:pPr>
            <a:r>
              <a:rPr sz="2100" b="1">
                <a:solidFill>
                  <a:srgbClr val="4D93C6"/>
                </a:solidFill>
                <a:latin typeface="Segoe UI"/>
                <a:ea typeface="Segoe UI"/>
                <a:cs typeface="Segoe UI"/>
              </a:rPr>
              <a:t>Still too many tabs open.</a:t>
            </a:r>
          </a:p>
        </p:txBody>
      </p:sp>
      <p:sp>
        <p:nvSpPr>
          <p:cNvPr id="13" name="intro-brand">
            <a:extLst xmlns:a="http://schemas.openxmlformats.org/drawingml/2006/main">
              <a:ext uri="{FF2B5EF4-FFF2-40B4-BE49-F238E27FC236}">
                <a16:creationId xmlns:a16="http://schemas.microsoft.com/office/drawing/2014/main" id="{E3243B12-34D7-4326-9D0E-4135CC4E8D8F}"/>
              </a:ext>
            </a:extLst>
          </p:cNvPr>
          <p:cNvSpPr>
            <a:spLocks xmlns:a="http://schemas.openxmlformats.org/drawingml/2006/main" noGrp="1"/>
          </p:cNvSpPr>
          <p:nvPr/>
        </p:nvSpPr>
        <p:spPr>
          <a:xfrm xmlns:a="http://schemas.openxmlformats.org/drawingml/2006/main">
            <a:off x="523875" y="6477000"/>
            <a:ext cx="523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14" name="intro-number">
            <a:extLst xmlns:a="http://schemas.openxmlformats.org/drawingml/2006/main">
              <a:ext uri="{FF2B5EF4-FFF2-40B4-BE49-F238E27FC236}">
                <a16:creationId xmlns:a16="http://schemas.microsoft.com/office/drawing/2014/main" id="{0CA47A40-5615-48C8-B255-6DE2138CE4A5}"/>
              </a:ext>
            </a:extLst>
          </p:cNvPr>
          <p:cNvSpPr>
            <a:spLocks xmlns:a="http://schemas.openxmlformats.org/drawingml/2006/main" noGrp="1"/>
          </p:cNvSpPr>
          <p:nvPr/>
        </p:nvSpPr>
        <p:spPr>
          <a:xfrm xmlns:a="http://schemas.openxmlformats.org/drawingml/2006/main">
            <a:off x="5572125" y="647700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B9BAC0"/>
                </a:solidFill>
                <a:latin typeface="Consolas"/>
                <a:ea typeface="Consolas"/>
                <a:cs typeface="Consolas"/>
              </a:defRPr>
            </a:pPr>
            <a:r>
              <a:rPr sz="1050" b="0">
                <a:solidFill>
                  <a:srgbClr val="B9BAC0"/>
                </a:solidFill>
                <a:latin typeface="Consolas"/>
                <a:ea typeface="Consolas"/>
                <a:cs typeface="Consolas"/>
              </a:rPr>
              <a:t>02</a:t>
            </a:r>
          </a:p>
        </p:txBody>
      </p:sp>
    </p:spTree>
    <p:extLst>
      <p:ext uri="{BB962C8B-B14F-4D97-AF65-F5344CB8AC3E}">
        <p14:creationId xmlns:p14="http://schemas.microsoft.com/office/powerpoint/2010/main" val="1077445922"/>
      </p:ext>
    </p:extLst>
  </p:cSld>
</p:sld>
</file>

<file path=ppt/slides/slide3.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19" name="manila-kicker">
            <a:extLst xmlns:a="http://schemas.openxmlformats.org/drawingml/2006/main">
              <a:ext uri="{FF2B5EF4-FFF2-40B4-BE49-F238E27FC236}">
                <a16:creationId xmlns:a16="http://schemas.microsoft.com/office/drawing/2014/main" id="{A096AD9A-ECB3-4F78-B4D0-3EA828F179EF}"/>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9BAC0"/>
                </a:solidFill>
                <a:latin typeface="Consolas"/>
                <a:ea typeface="Consolas"/>
                <a:cs typeface="Consolas"/>
              </a:defRPr>
            </a:pPr>
            <a:r>
              <a:rPr sz="1050" b="1">
                <a:solidFill>
                  <a:srgbClr val="B9BAC0"/>
                </a:solidFill>
                <a:latin typeface="Consolas"/>
                <a:ea typeface="Consolas"/>
                <a:cs typeface="Consolas"/>
              </a:rPr>
              <a:t>MICROSOFT ANNOUNCEMENT / 25 SEPTEMBER 2026</a:t>
            </a:r>
          </a:p>
        </p:txBody>
      </p:sp>
      <p:sp>
        <p:nvSpPr>
          <p:cNvPr id="2" name="manila-title">
            <a:extLst xmlns:a="http://schemas.openxmlformats.org/drawingml/2006/main">
              <a:ext uri="{FF2B5EF4-FFF2-40B4-BE49-F238E27FC236}">
                <a16:creationId xmlns:a16="http://schemas.microsoft.com/office/drawing/2014/main" id="{F989B914-9A3C-476C-8DCF-765EA142B0EF}"/>
              </a:ext>
            </a:extLst>
          </p:cNvPr>
          <p:cNvSpPr>
            <a:spLocks xmlns:a="http://schemas.openxmlformats.org/drawingml/2006/main" noGrp="1"/>
          </p:cNvSpPr>
          <p:nvPr/>
        </p:nvSpPr>
        <p:spPr>
          <a:xfrm xmlns:a="http://schemas.openxmlformats.org/drawingml/2006/main">
            <a:off x="609600" y="781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F4F4F5"/>
                </a:solidFill>
                <a:latin typeface="Segoe UI"/>
                <a:ea typeface="Segoe UI"/>
                <a:cs typeface="Segoe UI"/>
              </a:defRPr>
            </a:pPr>
            <a:r>
              <a:rPr sz="3600" b="1">
                <a:solidFill>
                  <a:srgbClr val="F4F4F5"/>
                </a:solidFill>
                <a:latin typeface="Segoe UI"/>
                <a:ea typeface="Segoe UI"/>
                <a:cs typeface="Segoe UI"/>
              </a:rPr>
              <a:t>Copilot Home, Code and Autopilot</a:t>
            </a:r>
          </a:p>
        </p:txBody>
      </p:sp>
      <p:sp>
        <p:nvSpPr>
          <p:cNvPr id="3" name="manila-footer">
            <a:extLst xmlns:a="http://schemas.openxmlformats.org/drawingml/2006/main">
              <a:ext uri="{FF2B5EF4-FFF2-40B4-BE49-F238E27FC236}">
                <a16:creationId xmlns:a16="http://schemas.microsoft.com/office/drawing/2014/main" id="{79C54456-405C-41F5-80A3-AFDA9E3633A3}"/>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manila-number">
            <a:extLst xmlns:a="http://schemas.openxmlformats.org/drawingml/2006/main">
              <a:ext uri="{FF2B5EF4-FFF2-40B4-BE49-F238E27FC236}">
                <a16:creationId xmlns:a16="http://schemas.microsoft.com/office/drawing/2014/main" id="{3A283070-BAAF-4BB6-AFB3-95CBBC81BD5F}"/>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03</a:t>
            </a:r>
          </a:p>
        </p:txBody>
      </p:sp>
      <p:sp>
        <p:nvSpPr>
          <p:cNvPr id="5" name="overview-intro">
            <a:extLst xmlns:a="http://schemas.openxmlformats.org/drawingml/2006/main">
              <a:ext uri="{FF2B5EF4-FFF2-40B4-BE49-F238E27FC236}">
                <a16:creationId xmlns:a16="http://schemas.microsoft.com/office/drawing/2014/main" id="{50374172-5E85-44C6-8970-97FFF82D8F80}"/>
              </a:ext>
            </a:extLst>
          </p:cNvPr>
          <p:cNvSpPr>
            <a:spLocks xmlns:a="http://schemas.openxmlformats.org/drawingml/2006/main" noGrp="1"/>
          </p:cNvSpPr>
          <p:nvPr/>
        </p:nvSpPr>
        <p:spPr>
          <a:xfrm xmlns:a="http://schemas.openxmlformats.org/drawingml/2006/main">
            <a:off x="609600" y="15811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00" b="0">
                <a:solidFill>
                  <a:srgbClr val="B9BAC0"/>
                </a:solidFill>
                <a:latin typeface="Segoe UI"/>
                <a:ea typeface="Segoe UI"/>
                <a:cs typeface="Segoe UI"/>
              </a:defRPr>
            </a:pPr>
            <a:r>
              <a:rPr sz="2100" b="0">
                <a:solidFill>
                  <a:srgbClr val="B9BAC0"/>
                </a:solidFill>
                <a:latin typeface="Segoe UI"/>
                <a:ea typeface="Segoe UI"/>
                <a:cs typeface="Segoe UI"/>
              </a:rPr>
              <a:t>Home brings Chat and Cowork together.</a:t>
            </a:r>
          </a:p>
        </p:txBody>
      </p:sp>
      <p:sp>
        <p:nvSpPr>
          <p:cNvPr id="6" name="home-label">
            <a:extLst xmlns:a="http://schemas.openxmlformats.org/drawingml/2006/main">
              <a:ext uri="{FF2B5EF4-FFF2-40B4-BE49-F238E27FC236}">
                <a16:creationId xmlns:a16="http://schemas.microsoft.com/office/drawing/2014/main" id="{B2430917-FFE1-47D2-8070-0A70EA3134CF}"/>
              </a:ext>
            </a:extLst>
          </p:cNvPr>
          <p:cNvSpPr>
            <a:spLocks xmlns:a="http://schemas.openxmlformats.org/drawingml/2006/main" noGrp="1"/>
          </p:cNvSpPr>
          <p:nvPr/>
        </p:nvSpPr>
        <p:spPr>
          <a:xfrm xmlns:a="http://schemas.openxmlformats.org/drawingml/2006/main">
            <a:off x="609600" y="23050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700" b="1">
                <a:solidFill>
                  <a:srgbClr val="F4F4F5"/>
                </a:solidFill>
                <a:latin typeface="Consolas"/>
                <a:ea typeface="Consolas"/>
                <a:cs typeface="Consolas"/>
              </a:defRPr>
            </a:pPr>
            <a:r>
              <a:rPr sz="2700" b="1">
                <a:solidFill>
                  <a:srgbClr val="F4F4F5"/>
                </a:solidFill>
                <a:latin typeface="Consolas"/>
                <a:ea typeface="Consolas"/>
                <a:cs typeface="Consolas"/>
              </a:rPr>
              <a:t>HOME</a:t>
            </a:r>
          </a:p>
        </p:txBody>
      </p:sp>
      <p:sp>
        <p:nvSpPr>
          <p:cNvPr id="7" name="home-chat">
            <a:extLst xmlns:a="http://schemas.openxmlformats.org/drawingml/2006/main">
              <a:ext uri="{FF2B5EF4-FFF2-40B4-BE49-F238E27FC236}">
                <a16:creationId xmlns:a16="http://schemas.microsoft.com/office/drawing/2014/main" id="{BBAC50E4-EECF-4483-BB14-53552AED6593}"/>
              </a:ext>
            </a:extLst>
          </p:cNvPr>
          <p:cNvSpPr>
            <a:spLocks xmlns:a="http://schemas.openxmlformats.org/drawingml/2006/main" noGrp="1"/>
          </p:cNvSpPr>
          <p:nvPr/>
        </p:nvSpPr>
        <p:spPr>
          <a:xfrm xmlns:a="http://schemas.openxmlformats.org/drawingml/2006/main">
            <a:off x="609600" y="29908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75" b="1">
                <a:solidFill>
                  <a:srgbClr val="F4F4F5"/>
                </a:solidFill>
                <a:latin typeface="Segoe UI"/>
                <a:ea typeface="Segoe UI"/>
                <a:cs typeface="Segoe UI"/>
              </a:defRPr>
            </a:pPr>
            <a:r>
              <a:rPr sz="2175" b="1">
                <a:solidFill>
                  <a:srgbClr val="F4F4F5"/>
                </a:solidFill>
                <a:latin typeface="Segoe UI"/>
                <a:ea typeface="Segoe UI"/>
                <a:cs typeface="Segoe UI"/>
              </a:rPr>
              <a:t>Chat</a:t>
            </a:r>
          </a:p>
        </p:txBody>
      </p:sp>
      <p:sp>
        <p:nvSpPr>
          <p:cNvPr id="8" name="home-chat-body">
            <a:extLst xmlns:a="http://schemas.openxmlformats.org/drawingml/2006/main">
              <a:ext uri="{FF2B5EF4-FFF2-40B4-BE49-F238E27FC236}">
                <a16:creationId xmlns:a16="http://schemas.microsoft.com/office/drawing/2014/main" id="{E17FF2B3-4420-4C69-A261-60D8DE25932E}"/>
              </a:ext>
            </a:extLst>
          </p:cNvPr>
          <p:cNvSpPr>
            <a:spLocks xmlns:a="http://schemas.openxmlformats.org/drawingml/2006/main" noGrp="1"/>
          </p:cNvSpPr>
          <p:nvPr/>
        </p:nvSpPr>
        <p:spPr>
          <a:xfrm xmlns:a="http://schemas.openxmlformats.org/drawingml/2006/main">
            <a:off x="609600" y="3429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B9BAC0"/>
                </a:solidFill>
                <a:latin typeface="Segoe UI"/>
                <a:ea typeface="Segoe UI"/>
                <a:cs typeface="Segoe UI"/>
              </a:defRPr>
            </a:pPr>
            <a:r>
              <a:rPr sz="1800" b="0">
                <a:solidFill>
                  <a:srgbClr val="B9BAC0"/>
                </a:solidFill>
                <a:latin typeface="Segoe UI"/>
                <a:ea typeface="Segoe UI"/>
                <a:cs typeface="Segoe UI"/>
              </a:rPr>
              <a:t>Ask, draft and analyze.</a:t>
            </a:r>
          </a:p>
        </p:txBody>
      </p:sp>
      <p:sp>
        <p:nvSpPr>
          <p:cNvPr id="9" name="home-cowork">
            <a:extLst xmlns:a="http://schemas.openxmlformats.org/drawingml/2006/main">
              <a:ext uri="{FF2B5EF4-FFF2-40B4-BE49-F238E27FC236}">
                <a16:creationId xmlns:a16="http://schemas.microsoft.com/office/drawing/2014/main" id="{2E92CD98-2BEB-4795-A325-417FC1C4F664}"/>
              </a:ext>
            </a:extLst>
          </p:cNvPr>
          <p:cNvSpPr>
            <a:spLocks xmlns:a="http://schemas.openxmlformats.org/drawingml/2006/main" noGrp="1"/>
          </p:cNvSpPr>
          <p:nvPr/>
        </p:nvSpPr>
        <p:spPr>
          <a:xfrm xmlns:a="http://schemas.openxmlformats.org/drawingml/2006/main">
            <a:off x="609600" y="407670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75" b="1">
                <a:solidFill>
                  <a:srgbClr val="F4F4F5"/>
                </a:solidFill>
                <a:latin typeface="Segoe UI"/>
                <a:ea typeface="Segoe UI"/>
                <a:cs typeface="Segoe UI"/>
              </a:defRPr>
            </a:pPr>
            <a:r>
              <a:rPr sz="2175" b="1">
                <a:solidFill>
                  <a:srgbClr val="F4F4F5"/>
                </a:solidFill>
                <a:latin typeface="Segoe UI"/>
                <a:ea typeface="Segoe UI"/>
                <a:cs typeface="Segoe UI"/>
              </a:rPr>
              <a:t>Cowork</a:t>
            </a:r>
          </a:p>
        </p:txBody>
      </p:sp>
      <p:sp>
        <p:nvSpPr>
          <p:cNvPr id="10" name="home-cowork-body">
            <a:extLst xmlns:a="http://schemas.openxmlformats.org/drawingml/2006/main">
              <a:ext uri="{FF2B5EF4-FFF2-40B4-BE49-F238E27FC236}">
                <a16:creationId xmlns:a16="http://schemas.microsoft.com/office/drawing/2014/main" id="{FA460CB1-E842-4823-838D-FFD68602CEB6}"/>
              </a:ext>
            </a:extLst>
          </p:cNvPr>
          <p:cNvSpPr>
            <a:spLocks xmlns:a="http://schemas.openxmlformats.org/drawingml/2006/main" noGrp="1"/>
          </p:cNvSpPr>
          <p:nvPr/>
        </p:nvSpPr>
        <p:spPr>
          <a:xfrm xmlns:a="http://schemas.openxmlformats.org/drawingml/2006/main">
            <a:off x="609600" y="45339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B9BAC0"/>
                </a:solidFill>
                <a:latin typeface="Segoe UI"/>
                <a:ea typeface="Segoe UI"/>
                <a:cs typeface="Segoe UI"/>
              </a:defRPr>
            </a:pPr>
            <a:r>
              <a:rPr sz="1800" b="0">
                <a:solidFill>
                  <a:srgbClr val="B9BAC0"/>
                </a:solidFill>
                <a:latin typeface="Segoe UI"/>
                <a:ea typeface="Segoe UI"/>
                <a:cs typeface="Segoe UI"/>
              </a:rPr>
              <a:t>Delegate a task across apps.</a:t>
            </a:r>
          </a:p>
        </p:txBody>
      </p:sp>
      <p:sp>
        <p:nvSpPr>
          <p:cNvPr id="11" name="code-label">
            <a:extLst xmlns:a="http://schemas.openxmlformats.org/drawingml/2006/main">
              <a:ext uri="{FF2B5EF4-FFF2-40B4-BE49-F238E27FC236}">
                <a16:creationId xmlns:a16="http://schemas.microsoft.com/office/drawing/2014/main" id="{0AA31B2D-651A-4323-966A-AC8B5CAAB575}"/>
              </a:ext>
            </a:extLst>
          </p:cNvPr>
          <p:cNvSpPr>
            <a:spLocks xmlns:a="http://schemas.openxmlformats.org/drawingml/2006/main" noGrp="1"/>
          </p:cNvSpPr>
          <p:nvPr/>
        </p:nvSpPr>
        <p:spPr>
          <a:xfrm xmlns:a="http://schemas.openxmlformats.org/drawingml/2006/main">
            <a:off x="4438650" y="23050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700" b="1">
                <a:solidFill>
                  <a:srgbClr val="4D93C6"/>
                </a:solidFill>
                <a:latin typeface="Consolas"/>
                <a:ea typeface="Consolas"/>
                <a:cs typeface="Consolas"/>
              </a:defRPr>
            </a:pPr>
            <a:r>
              <a:rPr sz="2700" b="1">
                <a:solidFill>
                  <a:srgbClr val="4D93C6"/>
                </a:solidFill>
                <a:latin typeface="Consolas"/>
                <a:ea typeface="Consolas"/>
                <a:cs typeface="Consolas"/>
              </a:rPr>
              <a:t>CODE</a:t>
            </a:r>
          </a:p>
        </p:txBody>
      </p:sp>
      <p:sp>
        <p:nvSpPr>
          <p:cNvPr id="12" name="code-head">
            <a:extLst xmlns:a="http://schemas.openxmlformats.org/drawingml/2006/main">
              <a:ext uri="{FF2B5EF4-FFF2-40B4-BE49-F238E27FC236}">
                <a16:creationId xmlns:a16="http://schemas.microsoft.com/office/drawing/2014/main" id="{31F2F376-B37D-4EEA-9AEA-7A96A3B88962}"/>
              </a:ext>
            </a:extLst>
          </p:cNvPr>
          <p:cNvSpPr>
            <a:spLocks xmlns:a="http://schemas.openxmlformats.org/drawingml/2006/main" noGrp="1"/>
          </p:cNvSpPr>
          <p:nvPr/>
        </p:nvSpPr>
        <p:spPr>
          <a:xfrm xmlns:a="http://schemas.openxmlformats.org/drawingml/2006/main">
            <a:off x="4438650" y="29908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75" b="1">
                <a:solidFill>
                  <a:srgbClr val="F4F4F5"/>
                </a:solidFill>
                <a:latin typeface="Segoe UI"/>
                <a:ea typeface="Segoe UI"/>
                <a:cs typeface="Segoe UI"/>
              </a:defRPr>
            </a:pPr>
            <a:r>
              <a:rPr sz="2175" b="1">
                <a:solidFill>
                  <a:srgbClr val="F4F4F5"/>
                </a:solidFill>
                <a:latin typeface="Segoe UI"/>
                <a:ea typeface="Segoe UI"/>
                <a:cs typeface="Segoe UI"/>
              </a:rPr>
              <a:t>Build a solution</a:t>
            </a:r>
          </a:p>
        </p:txBody>
      </p:sp>
      <p:sp>
        <p:nvSpPr>
          <p:cNvPr id="13" name="code-body">
            <a:extLst xmlns:a="http://schemas.openxmlformats.org/drawingml/2006/main">
              <a:ext uri="{FF2B5EF4-FFF2-40B4-BE49-F238E27FC236}">
                <a16:creationId xmlns:a16="http://schemas.microsoft.com/office/drawing/2014/main" id="{1FB20CB5-0554-4DC7-9DBB-4A7D98EB74A8}"/>
              </a:ext>
            </a:extLst>
          </p:cNvPr>
          <p:cNvSpPr>
            <a:spLocks xmlns:a="http://schemas.openxmlformats.org/drawingml/2006/main" noGrp="1"/>
          </p:cNvSpPr>
          <p:nvPr/>
        </p:nvSpPr>
        <p:spPr>
          <a:xfrm xmlns:a="http://schemas.openxmlformats.org/drawingml/2006/main">
            <a:off x="4438650" y="3486150"/>
            <a:ext cx="323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B9BAC0"/>
                </a:solidFill>
                <a:latin typeface="Segoe UI"/>
                <a:ea typeface="Segoe UI"/>
                <a:cs typeface="Segoe UI"/>
              </a:defRPr>
            </a:pPr>
            <a:r>
              <a:rPr sz="1875" b="0">
                <a:solidFill>
                  <a:srgbClr val="B9BAC0"/>
                </a:solidFill>
                <a:latin typeface="Segoe UI"/>
                <a:ea typeface="Segoe UI"/>
                <a:cs typeface="Segoe UI"/>
              </a:rPr>
              <a:t>Create apps and workflows with GitHub Copilot technology.</a:t>
            </a:r>
          </a:p>
        </p:txBody>
      </p:sp>
      <p:sp>
        <p:nvSpPr>
          <p:cNvPr id="14" name="autopilot-label">
            <a:extLst xmlns:a="http://schemas.openxmlformats.org/drawingml/2006/main">
              <a:ext uri="{FF2B5EF4-FFF2-40B4-BE49-F238E27FC236}">
                <a16:creationId xmlns:a16="http://schemas.microsoft.com/office/drawing/2014/main" id="{83FF3BB4-2790-45C2-B4E4-7E0FFA47F898}"/>
              </a:ext>
            </a:extLst>
          </p:cNvPr>
          <p:cNvSpPr>
            <a:spLocks xmlns:a="http://schemas.openxmlformats.org/drawingml/2006/main" noGrp="1"/>
          </p:cNvSpPr>
          <p:nvPr/>
        </p:nvSpPr>
        <p:spPr>
          <a:xfrm xmlns:a="http://schemas.openxmlformats.org/drawingml/2006/main">
            <a:off x="8172450" y="2305050"/>
            <a:ext cx="340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700" b="1">
                <a:solidFill>
                  <a:srgbClr val="C33148"/>
                </a:solidFill>
                <a:latin typeface="Consolas"/>
                <a:ea typeface="Consolas"/>
                <a:cs typeface="Consolas"/>
              </a:defRPr>
            </a:pPr>
            <a:r>
              <a:rPr sz="2700" b="1">
                <a:solidFill>
                  <a:srgbClr val="C33148"/>
                </a:solidFill>
                <a:latin typeface="Consolas"/>
                <a:ea typeface="Consolas"/>
                <a:cs typeface="Consolas"/>
              </a:rPr>
              <a:t>AUTOPILOT</a:t>
            </a:r>
          </a:p>
        </p:txBody>
      </p:sp>
      <p:sp>
        <p:nvSpPr>
          <p:cNvPr id="15" name="autopilot-head">
            <a:extLst xmlns:a="http://schemas.openxmlformats.org/drawingml/2006/main">
              <a:ext uri="{FF2B5EF4-FFF2-40B4-BE49-F238E27FC236}">
                <a16:creationId xmlns:a16="http://schemas.microsoft.com/office/drawing/2014/main" id="{935DE8D8-4861-41B9-8962-FC7B14D8991A}"/>
              </a:ext>
            </a:extLst>
          </p:cNvPr>
          <p:cNvSpPr>
            <a:spLocks xmlns:a="http://schemas.openxmlformats.org/drawingml/2006/main" noGrp="1"/>
          </p:cNvSpPr>
          <p:nvPr/>
        </p:nvSpPr>
        <p:spPr>
          <a:xfrm xmlns:a="http://schemas.openxmlformats.org/drawingml/2006/main">
            <a:off x="8172450" y="2990850"/>
            <a:ext cx="3409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75" b="1">
                <a:solidFill>
                  <a:srgbClr val="F4F4F5"/>
                </a:solidFill>
                <a:latin typeface="Segoe UI"/>
                <a:ea typeface="Segoe UI"/>
                <a:cs typeface="Segoe UI"/>
              </a:defRPr>
            </a:pPr>
            <a:r>
              <a:rPr sz="2175" b="1">
                <a:solidFill>
                  <a:srgbClr val="F4F4F5"/>
                </a:solidFill>
                <a:latin typeface="Segoe UI"/>
                <a:ea typeface="Segoe UI"/>
                <a:cs typeface="Segoe UI"/>
              </a:rPr>
              <a:t>Keep work moving</a:t>
            </a:r>
          </a:p>
        </p:txBody>
      </p:sp>
      <p:sp>
        <p:nvSpPr>
          <p:cNvPr id="16" name="autopilot-body">
            <a:extLst xmlns:a="http://schemas.openxmlformats.org/drawingml/2006/main">
              <a:ext uri="{FF2B5EF4-FFF2-40B4-BE49-F238E27FC236}">
                <a16:creationId xmlns:a16="http://schemas.microsoft.com/office/drawing/2014/main" id="{E61EA770-1C9B-415A-AC71-492B31385A77}"/>
              </a:ext>
            </a:extLst>
          </p:cNvPr>
          <p:cNvSpPr>
            <a:spLocks xmlns:a="http://schemas.openxmlformats.org/drawingml/2006/main" noGrp="1"/>
          </p:cNvSpPr>
          <p:nvPr/>
        </p:nvSpPr>
        <p:spPr>
          <a:xfrm xmlns:a="http://schemas.openxmlformats.org/drawingml/2006/main">
            <a:off x="8172450" y="3486150"/>
            <a:ext cx="3409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75" b="0">
                <a:solidFill>
                  <a:srgbClr val="B9BAC0"/>
                </a:solidFill>
                <a:latin typeface="Segoe UI"/>
                <a:ea typeface="Segoe UI"/>
                <a:cs typeface="Segoe UI"/>
              </a:defRPr>
            </a:pPr>
            <a:r>
              <a:rPr sz="1875" b="0">
                <a:solidFill>
                  <a:srgbClr val="B9BAC0"/>
                </a:solidFill>
                <a:latin typeface="Segoe UI"/>
                <a:ea typeface="Segoe UI"/>
                <a:cs typeface="Segoe UI"/>
              </a:rPr>
              <a:t>A persistent agent with its own identity, memory and workspace.</a:t>
            </a:r>
          </a:p>
        </p:txBody>
      </p:sp>
      <p:sp>
        <p:nvSpPr>
          <p:cNvPr id="17" name="overview-status">
            <a:extLst xmlns:a="http://schemas.openxmlformats.org/drawingml/2006/main">
              <a:ext uri="{FF2B5EF4-FFF2-40B4-BE49-F238E27FC236}">
                <a16:creationId xmlns:a16="http://schemas.microsoft.com/office/drawing/2014/main" id="{99E015D0-2614-4CD5-85E2-4059C9DAC036}"/>
              </a:ext>
            </a:extLst>
          </p:cNvPr>
          <p:cNvSpPr>
            <a:spLocks xmlns:a="http://schemas.openxmlformats.org/drawingml/2006/main" noGrp="1"/>
          </p:cNvSpPr>
          <p:nvPr/>
        </p:nvSpPr>
        <p:spPr>
          <a:xfrm xmlns:a="http://schemas.openxmlformats.org/drawingml/2006/main">
            <a:off x="609600" y="54387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B9BAC0"/>
                </a:solidFill>
                <a:latin typeface="Segoe UI"/>
                <a:ea typeface="Segoe UI"/>
                <a:cs typeface="Segoe UI"/>
              </a:defRPr>
            </a:pPr>
            <a:r>
              <a:rPr sz="1575" b="0">
                <a:solidFill>
                  <a:srgbClr val="B9BAC0"/>
                </a:solidFill>
                <a:latin typeface="Segoe UI"/>
                <a:ea typeface="Segoe UI"/>
                <a:cs typeface="Segoe UI"/>
              </a:rPr>
              <a:t>Home and Code: Frontier rollout. Autopilot: private preview expansion.</a:t>
            </a:r>
          </a:p>
        </p:txBody>
      </p:sp>
      <p:sp>
        <p:nvSpPr>
          <p:cNvPr id="18" name="overview-billing">
            <a:extLst xmlns:a="http://schemas.openxmlformats.org/drawingml/2006/main">
              <a:ext uri="{FF2B5EF4-FFF2-40B4-BE49-F238E27FC236}">
                <a16:creationId xmlns:a16="http://schemas.microsoft.com/office/drawing/2014/main" id="{620D6BEE-69A3-4688-9237-A82615B06C23}"/>
              </a:ext>
            </a:extLst>
          </p:cNvPr>
          <p:cNvSpPr>
            <a:spLocks xmlns:a="http://schemas.openxmlformats.org/drawingml/2006/main" noGrp="1"/>
          </p:cNvSpPr>
          <p:nvPr/>
        </p:nvSpPr>
        <p:spPr>
          <a:xfrm xmlns:a="http://schemas.openxmlformats.org/drawingml/2006/main">
            <a:off x="609600" y="58864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1">
                <a:solidFill>
                  <a:srgbClr val="F4F4F5"/>
                </a:solidFill>
                <a:latin typeface="Segoe UI"/>
                <a:ea typeface="Segoe UI"/>
                <a:cs typeface="Segoe UI"/>
              </a:defRPr>
            </a:pPr>
            <a:r>
              <a:rPr sz="1575" b="1">
                <a:solidFill>
                  <a:srgbClr val="F4F4F5"/>
                </a:solidFill>
                <a:latin typeface="Segoe UI"/>
                <a:ea typeface="Segoe UI"/>
                <a:cs typeface="Segoe UI"/>
              </a:rPr>
              <a:t>Copilot seat + usage charges for Cowork, Code and Autopilot.</a:t>
            </a:r>
          </a:p>
        </p:txBody>
      </p:sp>
    </p:spTree>
    <p:extLst>
      <p:ext uri="{BB962C8B-B14F-4D97-AF65-F5344CB8AC3E}">
        <p14:creationId xmlns:p14="http://schemas.microsoft.com/office/powerpoint/2010/main" val="1077445922"/>
      </p:ext>
    </p:extLst>
  </p:cSld>
</p:sld>
</file>

<file path=ppt/slides/slide4.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13" name="manila-kicker">
            <a:extLst xmlns:a="http://schemas.openxmlformats.org/drawingml/2006/main">
              <a:ext uri="{FF2B5EF4-FFF2-40B4-BE49-F238E27FC236}">
                <a16:creationId xmlns:a16="http://schemas.microsoft.com/office/drawing/2014/main" id="{47838686-661D-492A-A7D9-DC84D0437E26}"/>
              </a:ext>
            </a:extLst>
          </p:cNvPr>
          <p:cNvSpPr>
            <a:spLocks xmlns:a="http://schemas.openxmlformats.org/drawingml/2006/main" noGrp="1"/>
          </p:cNvSpPr>
          <p:nvPr/>
        </p:nvSpPr>
        <p:spPr>
          <a:xfrm xmlns:a="http://schemas.openxmlformats.org/drawingml/2006/main">
            <a:off x="609600" y="2857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9BAC0"/>
                </a:solidFill>
                <a:latin typeface="Consolas"/>
                <a:ea typeface="Consolas"/>
                <a:cs typeface="Consolas"/>
              </a:defRPr>
            </a:pPr>
            <a:r>
              <a:rPr sz="1050" b="1">
                <a:solidFill>
                  <a:srgbClr val="B9BAC0"/>
                </a:solidFill>
                <a:latin typeface="Consolas"/>
                <a:ea typeface="Consolas"/>
                <a:cs typeface="Consolas"/>
              </a:rPr>
              <a:t>AUTOPILOT / FORMERLY MICROSOFT SCOUT</a:t>
            </a:r>
          </a:p>
        </p:txBody>
      </p:sp>
      <p:sp>
        <p:nvSpPr>
          <p:cNvPr id="2" name="manila-title">
            <a:extLst xmlns:a="http://schemas.openxmlformats.org/drawingml/2006/main">
              <a:ext uri="{FF2B5EF4-FFF2-40B4-BE49-F238E27FC236}">
                <a16:creationId xmlns:a16="http://schemas.microsoft.com/office/drawing/2014/main" id="{6ACB87CA-FF8E-4EFA-8236-57B7B05F5442}"/>
              </a:ext>
            </a:extLst>
          </p:cNvPr>
          <p:cNvSpPr>
            <a:spLocks xmlns:a="http://schemas.openxmlformats.org/drawingml/2006/main" noGrp="1"/>
          </p:cNvSpPr>
          <p:nvPr/>
        </p:nvSpPr>
        <p:spPr>
          <a:xfrm xmlns:a="http://schemas.openxmlformats.org/drawingml/2006/main">
            <a:off x="609600" y="781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F4F4F5"/>
                </a:solidFill>
                <a:latin typeface="Segoe UI"/>
                <a:ea typeface="Segoe UI"/>
                <a:cs typeface="Segoe UI"/>
              </a:defRPr>
            </a:pPr>
            <a:r>
              <a:rPr sz="3600" b="1">
                <a:solidFill>
                  <a:srgbClr val="F4F4F5"/>
                </a:solidFill>
                <a:latin typeface="Segoe UI"/>
                <a:ea typeface="Segoe UI"/>
                <a:cs typeface="Segoe UI"/>
              </a:rPr>
              <a:t>Autopilot keeps working after you log off</a:t>
            </a:r>
          </a:p>
        </p:txBody>
      </p:sp>
      <p:sp>
        <p:nvSpPr>
          <p:cNvPr id="3" name="manila-footer">
            <a:extLst xmlns:a="http://schemas.openxmlformats.org/drawingml/2006/main">
              <a:ext uri="{FF2B5EF4-FFF2-40B4-BE49-F238E27FC236}">
                <a16:creationId xmlns:a16="http://schemas.microsoft.com/office/drawing/2014/main" id="{7E27F01B-2ED6-423E-A5E0-3B9EA7F82FC7}"/>
              </a:ext>
            </a:extLst>
          </p:cNvPr>
          <p:cNvSpPr>
            <a:spLocks xmlns:a="http://schemas.openxmlformats.org/drawingml/2006/main" noGrp="1"/>
          </p:cNvSpPr>
          <p:nvPr/>
        </p:nvSpPr>
        <p:spPr>
          <a:xfrm xmlns:a="http://schemas.openxmlformats.org/drawingml/2006/main">
            <a:off x="6096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manila-number">
            <a:extLst xmlns:a="http://schemas.openxmlformats.org/drawingml/2006/main">
              <a:ext uri="{FF2B5EF4-FFF2-40B4-BE49-F238E27FC236}">
                <a16:creationId xmlns:a16="http://schemas.microsoft.com/office/drawing/2014/main" id="{AD6072CE-825C-4ADB-BC81-8BAF7AEE73DD}"/>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04</a:t>
            </a:r>
          </a:p>
        </p:txBody>
      </p:sp>
      <p:sp>
        <p:nvSpPr>
          <p:cNvPr id="5" name="auto-example-label">
            <a:extLst xmlns:a="http://schemas.openxmlformats.org/drawingml/2006/main">
              <a:ext uri="{FF2B5EF4-FFF2-40B4-BE49-F238E27FC236}">
                <a16:creationId xmlns:a16="http://schemas.microsoft.com/office/drawing/2014/main" id="{03672F14-4322-468A-A426-97988233DE87}"/>
              </a:ext>
            </a:extLst>
          </p:cNvPr>
          <p:cNvSpPr>
            <a:spLocks xmlns:a="http://schemas.openxmlformats.org/drawingml/2006/main" noGrp="1"/>
          </p:cNvSpPr>
          <p:nvPr/>
        </p:nvSpPr>
        <p:spPr>
          <a:xfrm xmlns:a="http://schemas.openxmlformats.org/drawingml/2006/main">
            <a:off x="609600" y="17335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4D93C6"/>
                </a:solidFill>
                <a:latin typeface="Consolas"/>
                <a:ea typeface="Consolas"/>
                <a:cs typeface="Consolas"/>
              </a:defRPr>
            </a:pPr>
            <a:r>
              <a:rPr sz="1350" b="1">
                <a:solidFill>
                  <a:srgbClr val="4D93C6"/>
                </a:solidFill>
                <a:latin typeface="Consolas"/>
                <a:ea typeface="Consolas"/>
                <a:cs typeface="Consolas"/>
              </a:rPr>
              <a:t>EXAMPLE: MORNING BRIEF</a:t>
            </a:r>
          </a:p>
        </p:txBody>
      </p:sp>
      <p:sp>
        <p:nvSpPr>
          <p:cNvPr id="6" name="auto-example">
            <a:extLst xmlns:a="http://schemas.openxmlformats.org/drawingml/2006/main">
              <a:ext uri="{FF2B5EF4-FFF2-40B4-BE49-F238E27FC236}">
                <a16:creationId xmlns:a16="http://schemas.microsoft.com/office/drawing/2014/main" id="{78916BA2-0DDF-47EA-B504-17993C9EF5A1}"/>
              </a:ext>
            </a:extLst>
          </p:cNvPr>
          <p:cNvSpPr>
            <a:spLocks xmlns:a="http://schemas.openxmlformats.org/drawingml/2006/main" noGrp="1"/>
          </p:cNvSpPr>
          <p:nvPr/>
        </p:nvSpPr>
        <p:spPr>
          <a:xfrm xmlns:a="http://schemas.openxmlformats.org/drawingml/2006/main">
            <a:off x="609600" y="2143125"/>
            <a:ext cx="4191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175" b="1">
                <a:solidFill>
                  <a:srgbClr val="F4F4F5"/>
                </a:solidFill>
                <a:latin typeface="Segoe UI"/>
                <a:ea typeface="Segoe UI"/>
                <a:cs typeface="Segoe UI"/>
              </a:defRPr>
            </a:pPr>
            <a:r>
              <a:rPr sz="2175" b="1">
                <a:solidFill>
                  <a:srgbClr val="F4F4F5"/>
                </a:solidFill>
                <a:latin typeface="Segoe UI"/>
                <a:ea typeface="Segoe UI"/>
                <a:cs typeface="Segoe UI"/>
              </a:rPr>
              <a:t>Every morning, prepare a brief from my email, calendar and Teams.</a:t>
            </a:r>
          </a:p>
        </p:txBody>
      </p:sp>
      <p:sp>
        <p:nvSpPr>
          <p:cNvPr id="7" name="auto-cloud-head">
            <a:extLst xmlns:a="http://schemas.openxmlformats.org/drawingml/2006/main">
              <a:ext uri="{FF2B5EF4-FFF2-40B4-BE49-F238E27FC236}">
                <a16:creationId xmlns:a16="http://schemas.microsoft.com/office/drawing/2014/main" id="{EC289152-DAB2-467B-9C12-DB97B0CCA8EB}"/>
              </a:ext>
            </a:extLst>
          </p:cNvPr>
          <p:cNvSpPr>
            <a:spLocks xmlns:a="http://schemas.openxmlformats.org/drawingml/2006/main" noGrp="1"/>
          </p:cNvSpPr>
          <p:nvPr/>
        </p:nvSpPr>
        <p:spPr>
          <a:xfrm xmlns:a="http://schemas.openxmlformats.org/drawingml/2006/main">
            <a:off x="609600" y="351472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025" b="1">
                <a:solidFill>
                  <a:srgbClr val="F4F4F5"/>
                </a:solidFill>
                <a:latin typeface="Segoe UI"/>
                <a:ea typeface="Segoe UI"/>
                <a:cs typeface="Segoe UI"/>
              </a:defRPr>
            </a:pPr>
            <a:r>
              <a:rPr sz="2025" b="1">
                <a:solidFill>
                  <a:srgbClr val="F4F4F5"/>
                </a:solidFill>
                <a:latin typeface="Segoe UI"/>
                <a:ea typeface="Segoe UI"/>
                <a:cs typeface="Segoe UI"/>
              </a:rPr>
              <a:t>Runs in the cloud</a:t>
            </a:r>
          </a:p>
        </p:txBody>
      </p:sp>
      <p:sp>
        <p:nvSpPr>
          <p:cNvPr id="8" name="auto-cloud-body">
            <a:extLst xmlns:a="http://schemas.openxmlformats.org/drawingml/2006/main">
              <a:ext uri="{FF2B5EF4-FFF2-40B4-BE49-F238E27FC236}">
                <a16:creationId xmlns:a16="http://schemas.microsoft.com/office/drawing/2014/main" id="{EF4E7556-60B7-47B2-8563-7045CF7A4D5C}"/>
              </a:ext>
            </a:extLst>
          </p:cNvPr>
          <p:cNvSpPr>
            <a:spLocks xmlns:a="http://schemas.openxmlformats.org/drawingml/2006/main" noGrp="1"/>
          </p:cNvSpPr>
          <p:nvPr/>
        </p:nvSpPr>
        <p:spPr>
          <a:xfrm xmlns:a="http://schemas.openxmlformats.org/drawingml/2006/main">
            <a:off x="609600" y="3924300"/>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B9BAC0"/>
                </a:solidFill>
                <a:latin typeface="Segoe UI"/>
                <a:ea typeface="Segoe UI"/>
                <a:cs typeface="Segoe UI"/>
              </a:defRPr>
            </a:pPr>
            <a:r>
              <a:rPr sz="1725" b="0">
                <a:solidFill>
                  <a:srgbClr val="B9BAC0"/>
                </a:solidFill>
                <a:latin typeface="Segoe UI"/>
                <a:ea typeface="Segoe UI"/>
                <a:cs typeface="Segoe UI"/>
              </a:rPr>
              <a:t>Continues while your device is off.</a:t>
            </a:r>
          </a:p>
        </p:txBody>
      </p:sp>
      <p:sp>
        <p:nvSpPr>
          <p:cNvPr id="9" name="auto-control-head">
            <a:extLst xmlns:a="http://schemas.openxmlformats.org/drawingml/2006/main">
              <a:ext uri="{FF2B5EF4-FFF2-40B4-BE49-F238E27FC236}">
                <a16:creationId xmlns:a16="http://schemas.microsoft.com/office/drawing/2014/main" id="{39D75084-35A1-472B-B037-E45C251D9CAD}"/>
              </a:ext>
            </a:extLst>
          </p:cNvPr>
          <p:cNvSpPr>
            <a:spLocks xmlns:a="http://schemas.openxmlformats.org/drawingml/2006/main" noGrp="1"/>
          </p:cNvSpPr>
          <p:nvPr/>
        </p:nvSpPr>
        <p:spPr>
          <a:xfrm xmlns:a="http://schemas.openxmlformats.org/drawingml/2006/main">
            <a:off x="609600" y="47244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025" b="1">
                <a:solidFill>
                  <a:srgbClr val="F4F4F5"/>
                </a:solidFill>
                <a:latin typeface="Segoe UI"/>
                <a:ea typeface="Segoe UI"/>
                <a:cs typeface="Segoe UI"/>
              </a:defRPr>
            </a:pPr>
            <a:r>
              <a:rPr sz="2025" b="1">
                <a:solidFill>
                  <a:srgbClr val="F4F4F5"/>
                </a:solidFill>
                <a:latin typeface="Segoe UI"/>
                <a:ea typeface="Segoe UI"/>
                <a:cs typeface="Segoe UI"/>
              </a:rPr>
              <a:t>Acts within set boundaries</a:t>
            </a:r>
          </a:p>
        </p:txBody>
      </p:sp>
      <p:sp>
        <p:nvSpPr>
          <p:cNvPr id="10" name="auto-control-body">
            <a:extLst xmlns:a="http://schemas.openxmlformats.org/drawingml/2006/main">
              <a:ext uri="{FF2B5EF4-FFF2-40B4-BE49-F238E27FC236}">
                <a16:creationId xmlns:a16="http://schemas.microsoft.com/office/drawing/2014/main" id="{5A8756E7-90EB-4D3E-8771-0EA5F4D3688C}"/>
              </a:ext>
            </a:extLst>
          </p:cNvPr>
          <p:cNvSpPr>
            <a:spLocks xmlns:a="http://schemas.openxmlformats.org/drawingml/2006/main" noGrp="1"/>
          </p:cNvSpPr>
          <p:nvPr/>
        </p:nvSpPr>
        <p:spPr>
          <a:xfrm xmlns:a="http://schemas.openxmlformats.org/drawingml/2006/main">
            <a:off x="609600" y="5162550"/>
            <a:ext cx="426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B9BAC0"/>
                </a:solidFill>
                <a:latin typeface="Segoe UI"/>
                <a:ea typeface="Segoe UI"/>
                <a:cs typeface="Segoe UI"/>
              </a:defRPr>
            </a:pPr>
            <a:r>
              <a:rPr sz="1725" b="0">
                <a:solidFill>
                  <a:srgbClr val="B9BAC0"/>
                </a:solidFill>
                <a:latin typeface="Segoe UI"/>
                <a:ea typeface="Segoe UI"/>
                <a:cs typeface="Segoe UI"/>
              </a:rPr>
              <a:t>Its own identity and workspace.</a:t>
            </a:r>
          </a:p>
          <a:p xmlns:a="http://schemas.openxmlformats.org/drawingml/2006/main">
            <a:pPr algn="l">
              <a:buNone/>
              <a:defRPr sz="1725" b="0">
                <a:solidFill>
                  <a:srgbClr val="B9BAC0"/>
                </a:solidFill>
                <a:latin typeface="Segoe UI"/>
                <a:ea typeface="Segoe UI"/>
                <a:cs typeface="Segoe UI"/>
              </a:defRPr>
            </a:pPr>
            <a:r>
              <a:rPr sz="1725" b="0">
                <a:solidFill>
                  <a:srgbClr val="B9BAC0"/>
                </a:solidFill>
                <a:latin typeface="Segoe UI"/>
                <a:ea typeface="Segoe UI"/>
                <a:cs typeface="Segoe UI"/>
              </a:rPr>
              <a:t>Permissions and audit stay central.</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42a8c78f8474fb7"/>
          <a:stretch xmlns:a="http://schemas.openxmlformats.org/drawingml/2006/main"/>
        </p:blipFill>
        <p:spPr>
          <a:xfrm xmlns:a="http://schemas.openxmlformats.org/drawingml/2006/main">
            <a:off x="5143500" y="1600200"/>
            <a:ext cx="6438900" cy="4829175"/>
          </a:xfrm>
          <a:prstGeom xmlns:a="http://schemas.openxmlformats.org/drawingml/2006/main" prst="rect">
            <a:avLst/>
          </a:prstGeom>
        </p:spPr>
      </p:pic>
      <p:sp>
        <p:nvSpPr>
          <p:cNvPr id="12" name="auto-status">
            <a:extLst xmlns:a="http://schemas.openxmlformats.org/drawingml/2006/main">
              <a:ext uri="{FF2B5EF4-FFF2-40B4-BE49-F238E27FC236}">
                <a16:creationId xmlns:a16="http://schemas.microsoft.com/office/drawing/2014/main" id="{59422B26-5A44-4D24-AB1B-DE3D415E6337}"/>
              </a:ext>
            </a:extLst>
          </p:cNvPr>
          <p:cNvSpPr>
            <a:spLocks xmlns:a="http://schemas.openxmlformats.org/drawingml/2006/main" noGrp="1"/>
          </p:cNvSpPr>
          <p:nvPr/>
        </p:nvSpPr>
        <p:spPr>
          <a:xfrm xmlns:a="http://schemas.openxmlformats.org/drawingml/2006/main">
            <a:off x="609600" y="6038850"/>
            <a:ext cx="4429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B9BAC0"/>
                </a:solidFill>
                <a:latin typeface="Segoe UI"/>
                <a:ea typeface="Segoe UI"/>
                <a:cs typeface="Segoe UI"/>
              </a:defRPr>
            </a:pPr>
            <a:r>
              <a:rPr sz="1275" b="0">
                <a:solidFill>
                  <a:srgbClr val="B9BAC0"/>
                </a:solidFill>
                <a:latin typeface="Segoe UI"/>
                <a:ea typeface="Segoe UI"/>
                <a:cs typeface="Segoe UI"/>
              </a:rPr>
              <a:t>Private preview expands at the end of September.</a:t>
            </a:r>
          </a:p>
        </p:txBody>
      </p:sp>
    </p:spTree>
    <p:extLst>
      <p:ext uri="{BB962C8B-B14F-4D97-AF65-F5344CB8AC3E}">
        <p14:creationId xmlns:p14="http://schemas.microsoft.com/office/powerpoint/2010/main" val="1077445922"/>
      </p:ext>
    </p:extLst>
  </p:cSld>
</p:sld>
</file>

<file path=ppt/slides/slide5.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18" name="s3-eyebrow">
            <a:extLst xmlns:a="http://schemas.openxmlformats.org/drawingml/2006/main">
              <a:ext uri="{FF2B5EF4-FFF2-40B4-BE49-F238E27FC236}">
                <a16:creationId xmlns:a16="http://schemas.microsoft.com/office/drawing/2014/main" id="{459AB821-701C-4106-A5BC-9DDB2D0A26E6}"/>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AUTOPILOT GOVERNANCE</a:t>
            </a:r>
          </a:p>
        </p:txBody>
      </p:sp>
      <p:sp>
        <p:nvSpPr>
          <p:cNvPr id="2" name="s3-accent-rule">
            <a:extLst xmlns:a="http://schemas.openxmlformats.org/drawingml/2006/main">
              <a:ext uri="{FF2B5EF4-FFF2-40B4-BE49-F238E27FC236}">
                <a16:creationId xmlns:a16="http://schemas.microsoft.com/office/drawing/2014/main" id="{B34A999D-1423-4E75-A7E7-093F4F2BFFFC}"/>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3-brand">
            <a:extLst xmlns:a="http://schemas.openxmlformats.org/drawingml/2006/main">
              <a:ext uri="{FF2B5EF4-FFF2-40B4-BE49-F238E27FC236}">
                <a16:creationId xmlns:a16="http://schemas.microsoft.com/office/drawing/2014/main" id="{24F56F0E-20C7-4D65-9C17-5891C2816404}"/>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3-number">
            <a:extLst xmlns:a="http://schemas.openxmlformats.org/drawingml/2006/main">
              <a:ext uri="{FF2B5EF4-FFF2-40B4-BE49-F238E27FC236}">
                <a16:creationId xmlns:a16="http://schemas.microsoft.com/office/drawing/2014/main" id="{56CE924F-E26B-4389-81F0-0E07C5AD4738}"/>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05</a:t>
            </a:r>
          </a:p>
        </p:txBody>
      </p:sp>
      <p:sp>
        <p:nvSpPr>
          <p:cNvPr id="5" name="s3-title">
            <a:extLst xmlns:a="http://schemas.openxmlformats.org/drawingml/2006/main">
              <a:ext uri="{FF2B5EF4-FFF2-40B4-BE49-F238E27FC236}">
                <a16:creationId xmlns:a16="http://schemas.microsoft.com/office/drawing/2014/main" id="{9CDAC8A9-660B-45DA-8D31-5E1E578F314E}"/>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Governed actions need explicit boundaries</a:t>
            </a:r>
          </a:p>
        </p:txBody>
      </p:sp>
      <p:sp>
        <p:nvSpPr>
          <p:cNvPr id="6" name="s3-scout-word">
            <a:extLst xmlns:a="http://schemas.openxmlformats.org/drawingml/2006/main">
              <a:ext uri="{FF2B5EF4-FFF2-40B4-BE49-F238E27FC236}">
                <a16:creationId xmlns:a16="http://schemas.microsoft.com/office/drawing/2014/main" id="{57F542FA-A190-4EC1-A568-05702C490BE5}"/>
              </a:ext>
            </a:extLst>
          </p:cNvPr>
          <p:cNvSpPr>
            <a:spLocks xmlns:a="http://schemas.openxmlformats.org/drawingml/2006/main" noGrp="1"/>
          </p:cNvSpPr>
          <p:nvPr/>
        </p:nvSpPr>
        <p:spPr>
          <a:xfrm xmlns:a="http://schemas.openxmlformats.org/drawingml/2006/main">
            <a:off x="7086600" y="1790700"/>
            <a:ext cx="4495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4425" b="1">
                <a:solidFill>
                  <a:srgbClr val="4D93C6"/>
                </a:solidFill>
                <a:latin typeface="Consolas"/>
                <a:ea typeface="Consolas"/>
                <a:cs typeface="Consolas"/>
              </a:defRPr>
            </a:pPr>
            <a:r>
              <a:rPr sz="4425" b="1">
                <a:solidFill>
                  <a:srgbClr val="4D93C6"/>
                </a:solidFill>
                <a:latin typeface="Consolas"/>
                <a:ea typeface="Consolas"/>
                <a:cs typeface="Consolas"/>
              </a:rPr>
              <a:t>AUTOPILOT</a:t>
            </a:r>
          </a:p>
        </p:txBody>
      </p:sp>
      <p:sp>
        <p:nvSpPr>
          <p:cNvPr id="7" name="s3-autopilot-word">
            <a:extLst xmlns:a="http://schemas.openxmlformats.org/drawingml/2006/main">
              <a:ext uri="{FF2B5EF4-FFF2-40B4-BE49-F238E27FC236}">
                <a16:creationId xmlns:a16="http://schemas.microsoft.com/office/drawing/2014/main" id="{B355AEDC-106E-4641-9F21-B8C30E590627}"/>
              </a:ext>
            </a:extLst>
          </p:cNvPr>
          <p:cNvSpPr>
            <a:spLocks xmlns:a="http://schemas.openxmlformats.org/drawingml/2006/main" noGrp="1"/>
          </p:cNvSpPr>
          <p:nvPr/>
        </p:nvSpPr>
        <p:spPr>
          <a:xfrm xmlns:a="http://schemas.openxmlformats.org/drawingml/2006/main">
            <a:off x="7086600" y="272415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650" b="1">
                <a:solidFill>
                  <a:srgbClr val="B9BAC0"/>
                </a:solidFill>
                <a:latin typeface="Consolas"/>
                <a:ea typeface="Consolas"/>
                <a:cs typeface="Consolas"/>
              </a:defRPr>
            </a:pPr>
            <a:r>
              <a:rPr sz="1650" b="1">
                <a:solidFill>
                  <a:srgbClr val="B9BAC0"/>
                </a:solidFill>
                <a:latin typeface="Consolas"/>
                <a:ea typeface="Consolas"/>
                <a:cs typeface="Consolas"/>
              </a:rPr>
              <a:t>FORMERLY SCOUT</a:t>
            </a:r>
          </a:p>
        </p:txBody>
      </p:sp>
      <p:sp>
        <p:nvSpPr>
          <p:cNvPr id="8" name="s3-divider">
            <a:extLst xmlns:a="http://schemas.openxmlformats.org/drawingml/2006/main">
              <a:ext uri="{FF2B5EF4-FFF2-40B4-BE49-F238E27FC236}">
                <a16:creationId xmlns:a16="http://schemas.microsoft.com/office/drawing/2014/main" id="{4DEA6DD9-61FC-4A6D-9253-2419697B8760}"/>
              </a:ext>
            </a:extLst>
          </p:cNvPr>
          <p:cNvSpPr>
            <a:spLocks xmlns:a="http://schemas.openxmlformats.org/drawingml/2006/main" noGrp="1"/>
          </p:cNvSpPr>
          <p:nvPr/>
        </p:nvSpPr>
        <p:spPr>
          <a:xfrm xmlns:a="http://schemas.openxmlformats.org/drawingml/2006/main">
            <a:off x="6667500" y="1676400"/>
            <a:ext cx="0" cy="3733800"/>
          </a:xfrm>
          <a:prstGeom xmlns:a="http://schemas.openxmlformats.org/drawingml/2006/main" prst="line">
            <a:avLst/>
          </a:prstGeom>
          <a:noFill xmlns:a="http://schemas.openxmlformats.org/drawingml/2006/main"/>
          <a:ln xmlns:a="http://schemas.openxmlformats.org/drawingml/2006/main" w="19050">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3-claim-0-head">
            <a:extLst xmlns:a="http://schemas.openxmlformats.org/drawingml/2006/main">
              <a:ext uri="{FF2B5EF4-FFF2-40B4-BE49-F238E27FC236}">
                <a16:creationId xmlns:a16="http://schemas.microsoft.com/office/drawing/2014/main" id="{2C753B37-A431-472F-A141-33BEEECAAF22}"/>
              </a:ext>
            </a:extLst>
          </p:cNvPr>
          <p:cNvSpPr>
            <a:spLocks xmlns:a="http://schemas.openxmlformats.org/drawingml/2006/main" noGrp="1"/>
          </p:cNvSpPr>
          <p:nvPr/>
        </p:nvSpPr>
        <p:spPr>
          <a:xfrm xmlns:a="http://schemas.openxmlformats.org/drawingml/2006/main">
            <a:off x="609600" y="17526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F4F4F5"/>
                </a:solidFill>
                <a:latin typeface="Segoe UI"/>
                <a:ea typeface="Segoe UI"/>
                <a:cs typeface="Segoe UI"/>
              </a:defRPr>
            </a:pPr>
            <a:r>
              <a:rPr sz="2250" b="1">
                <a:solidFill>
                  <a:srgbClr val="F4F4F5"/>
                </a:solidFill>
                <a:latin typeface="Segoe UI"/>
                <a:ea typeface="Segoe UI"/>
                <a:cs typeface="Segoe UI"/>
              </a:rPr>
              <a:t>Own governed identity</a:t>
            </a:r>
          </a:p>
        </p:txBody>
      </p:sp>
      <p:sp>
        <p:nvSpPr>
          <p:cNvPr id="10" name="s3-claim-0-body">
            <a:extLst xmlns:a="http://schemas.openxmlformats.org/drawingml/2006/main">
              <a:ext uri="{FF2B5EF4-FFF2-40B4-BE49-F238E27FC236}">
                <a16:creationId xmlns:a16="http://schemas.microsoft.com/office/drawing/2014/main" id="{E7B62295-3E89-48A3-8165-E865035788C9}"/>
              </a:ext>
            </a:extLst>
          </p:cNvPr>
          <p:cNvSpPr>
            <a:spLocks xmlns:a="http://schemas.openxmlformats.org/drawingml/2006/main" noGrp="1"/>
          </p:cNvSpPr>
          <p:nvPr/>
        </p:nvSpPr>
        <p:spPr>
          <a:xfrm xmlns:a="http://schemas.openxmlformats.org/drawingml/2006/main">
            <a:off x="609600" y="2171700"/>
            <a:ext cx="542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Attribute actions to the agent.</a:t>
            </a:r>
          </a:p>
        </p:txBody>
      </p:sp>
      <p:sp>
        <p:nvSpPr>
          <p:cNvPr id="11" name="s3-claim-1-head">
            <a:extLst xmlns:a="http://schemas.openxmlformats.org/drawingml/2006/main">
              <a:ext uri="{FF2B5EF4-FFF2-40B4-BE49-F238E27FC236}">
                <a16:creationId xmlns:a16="http://schemas.microsoft.com/office/drawing/2014/main" id="{C346A862-EEA5-4534-AEF6-98CFADF40F5E}"/>
              </a:ext>
            </a:extLst>
          </p:cNvPr>
          <p:cNvSpPr>
            <a:spLocks xmlns:a="http://schemas.openxmlformats.org/drawingml/2006/main" noGrp="1"/>
          </p:cNvSpPr>
          <p:nvPr/>
        </p:nvSpPr>
        <p:spPr>
          <a:xfrm xmlns:a="http://schemas.openxmlformats.org/drawingml/2006/main">
            <a:off x="609600" y="29718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4F4F5"/>
                </a:solidFill>
                <a:latin typeface="Segoe UI"/>
                <a:ea typeface="Segoe UI"/>
                <a:cs typeface="Segoe UI"/>
              </a:defRPr>
            </a:pPr>
            <a:r>
              <a:rPr sz="2250" b="1">
                <a:solidFill>
                  <a:srgbClr val="F4F4F5"/>
                </a:solidFill>
                <a:latin typeface="Segoe UI"/>
                <a:ea typeface="Segoe UI"/>
                <a:cs typeface="Segoe UI"/>
              </a:rPr>
              <a:t>Approved resources</a:t>
            </a:r>
          </a:p>
        </p:txBody>
      </p:sp>
      <p:sp>
        <p:nvSpPr>
          <p:cNvPr id="12" name="s3-claim-1-body">
            <a:extLst xmlns:a="http://schemas.openxmlformats.org/drawingml/2006/main">
              <a:ext uri="{FF2B5EF4-FFF2-40B4-BE49-F238E27FC236}">
                <a16:creationId xmlns:a16="http://schemas.microsoft.com/office/drawing/2014/main" id="{4D47379F-8D11-473E-B8BB-E1846F324DB9}"/>
              </a:ext>
            </a:extLst>
          </p:cNvPr>
          <p:cNvSpPr>
            <a:spLocks xmlns:a="http://schemas.openxmlformats.org/drawingml/2006/main" noGrp="1"/>
          </p:cNvSpPr>
          <p:nvPr/>
        </p:nvSpPr>
        <p:spPr>
          <a:xfrm xmlns:a="http://schemas.openxmlformats.org/drawingml/2006/main">
            <a:off x="609600" y="3390900"/>
            <a:ext cx="542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Access stays within granted permissions.</a:t>
            </a:r>
          </a:p>
        </p:txBody>
      </p:sp>
      <p:sp>
        <p:nvSpPr>
          <p:cNvPr id="13" name="s3-claim-2-head">
            <a:extLst xmlns:a="http://schemas.openxmlformats.org/drawingml/2006/main">
              <a:ext uri="{FF2B5EF4-FFF2-40B4-BE49-F238E27FC236}">
                <a16:creationId xmlns:a16="http://schemas.microsoft.com/office/drawing/2014/main" id="{9F935BCC-FF2C-42DE-AD7F-D822533354B6}"/>
              </a:ext>
            </a:extLst>
          </p:cNvPr>
          <p:cNvSpPr>
            <a:spLocks xmlns:a="http://schemas.openxmlformats.org/drawingml/2006/main" noGrp="1"/>
          </p:cNvSpPr>
          <p:nvPr/>
        </p:nvSpPr>
        <p:spPr>
          <a:xfrm xmlns:a="http://schemas.openxmlformats.org/drawingml/2006/main">
            <a:off x="609600" y="419100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F4F4F5"/>
                </a:solidFill>
                <a:latin typeface="Segoe UI"/>
                <a:ea typeface="Segoe UI"/>
                <a:cs typeface="Segoe UI"/>
              </a:defRPr>
            </a:pPr>
            <a:r>
              <a:rPr sz="2250" b="1">
                <a:solidFill>
                  <a:srgbClr val="F4F4F5"/>
                </a:solidFill>
                <a:latin typeface="Segoe UI"/>
                <a:ea typeface="Segoe UI"/>
                <a:cs typeface="Segoe UI"/>
              </a:rPr>
              <a:t>Human sign-off</a:t>
            </a:r>
          </a:p>
        </p:txBody>
      </p:sp>
      <p:sp>
        <p:nvSpPr>
          <p:cNvPr id="14" name="s3-claim-2-body">
            <a:extLst xmlns:a="http://schemas.openxmlformats.org/drawingml/2006/main">
              <a:ext uri="{FF2B5EF4-FFF2-40B4-BE49-F238E27FC236}">
                <a16:creationId xmlns:a16="http://schemas.microsoft.com/office/drawing/2014/main" id="{57246126-A7B2-4FCA-97F6-208CBF1EBBE7}"/>
              </a:ext>
            </a:extLst>
          </p:cNvPr>
          <p:cNvSpPr>
            <a:spLocks xmlns:a="http://schemas.openxmlformats.org/drawingml/2006/main" noGrp="1"/>
          </p:cNvSpPr>
          <p:nvPr/>
        </p:nvSpPr>
        <p:spPr>
          <a:xfrm xmlns:a="http://schemas.openxmlformats.org/drawingml/2006/main">
            <a:off x="609600" y="4610100"/>
            <a:ext cx="542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Sensitive actions can require approval.</a:t>
            </a:r>
          </a:p>
        </p:txBody>
      </p:sp>
      <p:sp>
        <p:nvSpPr>
          <p:cNvPr id="15" name="s3-openclaw-callout">
            <a:extLst xmlns:a="http://schemas.openxmlformats.org/drawingml/2006/main">
              <a:ext uri="{FF2B5EF4-FFF2-40B4-BE49-F238E27FC236}">
                <a16:creationId xmlns:a16="http://schemas.microsoft.com/office/drawing/2014/main" id="{39973185-B671-4976-8FDF-1A76EB7AB9C7}"/>
              </a:ext>
            </a:extLst>
          </p:cNvPr>
          <p:cNvSpPr>
            <a:spLocks xmlns:a="http://schemas.openxmlformats.org/drawingml/2006/main" noGrp="1"/>
          </p:cNvSpPr>
          <p:nvPr/>
        </p:nvSpPr>
        <p:spPr>
          <a:xfrm xmlns:a="http://schemas.openxmlformats.org/drawingml/2006/main">
            <a:off x="7086600" y="3810000"/>
            <a:ext cx="4381500" cy="1581150"/>
          </a:xfrm>
          <a:prstGeom xmlns:a="http://schemas.openxmlformats.org/drawingml/2006/main" prst="roundRect">
            <a:avLst>
              <a:gd name="adj" fmla="val 9639"/>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3-openclaw-head">
            <a:extLst xmlns:a="http://schemas.openxmlformats.org/drawingml/2006/main">
              <a:ext uri="{FF2B5EF4-FFF2-40B4-BE49-F238E27FC236}">
                <a16:creationId xmlns:a16="http://schemas.microsoft.com/office/drawing/2014/main" id="{D6E8A37C-E49A-4233-AFEA-8AAB5DBB9168}"/>
              </a:ext>
            </a:extLst>
          </p:cNvPr>
          <p:cNvSpPr>
            <a:spLocks xmlns:a="http://schemas.openxmlformats.org/drawingml/2006/main" noGrp="1"/>
          </p:cNvSpPr>
          <p:nvPr/>
        </p:nvSpPr>
        <p:spPr>
          <a:xfrm xmlns:a="http://schemas.openxmlformats.org/drawingml/2006/main">
            <a:off x="7391400" y="4095750"/>
            <a:ext cx="3771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OpenClaw foundation</a:t>
            </a:r>
          </a:p>
        </p:txBody>
      </p:sp>
      <p:sp>
        <p:nvSpPr>
          <p:cNvPr id="17" name="s3-openclaw-body">
            <a:extLst xmlns:a="http://schemas.openxmlformats.org/drawingml/2006/main">
              <a:ext uri="{FF2B5EF4-FFF2-40B4-BE49-F238E27FC236}">
                <a16:creationId xmlns:a16="http://schemas.microsoft.com/office/drawing/2014/main" id="{B8B532A8-D1AE-4E83-A053-1AE3A7AAD41E}"/>
              </a:ext>
            </a:extLst>
          </p:cNvPr>
          <p:cNvSpPr>
            <a:spLocks xmlns:a="http://schemas.openxmlformats.org/drawingml/2006/main" noGrp="1"/>
          </p:cNvSpPr>
          <p:nvPr/>
        </p:nvSpPr>
        <p:spPr>
          <a:xfrm xmlns:a="http://schemas.openxmlformats.org/drawingml/2006/main">
            <a:off x="7391400" y="4610100"/>
            <a:ext cx="3771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Microsoft described Scout as powered by OpenClaw.</a:t>
            </a:r>
          </a:p>
        </p:txBody>
      </p:sp>
    </p:spTree>
    <p:extLst>
      <p:ext uri="{BB962C8B-B14F-4D97-AF65-F5344CB8AC3E}">
        <p14:creationId xmlns:p14="http://schemas.microsoft.com/office/powerpoint/2010/main" val="2066137721"/>
      </p:ext>
    </p:extLst>
  </p:cSld>
</p:sld>
</file>

<file path=ppt/slides/slide6.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sp>
        <p:nvSpPr>
          <p:cNvPr id="17" name="s4-eyebrow">
            <a:extLst xmlns:a="http://schemas.openxmlformats.org/drawingml/2006/main">
              <a:ext uri="{FF2B5EF4-FFF2-40B4-BE49-F238E27FC236}">
                <a16:creationId xmlns:a16="http://schemas.microsoft.com/office/drawing/2014/main" id="{5BCF920A-C9FF-4885-B379-C76F05449640}"/>
              </a:ext>
            </a:extLst>
          </p:cNvPr>
          <p:cNvSpPr>
            <a:spLocks xmlns:a="http://schemas.openxmlformats.org/drawingml/2006/main" noGrp="1"/>
          </p:cNvSpPr>
          <p:nvPr/>
        </p:nvSpPr>
        <p:spPr>
          <a:xfrm xmlns:a="http://schemas.openxmlformats.org/drawingml/2006/main">
            <a:off x="609600" y="2857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LIVE DEMO 01 / AUTOPILOT AND SCOUT PREVIEW</a:t>
            </a:r>
          </a:p>
        </p:txBody>
      </p:sp>
      <p:sp>
        <p:nvSpPr>
          <p:cNvPr id="2" name="s4-accent-rule">
            <a:extLst xmlns:a="http://schemas.openxmlformats.org/drawingml/2006/main">
              <a:ext uri="{FF2B5EF4-FFF2-40B4-BE49-F238E27FC236}">
                <a16:creationId xmlns:a16="http://schemas.microsoft.com/office/drawing/2014/main" id="{0E6200C2-A7CA-4CD4-A2F5-3E4781F366D2}"/>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4-brand">
            <a:extLst xmlns:a="http://schemas.openxmlformats.org/drawingml/2006/main">
              <a:ext uri="{FF2B5EF4-FFF2-40B4-BE49-F238E27FC236}">
                <a16:creationId xmlns:a16="http://schemas.microsoft.com/office/drawing/2014/main" id="{E64DA202-433C-48E1-BE00-8035EA0A667E}"/>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4-number">
            <a:extLst xmlns:a="http://schemas.openxmlformats.org/drawingml/2006/main">
              <a:ext uri="{FF2B5EF4-FFF2-40B4-BE49-F238E27FC236}">
                <a16:creationId xmlns:a16="http://schemas.microsoft.com/office/drawing/2014/main" id="{6C26931C-E5A1-43D5-9107-21B55F7D0BFA}"/>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06</a:t>
            </a:r>
          </a:p>
        </p:txBody>
      </p:sp>
      <p:sp>
        <p:nvSpPr>
          <p:cNvPr id="5" name="s4-demo-number">
            <a:extLst xmlns:a="http://schemas.openxmlformats.org/drawingml/2006/main">
              <a:ext uri="{FF2B5EF4-FFF2-40B4-BE49-F238E27FC236}">
                <a16:creationId xmlns:a16="http://schemas.microsoft.com/office/drawing/2014/main" id="{1EED99D3-1BB5-4348-9CE2-129FDCB05E98}"/>
              </a:ext>
            </a:extLst>
          </p:cNvPr>
          <p:cNvSpPr>
            <a:spLocks xmlns:a="http://schemas.openxmlformats.org/drawingml/2006/main" noGrp="1"/>
          </p:cNvSpPr>
          <p:nvPr/>
        </p:nvSpPr>
        <p:spPr>
          <a:xfrm xmlns:a="http://schemas.openxmlformats.org/drawingml/2006/main">
            <a:off x="609600" y="1428750"/>
            <a:ext cx="3162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0" b="1">
                <a:solidFill>
                  <a:srgbClr val="9B1C2C"/>
                </a:solidFill>
                <a:latin typeface="Consolas"/>
                <a:ea typeface="Consolas"/>
                <a:cs typeface="Consolas"/>
              </a:defRPr>
            </a:pPr>
            <a:r>
              <a:rPr sz="13500" b="1">
                <a:solidFill>
                  <a:srgbClr val="9B1C2C"/>
                </a:solidFill>
                <a:latin typeface="Consolas"/>
                <a:ea typeface="Consolas"/>
                <a:cs typeface="Consolas"/>
              </a:rPr>
              <a:t>01</a:t>
            </a:r>
          </a:p>
        </p:txBody>
      </p:sp>
      <p:sp>
        <p:nvSpPr>
          <p:cNvPr id="6" name="s4-title">
            <a:extLst xmlns:a="http://schemas.openxmlformats.org/drawingml/2006/main">
              <a:ext uri="{FF2B5EF4-FFF2-40B4-BE49-F238E27FC236}">
                <a16:creationId xmlns:a16="http://schemas.microsoft.com/office/drawing/2014/main" id="{E908A065-D46C-427C-901F-F1FBEDADDBC6}"/>
              </a:ext>
            </a:extLst>
          </p:cNvPr>
          <p:cNvSpPr>
            <a:spLocks xmlns:a="http://schemas.openxmlformats.org/drawingml/2006/main" noGrp="1"/>
          </p:cNvSpPr>
          <p:nvPr/>
        </p:nvSpPr>
        <p:spPr>
          <a:xfrm xmlns:a="http://schemas.openxmlformats.org/drawingml/2006/main">
            <a:off x="4476750" y="1009650"/>
            <a:ext cx="676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09"/>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Follow the action and the controls</a:t>
            </a:r>
          </a:p>
        </p:txBody>
      </p:sp>
      <p:sp>
        <p:nvSpPr>
          <p:cNvPr id="7" name="s4-step-1-num">
            <a:extLst xmlns:a="http://schemas.openxmlformats.org/drawingml/2006/main">
              <a:ext uri="{FF2B5EF4-FFF2-40B4-BE49-F238E27FC236}">
                <a16:creationId xmlns:a16="http://schemas.microsoft.com/office/drawing/2014/main" id="{CEAF948B-DC64-4506-9952-003F0F4D5F0C}"/>
              </a:ext>
            </a:extLst>
          </p:cNvPr>
          <p:cNvSpPr>
            <a:spLocks xmlns:a="http://schemas.openxmlformats.org/drawingml/2006/main" noGrp="1"/>
          </p:cNvSpPr>
          <p:nvPr/>
        </p:nvSpPr>
        <p:spPr>
          <a:xfrm xmlns:a="http://schemas.openxmlformats.org/drawingml/2006/main">
            <a:off x="4476750" y="21717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01</a:t>
            </a:r>
          </a:p>
        </p:txBody>
      </p:sp>
      <p:sp>
        <p:nvSpPr>
          <p:cNvPr id="8" name="s4-step-1-title">
            <a:extLst xmlns:a="http://schemas.openxmlformats.org/drawingml/2006/main">
              <a:ext uri="{FF2B5EF4-FFF2-40B4-BE49-F238E27FC236}">
                <a16:creationId xmlns:a16="http://schemas.microsoft.com/office/drawing/2014/main" id="{13698781-F388-4F27-A2D4-842A207FDCDA}"/>
              </a:ext>
            </a:extLst>
          </p:cNvPr>
          <p:cNvSpPr>
            <a:spLocks xmlns:a="http://schemas.openxmlformats.org/drawingml/2006/main" noGrp="1"/>
          </p:cNvSpPr>
          <p:nvPr/>
        </p:nvSpPr>
        <p:spPr>
          <a:xfrm xmlns:a="http://schemas.openxmlformats.org/drawingml/2006/main">
            <a:off x="5143500" y="2133600"/>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Context</a:t>
            </a:r>
          </a:p>
        </p:txBody>
      </p:sp>
      <p:sp>
        <p:nvSpPr>
          <p:cNvPr id="9" name="s4-step-1-body">
            <a:extLst xmlns:a="http://schemas.openxmlformats.org/drawingml/2006/main">
              <a:ext uri="{FF2B5EF4-FFF2-40B4-BE49-F238E27FC236}">
                <a16:creationId xmlns:a16="http://schemas.microsoft.com/office/drawing/2014/main" id="{A327CE89-5D74-4CAA-9BC5-76286C773624}"/>
              </a:ext>
            </a:extLst>
          </p:cNvPr>
          <p:cNvSpPr>
            <a:spLocks xmlns:a="http://schemas.openxmlformats.org/drawingml/2006/main" noGrp="1"/>
          </p:cNvSpPr>
          <p:nvPr/>
        </p:nvSpPr>
        <p:spPr>
          <a:xfrm xmlns:a="http://schemas.openxmlformats.org/drawingml/2006/main">
            <a:off x="5143500" y="251460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What information the agent uses to complete the task.</a:t>
            </a:r>
          </a:p>
        </p:txBody>
      </p:sp>
      <p:sp>
        <p:nvSpPr>
          <p:cNvPr id="10" name="s4-step-2-num">
            <a:extLst xmlns:a="http://schemas.openxmlformats.org/drawingml/2006/main">
              <a:ext uri="{FF2B5EF4-FFF2-40B4-BE49-F238E27FC236}">
                <a16:creationId xmlns:a16="http://schemas.microsoft.com/office/drawing/2014/main" id="{9FD47179-B202-4908-8AC1-52586682B6C2}"/>
              </a:ext>
            </a:extLst>
          </p:cNvPr>
          <p:cNvSpPr>
            <a:spLocks xmlns:a="http://schemas.openxmlformats.org/drawingml/2006/main" noGrp="1"/>
          </p:cNvSpPr>
          <p:nvPr/>
        </p:nvSpPr>
        <p:spPr>
          <a:xfrm xmlns:a="http://schemas.openxmlformats.org/drawingml/2006/main">
            <a:off x="4476750" y="337185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02</a:t>
            </a:r>
          </a:p>
        </p:txBody>
      </p:sp>
      <p:sp>
        <p:nvSpPr>
          <p:cNvPr id="11" name="s4-step-2-title">
            <a:extLst xmlns:a="http://schemas.openxmlformats.org/drawingml/2006/main">
              <a:ext uri="{FF2B5EF4-FFF2-40B4-BE49-F238E27FC236}">
                <a16:creationId xmlns:a16="http://schemas.microsoft.com/office/drawing/2014/main" id="{E3786A0A-7E1C-4CB0-A1B6-AC9A551A0FB3}"/>
              </a:ext>
            </a:extLst>
          </p:cNvPr>
          <p:cNvSpPr>
            <a:spLocks xmlns:a="http://schemas.openxmlformats.org/drawingml/2006/main" noGrp="1"/>
          </p:cNvSpPr>
          <p:nvPr/>
        </p:nvSpPr>
        <p:spPr>
          <a:xfrm xmlns:a="http://schemas.openxmlformats.org/drawingml/2006/main">
            <a:off x="5143500" y="3333750"/>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Boundary</a:t>
            </a:r>
          </a:p>
        </p:txBody>
      </p:sp>
      <p:sp>
        <p:nvSpPr>
          <p:cNvPr id="12" name="s4-step-2-body">
            <a:extLst xmlns:a="http://schemas.openxmlformats.org/drawingml/2006/main">
              <a:ext uri="{FF2B5EF4-FFF2-40B4-BE49-F238E27FC236}">
                <a16:creationId xmlns:a16="http://schemas.microsoft.com/office/drawing/2014/main" id="{436D7E99-4E1E-403E-A44A-8C7DE1A54BA5}"/>
              </a:ext>
            </a:extLst>
          </p:cNvPr>
          <p:cNvSpPr>
            <a:spLocks xmlns:a="http://schemas.openxmlformats.org/drawingml/2006/main" noGrp="1"/>
          </p:cNvSpPr>
          <p:nvPr/>
        </p:nvSpPr>
        <p:spPr>
          <a:xfrm xmlns:a="http://schemas.openxmlformats.org/drawingml/2006/main">
            <a:off x="5143500" y="371475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What it cannot reach without permission.</a:t>
            </a:r>
          </a:p>
        </p:txBody>
      </p:sp>
      <p:sp>
        <p:nvSpPr>
          <p:cNvPr id="13" name="s4-step-3-num">
            <a:extLst xmlns:a="http://schemas.openxmlformats.org/drawingml/2006/main">
              <a:ext uri="{FF2B5EF4-FFF2-40B4-BE49-F238E27FC236}">
                <a16:creationId xmlns:a16="http://schemas.microsoft.com/office/drawing/2014/main" id="{87F80255-23A7-48F5-A546-BFF27FEC368B}"/>
              </a:ext>
            </a:extLst>
          </p:cNvPr>
          <p:cNvSpPr>
            <a:spLocks xmlns:a="http://schemas.openxmlformats.org/drawingml/2006/main" noGrp="1"/>
          </p:cNvSpPr>
          <p:nvPr/>
        </p:nvSpPr>
        <p:spPr>
          <a:xfrm xmlns:a="http://schemas.openxmlformats.org/drawingml/2006/main">
            <a:off x="4476750" y="45720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03</a:t>
            </a:r>
          </a:p>
        </p:txBody>
      </p:sp>
      <p:sp>
        <p:nvSpPr>
          <p:cNvPr id="14" name="s4-step-3-title">
            <a:extLst xmlns:a="http://schemas.openxmlformats.org/drawingml/2006/main">
              <a:ext uri="{FF2B5EF4-FFF2-40B4-BE49-F238E27FC236}">
                <a16:creationId xmlns:a16="http://schemas.microsoft.com/office/drawing/2014/main" id="{9E1BEA14-C1A3-4723-B050-827AEA20EB24}"/>
              </a:ext>
            </a:extLst>
          </p:cNvPr>
          <p:cNvSpPr>
            <a:spLocks xmlns:a="http://schemas.openxmlformats.org/drawingml/2006/main" noGrp="1"/>
          </p:cNvSpPr>
          <p:nvPr/>
        </p:nvSpPr>
        <p:spPr>
          <a:xfrm xmlns:a="http://schemas.openxmlformats.org/drawingml/2006/main">
            <a:off x="5143500" y="4533900"/>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Approval</a:t>
            </a:r>
          </a:p>
        </p:txBody>
      </p:sp>
      <p:sp>
        <p:nvSpPr>
          <p:cNvPr id="15" name="s4-step-3-body">
            <a:extLst xmlns:a="http://schemas.openxmlformats.org/drawingml/2006/main">
              <a:ext uri="{FF2B5EF4-FFF2-40B4-BE49-F238E27FC236}">
                <a16:creationId xmlns:a16="http://schemas.microsoft.com/office/drawing/2014/main" id="{C7F4A788-78FE-40AA-B7C2-0B944F9E7011}"/>
              </a:ext>
            </a:extLst>
          </p:cNvPr>
          <p:cNvSpPr>
            <a:spLocks xmlns:a="http://schemas.openxmlformats.org/drawingml/2006/main" noGrp="1"/>
          </p:cNvSpPr>
          <p:nvPr/>
        </p:nvSpPr>
        <p:spPr>
          <a:xfrm xmlns:a="http://schemas.openxmlformats.org/drawingml/2006/main">
            <a:off x="5143500" y="491490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Where a human remains in the loop.</a:t>
            </a:r>
          </a:p>
        </p:txBody>
      </p:sp>
      <p:sp>
        <p:nvSpPr>
          <p:cNvPr id="16" name="s4-demo-safety">
            <a:extLst xmlns:a="http://schemas.openxmlformats.org/drawingml/2006/main">
              <a:ext uri="{FF2B5EF4-FFF2-40B4-BE49-F238E27FC236}">
                <a16:creationId xmlns:a16="http://schemas.microsoft.com/office/drawing/2014/main" id="{4C9FBCA0-B5E7-45BC-83BF-AA0B3BDAF71D}"/>
              </a:ext>
            </a:extLst>
          </p:cNvPr>
          <p:cNvSpPr>
            <a:spLocks xmlns:a="http://schemas.openxmlformats.org/drawingml/2006/main" noGrp="1"/>
          </p:cNvSpPr>
          <p:nvPr/>
        </p:nvSpPr>
        <p:spPr>
          <a:xfrm xmlns:a="http://schemas.openxmlformats.org/drawingml/2006/main">
            <a:off x="4476750" y="58102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7B7E87"/>
                </a:solidFill>
                <a:latin typeface="Consolas"/>
                <a:ea typeface="Consolas"/>
                <a:cs typeface="Consolas"/>
              </a:defRPr>
            </a:pPr>
            <a:r>
              <a:rPr sz="1125" b="1">
                <a:solidFill>
                  <a:srgbClr val="7B7E87"/>
                </a:solidFill>
                <a:latin typeface="Consolas"/>
                <a:ea typeface="Consolas"/>
                <a:cs typeface="Consolas"/>
              </a:rPr>
              <a:t>DEMO TENANT ONLY  //  NO PERSONAL DATA</a:t>
            </a:r>
          </a:p>
        </p:txBody>
      </p:sp>
    </p:spTree>
    <p:extLst>
      <p:ext uri="{BB962C8B-B14F-4D97-AF65-F5344CB8AC3E}">
        <p14:creationId xmlns:p14="http://schemas.microsoft.com/office/powerpoint/2010/main" val="1794123427"/>
      </p:ext>
    </p:extLst>
  </p:cSld>
</p:sld>
</file>

<file path=ppt/slides/slide7.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27" name="s5-eyebrow">
            <a:extLst xmlns:a="http://schemas.openxmlformats.org/drawingml/2006/main">
              <a:ext uri="{FF2B5EF4-FFF2-40B4-BE49-F238E27FC236}">
                <a16:creationId xmlns:a16="http://schemas.microsoft.com/office/drawing/2014/main" id="{CFFB235A-ACD2-4746-942E-4B6409F17BD8}"/>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ARCHITECTURE</a:t>
            </a:r>
          </a:p>
        </p:txBody>
      </p:sp>
      <p:sp>
        <p:nvSpPr>
          <p:cNvPr id="2" name="s5-accent-rule">
            <a:extLst xmlns:a="http://schemas.openxmlformats.org/drawingml/2006/main">
              <a:ext uri="{FF2B5EF4-FFF2-40B4-BE49-F238E27FC236}">
                <a16:creationId xmlns:a16="http://schemas.microsoft.com/office/drawing/2014/main" id="{422B500D-DFDB-4201-897F-96029CB75FD7}"/>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5-brand">
            <a:extLst xmlns:a="http://schemas.openxmlformats.org/drawingml/2006/main">
              <a:ext uri="{FF2B5EF4-FFF2-40B4-BE49-F238E27FC236}">
                <a16:creationId xmlns:a16="http://schemas.microsoft.com/office/drawing/2014/main" id="{917A770A-1736-4170-9D17-8F92BAD27FFB}"/>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5-number">
            <a:extLst xmlns:a="http://schemas.openxmlformats.org/drawingml/2006/main">
              <a:ext uri="{FF2B5EF4-FFF2-40B4-BE49-F238E27FC236}">
                <a16:creationId xmlns:a16="http://schemas.microsoft.com/office/drawing/2014/main" id="{FA2CFB87-ED1D-4D24-8F0C-F7F75376FA06}"/>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07</a:t>
            </a:r>
          </a:p>
        </p:txBody>
      </p:sp>
      <p:sp>
        <p:nvSpPr>
          <p:cNvPr id="5" name="s5-title">
            <a:extLst xmlns:a="http://schemas.openxmlformats.org/drawingml/2006/main">
              <a:ext uri="{FF2B5EF4-FFF2-40B4-BE49-F238E27FC236}">
                <a16:creationId xmlns:a16="http://schemas.microsoft.com/office/drawing/2014/main" id="{2051ADBF-7470-4B1A-8D9D-AE04716A4A1E}"/>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OpenClaw agent architecture</a:t>
            </a:r>
          </a:p>
        </p:txBody>
      </p:sp>
      <p:sp>
        <p:nvSpPr>
          <p:cNvPr id="6" name="s5-arrow-0">
            <a:extLst xmlns:a="http://schemas.openxmlformats.org/drawingml/2006/main">
              <a:ext uri="{FF2B5EF4-FFF2-40B4-BE49-F238E27FC236}">
                <a16:creationId xmlns:a16="http://schemas.microsoft.com/office/drawing/2014/main" id="{847FB702-9A2D-4684-B5FD-9107F7F46D34}"/>
              </a:ext>
            </a:extLst>
          </p:cNvPr>
          <p:cNvSpPr>
            <a:spLocks xmlns:a="http://schemas.openxmlformats.org/drawingml/2006/main" noGrp="1"/>
          </p:cNvSpPr>
          <p:nvPr/>
        </p:nvSpPr>
        <p:spPr>
          <a:xfrm xmlns:a="http://schemas.openxmlformats.org/drawingml/2006/main">
            <a:off x="2581275" y="2743200"/>
            <a:ext cx="323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400" b="0">
                <a:solidFill>
                  <a:srgbClr val="7B7E87"/>
                </a:solidFill>
                <a:latin typeface="Segoe UI"/>
                <a:ea typeface="Segoe UI"/>
                <a:cs typeface="Segoe UI"/>
              </a:defRPr>
            </a:pPr>
            <a:r>
              <a:rPr sz="2400" b="0">
                <a:solidFill>
                  <a:srgbClr val="7B7E87"/>
                </a:solidFill>
                <a:latin typeface="Segoe UI"/>
                <a:ea typeface="Segoe UI"/>
                <a:cs typeface="Segoe UI"/>
              </a:rPr>
              <a:t>→</a:t>
            </a:r>
          </a:p>
        </p:txBody>
      </p:sp>
      <p:sp>
        <p:nvSpPr>
          <p:cNvPr id="7" name="s5-arrow-1">
            <a:extLst xmlns:a="http://schemas.openxmlformats.org/drawingml/2006/main">
              <a:ext uri="{FF2B5EF4-FFF2-40B4-BE49-F238E27FC236}">
                <a16:creationId xmlns:a16="http://schemas.microsoft.com/office/drawing/2014/main" id="{1D255905-BBBD-4523-B6ED-F574C076BE11}"/>
              </a:ext>
            </a:extLst>
          </p:cNvPr>
          <p:cNvSpPr>
            <a:spLocks xmlns:a="http://schemas.openxmlformats.org/drawingml/2006/main" noGrp="1"/>
          </p:cNvSpPr>
          <p:nvPr/>
        </p:nvSpPr>
        <p:spPr>
          <a:xfrm xmlns:a="http://schemas.openxmlformats.org/drawingml/2006/main">
            <a:off x="4876800" y="2743200"/>
            <a:ext cx="323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400" b="0">
                <a:solidFill>
                  <a:srgbClr val="7B7E87"/>
                </a:solidFill>
                <a:latin typeface="Segoe UI"/>
                <a:ea typeface="Segoe UI"/>
                <a:cs typeface="Segoe UI"/>
              </a:defRPr>
            </a:pPr>
            <a:r>
              <a:rPr sz="2400" b="0">
                <a:solidFill>
                  <a:srgbClr val="7B7E87"/>
                </a:solidFill>
                <a:latin typeface="Segoe UI"/>
                <a:ea typeface="Segoe UI"/>
                <a:cs typeface="Segoe UI"/>
              </a:rPr>
              <a:t>→</a:t>
            </a:r>
          </a:p>
        </p:txBody>
      </p:sp>
      <p:sp>
        <p:nvSpPr>
          <p:cNvPr id="8" name="s5-arrow-2">
            <a:extLst xmlns:a="http://schemas.openxmlformats.org/drawingml/2006/main">
              <a:ext uri="{FF2B5EF4-FFF2-40B4-BE49-F238E27FC236}">
                <a16:creationId xmlns:a16="http://schemas.microsoft.com/office/drawing/2014/main" id="{6E99F36C-6ED3-4C6E-8472-B8EF9EAF80FC}"/>
              </a:ext>
            </a:extLst>
          </p:cNvPr>
          <p:cNvSpPr>
            <a:spLocks xmlns:a="http://schemas.openxmlformats.org/drawingml/2006/main" noGrp="1"/>
          </p:cNvSpPr>
          <p:nvPr/>
        </p:nvSpPr>
        <p:spPr>
          <a:xfrm xmlns:a="http://schemas.openxmlformats.org/drawingml/2006/main">
            <a:off x="7172325" y="2743200"/>
            <a:ext cx="323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400" b="0">
                <a:solidFill>
                  <a:srgbClr val="7B7E87"/>
                </a:solidFill>
                <a:latin typeface="Segoe UI"/>
                <a:ea typeface="Segoe UI"/>
                <a:cs typeface="Segoe UI"/>
              </a:defRPr>
            </a:pPr>
            <a:r>
              <a:rPr sz="2400" b="0">
                <a:solidFill>
                  <a:srgbClr val="7B7E87"/>
                </a:solidFill>
                <a:latin typeface="Segoe UI"/>
                <a:ea typeface="Segoe UI"/>
                <a:cs typeface="Segoe UI"/>
              </a:rPr>
              <a:t>→</a:t>
            </a:r>
          </a:p>
        </p:txBody>
      </p:sp>
      <p:sp>
        <p:nvSpPr>
          <p:cNvPr id="9" name="s5-arrow-3">
            <a:extLst xmlns:a="http://schemas.openxmlformats.org/drawingml/2006/main">
              <a:ext uri="{FF2B5EF4-FFF2-40B4-BE49-F238E27FC236}">
                <a16:creationId xmlns:a16="http://schemas.microsoft.com/office/drawing/2014/main" id="{4C09938C-7EB8-4820-89E2-1935B683B047}"/>
              </a:ext>
            </a:extLst>
          </p:cNvPr>
          <p:cNvSpPr>
            <a:spLocks xmlns:a="http://schemas.openxmlformats.org/drawingml/2006/main" noGrp="1"/>
          </p:cNvSpPr>
          <p:nvPr/>
        </p:nvSpPr>
        <p:spPr>
          <a:xfrm xmlns:a="http://schemas.openxmlformats.org/drawingml/2006/main">
            <a:off x="9467850" y="2743200"/>
            <a:ext cx="323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400" b="0">
                <a:solidFill>
                  <a:srgbClr val="7B7E87"/>
                </a:solidFill>
                <a:latin typeface="Segoe UI"/>
                <a:ea typeface="Segoe UI"/>
                <a:cs typeface="Segoe UI"/>
              </a:defRPr>
            </a:pPr>
            <a:r>
              <a:rPr sz="2400" b="0">
                <a:solidFill>
                  <a:srgbClr val="7B7E87"/>
                </a:solidFill>
                <a:latin typeface="Segoe UI"/>
                <a:ea typeface="Segoe UI"/>
                <a:cs typeface="Segoe UI"/>
              </a:rPr>
              <a:t>→</a:t>
            </a:r>
          </a:p>
        </p:txBody>
      </p:sp>
      <p:sp>
        <p:nvSpPr>
          <p:cNvPr id="10" name="s5-node-0">
            <a:extLst xmlns:a="http://schemas.openxmlformats.org/drawingml/2006/main">
              <a:ext uri="{FF2B5EF4-FFF2-40B4-BE49-F238E27FC236}">
                <a16:creationId xmlns:a16="http://schemas.microsoft.com/office/drawing/2014/main" id="{B541269D-1E0D-4B76-971A-95F9B63D3265}"/>
              </a:ext>
            </a:extLst>
          </p:cNvPr>
          <p:cNvSpPr>
            <a:spLocks xmlns:a="http://schemas.openxmlformats.org/drawingml/2006/main" noGrp="1"/>
          </p:cNvSpPr>
          <p:nvPr/>
        </p:nvSpPr>
        <p:spPr>
          <a:xfrm xmlns:a="http://schemas.openxmlformats.org/drawingml/2006/main">
            <a:off x="609600" y="2305050"/>
            <a:ext cx="1809750" cy="1466850"/>
          </a:xfrm>
          <a:prstGeom xmlns:a="http://schemas.openxmlformats.org/drawingml/2006/main" prst="roundRect">
            <a:avLst>
              <a:gd name="adj" fmla="val 1039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5-node-0-head">
            <a:extLst xmlns:a="http://schemas.openxmlformats.org/drawingml/2006/main">
              <a:ext uri="{FF2B5EF4-FFF2-40B4-BE49-F238E27FC236}">
                <a16:creationId xmlns:a16="http://schemas.microsoft.com/office/drawing/2014/main" id="{9FF066D0-2EE8-4A06-A9A8-9A850CF4CEFE}"/>
              </a:ext>
            </a:extLst>
          </p:cNvPr>
          <p:cNvSpPr>
            <a:spLocks xmlns:a="http://schemas.openxmlformats.org/drawingml/2006/main" noGrp="1"/>
          </p:cNvSpPr>
          <p:nvPr/>
        </p:nvSpPr>
        <p:spPr>
          <a:xfrm xmlns:a="http://schemas.openxmlformats.org/drawingml/2006/main">
            <a:off x="781050"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350" b="1">
                <a:solidFill>
                  <a:srgbClr val="F4F4F5"/>
                </a:solidFill>
                <a:latin typeface="Consolas"/>
                <a:ea typeface="Consolas"/>
                <a:cs typeface="Consolas"/>
              </a:defRPr>
            </a:pPr>
            <a:r>
              <a:rPr sz="1350" b="1">
                <a:solidFill>
                  <a:srgbClr val="F4F4F5"/>
                </a:solidFill>
                <a:latin typeface="Consolas"/>
                <a:ea typeface="Consolas"/>
                <a:cs typeface="Consolas"/>
              </a:rPr>
              <a:t>CHANNELS</a:t>
            </a:r>
          </a:p>
        </p:txBody>
      </p:sp>
      <p:sp>
        <p:nvSpPr>
          <p:cNvPr id="12" name="s5-node-0-body">
            <a:extLst xmlns:a="http://schemas.openxmlformats.org/drawingml/2006/main">
              <a:ext uri="{FF2B5EF4-FFF2-40B4-BE49-F238E27FC236}">
                <a16:creationId xmlns:a16="http://schemas.microsoft.com/office/drawing/2014/main" id="{0D671A4B-A970-4E54-85EE-FC9072221262}"/>
              </a:ext>
            </a:extLst>
          </p:cNvPr>
          <p:cNvSpPr>
            <a:spLocks xmlns:a="http://schemas.openxmlformats.org/drawingml/2006/main" noGrp="1"/>
          </p:cNvSpPr>
          <p:nvPr/>
        </p:nvSpPr>
        <p:spPr>
          <a:xfrm xmlns:a="http://schemas.openxmlformats.org/drawingml/2006/main">
            <a:off x="781050" y="2914650"/>
            <a:ext cx="1466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Teams</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Telegram</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Email</a:t>
            </a:r>
          </a:p>
        </p:txBody>
      </p:sp>
      <p:sp>
        <p:nvSpPr>
          <p:cNvPr id="13" name="s5-node-1">
            <a:extLst xmlns:a="http://schemas.openxmlformats.org/drawingml/2006/main">
              <a:ext uri="{FF2B5EF4-FFF2-40B4-BE49-F238E27FC236}">
                <a16:creationId xmlns:a16="http://schemas.microsoft.com/office/drawing/2014/main" id="{749EFAFA-A0DF-4F96-8C60-A4E0B2BD6F96}"/>
              </a:ext>
            </a:extLst>
          </p:cNvPr>
          <p:cNvSpPr>
            <a:spLocks xmlns:a="http://schemas.openxmlformats.org/drawingml/2006/main" noGrp="1"/>
          </p:cNvSpPr>
          <p:nvPr/>
        </p:nvSpPr>
        <p:spPr>
          <a:xfrm xmlns:a="http://schemas.openxmlformats.org/drawingml/2006/main">
            <a:off x="2905125" y="2305050"/>
            <a:ext cx="1809750" cy="1466850"/>
          </a:xfrm>
          <a:prstGeom xmlns:a="http://schemas.openxmlformats.org/drawingml/2006/main" prst="roundRect">
            <a:avLst>
              <a:gd name="adj" fmla="val 10390"/>
            </a:avLst>
          </a:prstGeom>
          <a:solidFill xmlns:a="http://schemas.openxmlformats.org/drawingml/2006/main">
            <a:srgbClr val="9B1C2C"/>
          </a:solidFill>
          <a:ln xmlns:a="http://schemas.openxmlformats.org/drawingml/2006/main" w="952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5-node-1-head">
            <a:extLst xmlns:a="http://schemas.openxmlformats.org/drawingml/2006/main">
              <a:ext uri="{FF2B5EF4-FFF2-40B4-BE49-F238E27FC236}">
                <a16:creationId xmlns:a16="http://schemas.microsoft.com/office/drawing/2014/main" id="{CD76B02C-AD74-475D-B139-02C0B3F7C723}"/>
              </a:ext>
            </a:extLst>
          </p:cNvPr>
          <p:cNvSpPr>
            <a:spLocks xmlns:a="http://schemas.openxmlformats.org/drawingml/2006/main" noGrp="1"/>
          </p:cNvSpPr>
          <p:nvPr/>
        </p:nvSpPr>
        <p:spPr>
          <a:xfrm xmlns:a="http://schemas.openxmlformats.org/drawingml/2006/main">
            <a:off x="3076575"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350" b="1">
                <a:solidFill>
                  <a:srgbClr val="F4F4F5"/>
                </a:solidFill>
                <a:latin typeface="Consolas"/>
                <a:ea typeface="Consolas"/>
                <a:cs typeface="Consolas"/>
              </a:defRPr>
            </a:pPr>
            <a:r>
              <a:rPr sz="1350" b="1">
                <a:solidFill>
                  <a:srgbClr val="F4F4F5"/>
                </a:solidFill>
                <a:latin typeface="Consolas"/>
                <a:ea typeface="Consolas"/>
                <a:cs typeface="Consolas"/>
              </a:rPr>
              <a:t>OPENCLAW</a:t>
            </a:r>
          </a:p>
        </p:txBody>
      </p:sp>
      <p:sp>
        <p:nvSpPr>
          <p:cNvPr id="15" name="s5-node-1-body">
            <a:extLst xmlns:a="http://schemas.openxmlformats.org/drawingml/2006/main">
              <a:ext uri="{FF2B5EF4-FFF2-40B4-BE49-F238E27FC236}">
                <a16:creationId xmlns:a16="http://schemas.microsoft.com/office/drawing/2014/main" id="{87DA654D-F6EE-4228-9F35-15FF02B841DE}"/>
              </a:ext>
            </a:extLst>
          </p:cNvPr>
          <p:cNvSpPr>
            <a:spLocks xmlns:a="http://schemas.openxmlformats.org/drawingml/2006/main" noGrp="1"/>
          </p:cNvSpPr>
          <p:nvPr/>
        </p:nvSpPr>
        <p:spPr>
          <a:xfrm xmlns:a="http://schemas.openxmlformats.org/drawingml/2006/main">
            <a:off x="3076575" y="2914650"/>
            <a:ext cx="1466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lnSpc>
                <a:spcPct val="100000"/>
              </a:lnSpc>
              <a:buNone/>
              <a:defRPr sz="1575" b="0">
                <a:solidFill>
                  <a:srgbClr val="F4F4F5"/>
                </a:solidFill>
                <a:latin typeface="Segoe UI"/>
                <a:ea typeface="Segoe UI"/>
                <a:cs typeface="Segoe UI"/>
              </a:defRPr>
            </a:pPr>
            <a:r>
              <a:rPr sz="1575" b="0">
                <a:solidFill>
                  <a:srgbClr val="F4F4F5"/>
                </a:solidFill>
                <a:latin typeface="Segoe UI"/>
                <a:ea typeface="Segoe UI"/>
                <a:cs typeface="Segoe UI"/>
              </a:rPr>
              <a:t>Gateway</a:t>
            </a:r>
          </a:p>
          <a:p xmlns:a="http://schemas.openxmlformats.org/drawingml/2006/main">
            <a:pPr algn="ctr">
              <a:lnSpc>
                <a:spcPct val="100000"/>
              </a:lnSpc>
              <a:buNone/>
              <a:defRPr sz="1575" b="0">
                <a:solidFill>
                  <a:srgbClr val="F4F4F5"/>
                </a:solidFill>
                <a:latin typeface="Segoe UI"/>
                <a:ea typeface="Segoe UI"/>
                <a:cs typeface="Segoe UI"/>
              </a:defRPr>
            </a:pPr>
            <a:r>
              <a:rPr sz="1575" b="0">
                <a:solidFill>
                  <a:srgbClr val="F4F4F5"/>
                </a:solidFill>
                <a:latin typeface="Segoe UI"/>
                <a:ea typeface="Segoe UI"/>
                <a:cs typeface="Segoe UI"/>
              </a:rPr>
              <a:t>Tools</a:t>
            </a:r>
          </a:p>
          <a:p xmlns:a="http://schemas.openxmlformats.org/drawingml/2006/main">
            <a:pPr algn="ctr">
              <a:lnSpc>
                <a:spcPct val="100000"/>
              </a:lnSpc>
              <a:buNone/>
              <a:defRPr sz="1575" b="0">
                <a:solidFill>
                  <a:srgbClr val="F4F4F5"/>
                </a:solidFill>
                <a:latin typeface="Segoe UI"/>
                <a:ea typeface="Segoe UI"/>
                <a:cs typeface="Segoe UI"/>
              </a:defRPr>
            </a:pPr>
            <a:r>
              <a:rPr sz="1575" b="0">
                <a:solidFill>
                  <a:srgbClr val="F4F4F5"/>
                </a:solidFill>
                <a:latin typeface="Segoe UI"/>
                <a:ea typeface="Segoe UI"/>
                <a:cs typeface="Segoe UI"/>
              </a:rPr>
              <a:t>Memory</a:t>
            </a:r>
          </a:p>
        </p:txBody>
      </p:sp>
      <p:sp>
        <p:nvSpPr>
          <p:cNvPr id="16" name="s5-node-2">
            <a:extLst xmlns:a="http://schemas.openxmlformats.org/drawingml/2006/main">
              <a:ext uri="{FF2B5EF4-FFF2-40B4-BE49-F238E27FC236}">
                <a16:creationId xmlns:a16="http://schemas.microsoft.com/office/drawing/2014/main" id="{023448BC-9328-4A2F-A5A5-57706B016652}"/>
              </a:ext>
            </a:extLst>
          </p:cNvPr>
          <p:cNvSpPr>
            <a:spLocks xmlns:a="http://schemas.openxmlformats.org/drawingml/2006/main" noGrp="1"/>
          </p:cNvSpPr>
          <p:nvPr/>
        </p:nvSpPr>
        <p:spPr>
          <a:xfrm xmlns:a="http://schemas.openxmlformats.org/drawingml/2006/main">
            <a:off x="5200650" y="2305050"/>
            <a:ext cx="1809750" cy="1466850"/>
          </a:xfrm>
          <a:prstGeom xmlns:a="http://schemas.openxmlformats.org/drawingml/2006/main" prst="roundRect">
            <a:avLst>
              <a:gd name="adj" fmla="val 1039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5-node-2-head">
            <a:extLst xmlns:a="http://schemas.openxmlformats.org/drawingml/2006/main">
              <a:ext uri="{FF2B5EF4-FFF2-40B4-BE49-F238E27FC236}">
                <a16:creationId xmlns:a16="http://schemas.microsoft.com/office/drawing/2014/main" id="{AF99BFCF-1DA3-4128-B348-711A72A31E00}"/>
              </a:ext>
            </a:extLst>
          </p:cNvPr>
          <p:cNvSpPr>
            <a:spLocks xmlns:a="http://schemas.openxmlformats.org/drawingml/2006/main" noGrp="1"/>
          </p:cNvSpPr>
          <p:nvPr/>
        </p:nvSpPr>
        <p:spPr>
          <a:xfrm xmlns:a="http://schemas.openxmlformats.org/drawingml/2006/main">
            <a:off x="5372100"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350" b="1">
                <a:solidFill>
                  <a:srgbClr val="F4F4F5"/>
                </a:solidFill>
                <a:latin typeface="Consolas"/>
                <a:ea typeface="Consolas"/>
                <a:cs typeface="Consolas"/>
              </a:defRPr>
            </a:pPr>
            <a:r>
              <a:rPr sz="1350" b="1">
                <a:solidFill>
                  <a:srgbClr val="F4F4F5"/>
                </a:solidFill>
                <a:latin typeface="Consolas"/>
                <a:ea typeface="Consolas"/>
                <a:cs typeface="Consolas"/>
              </a:rPr>
              <a:t>SKILLS</a:t>
            </a:r>
          </a:p>
        </p:txBody>
      </p:sp>
      <p:sp>
        <p:nvSpPr>
          <p:cNvPr id="18" name="s5-node-2-body">
            <a:extLst xmlns:a="http://schemas.openxmlformats.org/drawingml/2006/main">
              <a:ext uri="{FF2B5EF4-FFF2-40B4-BE49-F238E27FC236}">
                <a16:creationId xmlns:a16="http://schemas.microsoft.com/office/drawing/2014/main" id="{EF7A4FD0-7A17-4501-BCD9-16DDB2AEC242}"/>
              </a:ext>
            </a:extLst>
          </p:cNvPr>
          <p:cNvSpPr>
            <a:spLocks xmlns:a="http://schemas.openxmlformats.org/drawingml/2006/main" noGrp="1"/>
          </p:cNvSpPr>
          <p:nvPr/>
        </p:nvSpPr>
        <p:spPr>
          <a:xfrm xmlns:a="http://schemas.openxmlformats.org/drawingml/2006/main">
            <a:off x="5372100" y="2914650"/>
            <a:ext cx="1466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Use / do not use</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Workflow</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Privacy</a:t>
            </a:r>
          </a:p>
        </p:txBody>
      </p:sp>
      <p:sp>
        <p:nvSpPr>
          <p:cNvPr id="19" name="s5-node-3">
            <a:extLst xmlns:a="http://schemas.openxmlformats.org/drawingml/2006/main">
              <a:ext uri="{FF2B5EF4-FFF2-40B4-BE49-F238E27FC236}">
                <a16:creationId xmlns:a16="http://schemas.microsoft.com/office/drawing/2014/main" id="{49497768-C485-45B1-8A92-708B1F40F779}"/>
              </a:ext>
            </a:extLst>
          </p:cNvPr>
          <p:cNvSpPr>
            <a:spLocks xmlns:a="http://schemas.openxmlformats.org/drawingml/2006/main" noGrp="1"/>
          </p:cNvSpPr>
          <p:nvPr/>
        </p:nvSpPr>
        <p:spPr>
          <a:xfrm xmlns:a="http://schemas.openxmlformats.org/drawingml/2006/main">
            <a:off x="7496175" y="2305050"/>
            <a:ext cx="1809750" cy="1466850"/>
          </a:xfrm>
          <a:prstGeom xmlns:a="http://schemas.openxmlformats.org/drawingml/2006/main" prst="roundRect">
            <a:avLst>
              <a:gd name="adj" fmla="val 1039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5-node-3-head">
            <a:extLst xmlns:a="http://schemas.openxmlformats.org/drawingml/2006/main">
              <a:ext uri="{FF2B5EF4-FFF2-40B4-BE49-F238E27FC236}">
                <a16:creationId xmlns:a16="http://schemas.microsoft.com/office/drawing/2014/main" id="{94C44FCC-2B51-4671-B5DC-8A395DC59B98}"/>
              </a:ext>
            </a:extLst>
          </p:cNvPr>
          <p:cNvSpPr>
            <a:spLocks xmlns:a="http://schemas.openxmlformats.org/drawingml/2006/main" noGrp="1"/>
          </p:cNvSpPr>
          <p:nvPr/>
        </p:nvSpPr>
        <p:spPr>
          <a:xfrm xmlns:a="http://schemas.openxmlformats.org/drawingml/2006/main">
            <a:off x="7667625"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350" b="1">
                <a:solidFill>
                  <a:srgbClr val="F4F4F5"/>
                </a:solidFill>
                <a:latin typeface="Consolas"/>
                <a:ea typeface="Consolas"/>
                <a:cs typeface="Consolas"/>
              </a:defRPr>
            </a:pPr>
            <a:r>
              <a:rPr sz="1350" b="1">
                <a:solidFill>
                  <a:srgbClr val="F4F4F5"/>
                </a:solidFill>
                <a:latin typeface="Consolas"/>
                <a:ea typeface="Consolas"/>
                <a:cs typeface="Consolas"/>
              </a:rPr>
              <a:t>WORKSPACE</a:t>
            </a:r>
          </a:p>
        </p:txBody>
      </p:sp>
      <p:sp>
        <p:nvSpPr>
          <p:cNvPr id="21" name="s5-node-3-body">
            <a:extLst xmlns:a="http://schemas.openxmlformats.org/drawingml/2006/main">
              <a:ext uri="{FF2B5EF4-FFF2-40B4-BE49-F238E27FC236}">
                <a16:creationId xmlns:a16="http://schemas.microsoft.com/office/drawing/2014/main" id="{221FE680-0EF6-4AFE-85D3-F63AF75DF2C2}"/>
              </a:ext>
            </a:extLst>
          </p:cNvPr>
          <p:cNvSpPr>
            <a:spLocks xmlns:a="http://schemas.openxmlformats.org/drawingml/2006/main" noGrp="1"/>
          </p:cNvSpPr>
          <p:nvPr/>
        </p:nvSpPr>
        <p:spPr>
          <a:xfrm xmlns:a="http://schemas.openxmlformats.org/drawingml/2006/main">
            <a:off x="7667625" y="2914650"/>
            <a:ext cx="1466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Files</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FHIR</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Agent memory</a:t>
            </a:r>
          </a:p>
        </p:txBody>
      </p:sp>
      <p:sp>
        <p:nvSpPr>
          <p:cNvPr id="22" name="s5-node-4">
            <a:extLst xmlns:a="http://schemas.openxmlformats.org/drawingml/2006/main">
              <a:ext uri="{FF2B5EF4-FFF2-40B4-BE49-F238E27FC236}">
                <a16:creationId xmlns:a16="http://schemas.microsoft.com/office/drawing/2014/main" id="{B98A409B-7467-44FB-A83E-21D47FB58BEA}"/>
              </a:ext>
            </a:extLst>
          </p:cNvPr>
          <p:cNvSpPr>
            <a:spLocks xmlns:a="http://schemas.openxmlformats.org/drawingml/2006/main" noGrp="1"/>
          </p:cNvSpPr>
          <p:nvPr/>
        </p:nvSpPr>
        <p:spPr>
          <a:xfrm xmlns:a="http://schemas.openxmlformats.org/drawingml/2006/main">
            <a:off x="9791700" y="2305050"/>
            <a:ext cx="1809750" cy="1466850"/>
          </a:xfrm>
          <a:prstGeom xmlns:a="http://schemas.openxmlformats.org/drawingml/2006/main" prst="roundRect">
            <a:avLst>
              <a:gd name="adj" fmla="val 1039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5-node-4-head">
            <a:extLst xmlns:a="http://schemas.openxmlformats.org/drawingml/2006/main">
              <a:ext uri="{FF2B5EF4-FFF2-40B4-BE49-F238E27FC236}">
                <a16:creationId xmlns:a16="http://schemas.microsoft.com/office/drawing/2014/main" id="{1AA39B44-6E51-4AB3-8C88-44F3DB49A4E0}"/>
              </a:ext>
            </a:extLst>
          </p:cNvPr>
          <p:cNvSpPr>
            <a:spLocks xmlns:a="http://schemas.openxmlformats.org/drawingml/2006/main" noGrp="1"/>
          </p:cNvSpPr>
          <p:nvPr/>
        </p:nvSpPr>
        <p:spPr>
          <a:xfrm xmlns:a="http://schemas.openxmlformats.org/drawingml/2006/main">
            <a:off x="9963150"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350" b="1">
                <a:solidFill>
                  <a:srgbClr val="F4F4F5"/>
                </a:solidFill>
                <a:latin typeface="Consolas"/>
                <a:ea typeface="Consolas"/>
                <a:cs typeface="Consolas"/>
              </a:defRPr>
            </a:pPr>
            <a:r>
              <a:rPr sz="1350" b="1">
                <a:solidFill>
                  <a:srgbClr val="F4F4F5"/>
                </a:solidFill>
                <a:latin typeface="Consolas"/>
                <a:ea typeface="Consolas"/>
                <a:cs typeface="Consolas"/>
              </a:rPr>
              <a:t>ACTIONS</a:t>
            </a:r>
          </a:p>
        </p:txBody>
      </p:sp>
      <p:sp>
        <p:nvSpPr>
          <p:cNvPr id="24" name="s5-node-4-body">
            <a:extLst xmlns:a="http://schemas.openxmlformats.org/drawingml/2006/main">
              <a:ext uri="{FF2B5EF4-FFF2-40B4-BE49-F238E27FC236}">
                <a16:creationId xmlns:a16="http://schemas.microsoft.com/office/drawing/2014/main" id="{5851BB82-67B4-47DB-9879-BAE0EEF3C7EC}"/>
              </a:ext>
            </a:extLst>
          </p:cNvPr>
          <p:cNvSpPr>
            <a:spLocks xmlns:a="http://schemas.openxmlformats.org/drawingml/2006/main" noGrp="1"/>
          </p:cNvSpPr>
          <p:nvPr/>
        </p:nvSpPr>
        <p:spPr>
          <a:xfrm xmlns:a="http://schemas.openxmlformats.org/drawingml/2006/main">
            <a:off x="9963150" y="2914650"/>
            <a:ext cx="1466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Draft</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Schedule</a:t>
            </a:r>
          </a:p>
          <a:p xmlns:a="http://schemas.openxmlformats.org/drawingml/2006/main">
            <a:pPr algn="ctr">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Escalate</a:t>
            </a:r>
          </a:p>
        </p:txBody>
      </p:sp>
      <p:sp>
        <p:nvSpPr>
          <p:cNvPr id="25" name="s5-bottom-rule">
            <a:extLst xmlns:a="http://schemas.openxmlformats.org/drawingml/2006/main">
              <a:ext uri="{FF2B5EF4-FFF2-40B4-BE49-F238E27FC236}">
                <a16:creationId xmlns:a16="http://schemas.microsoft.com/office/drawing/2014/main" id="{9EF55668-FCEF-4377-84FA-1EC01C72A069}"/>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5-takeaway">
            <a:extLst xmlns:a="http://schemas.openxmlformats.org/drawingml/2006/main">
              <a:ext uri="{FF2B5EF4-FFF2-40B4-BE49-F238E27FC236}">
                <a16:creationId xmlns:a16="http://schemas.microsoft.com/office/drawing/2014/main" id="{BEFB37CD-59B3-4D08-B9EF-F3FEEDF41788}"/>
              </a:ext>
            </a:extLst>
          </p:cNvPr>
          <p:cNvSpPr>
            <a:spLocks xmlns:a="http://schemas.openxmlformats.org/drawingml/2006/main" noGrp="1"/>
          </p:cNvSpPr>
          <p:nvPr/>
        </p:nvSpPr>
        <p:spPr>
          <a:xfrm xmlns:a="http://schemas.openxmlformats.org/drawingml/2006/main">
            <a:off x="609600" y="501015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Channels depend on the deployment. Skills and tools define the boundary.</a:t>
            </a:r>
          </a:p>
        </p:txBody>
      </p:sp>
    </p:spTree>
    <p:extLst>
      <p:ext uri="{BB962C8B-B14F-4D97-AF65-F5344CB8AC3E}">
        <p14:creationId xmlns:p14="http://schemas.microsoft.com/office/powerpoint/2010/main" val="768098679"/>
      </p:ext>
    </p:extLst>
  </p:cSld>
</p:sld>
</file>

<file path=ppt/slides/slide8.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18" name="s6-eyebrow">
            <a:extLst xmlns:a="http://schemas.openxmlformats.org/drawingml/2006/main">
              <a:ext uri="{FF2B5EF4-FFF2-40B4-BE49-F238E27FC236}">
                <a16:creationId xmlns:a16="http://schemas.microsoft.com/office/drawing/2014/main" id="{7A8F1E08-C74B-4B28-9F5B-CC33D02EF546}"/>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TULA // MY ARIA</a:t>
            </a:r>
          </a:p>
        </p:txBody>
      </p:sp>
      <p:sp>
        <p:nvSpPr>
          <p:cNvPr id="2" name="s6-accent-rule">
            <a:extLst xmlns:a="http://schemas.openxmlformats.org/drawingml/2006/main">
              <a:ext uri="{FF2B5EF4-FFF2-40B4-BE49-F238E27FC236}">
                <a16:creationId xmlns:a16="http://schemas.microsoft.com/office/drawing/2014/main" id="{E211A57A-3090-4851-8B71-89A362832C4B}"/>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6-brand">
            <a:extLst xmlns:a="http://schemas.openxmlformats.org/drawingml/2006/main">
              <a:ext uri="{FF2B5EF4-FFF2-40B4-BE49-F238E27FC236}">
                <a16:creationId xmlns:a16="http://schemas.microsoft.com/office/drawing/2014/main" id="{AB01B8BF-9833-477C-BE66-13C046CCB258}"/>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6-number">
            <a:extLst xmlns:a="http://schemas.openxmlformats.org/drawingml/2006/main">
              <a:ext uri="{FF2B5EF4-FFF2-40B4-BE49-F238E27FC236}">
                <a16:creationId xmlns:a16="http://schemas.microsoft.com/office/drawing/2014/main" id="{D616DB6E-AC0F-4664-ACA3-7810A89ECDE8}"/>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08</a:t>
            </a:r>
          </a:p>
        </p:txBody>
      </p:sp>
      <p:sp>
        <p:nvSpPr>
          <p:cNvPr id="5" name="s6-title">
            <a:extLst xmlns:a="http://schemas.openxmlformats.org/drawingml/2006/main">
              <a:ext uri="{FF2B5EF4-FFF2-40B4-BE49-F238E27FC236}">
                <a16:creationId xmlns:a16="http://schemas.microsoft.com/office/drawing/2014/main" id="{D6220F69-97CF-44B0-BD62-1610B45D4579}"/>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Tula tests the pattern with health data</a:t>
            </a:r>
          </a:p>
        </p:txBody>
      </p:sp>
      <p:sp>
        <p:nvSpPr>
          <p:cNvPr id="6" name="s6-lede">
            <a:extLst xmlns:a="http://schemas.openxmlformats.org/drawingml/2006/main">
              <a:ext uri="{FF2B5EF4-FFF2-40B4-BE49-F238E27FC236}">
                <a16:creationId xmlns:a16="http://schemas.microsoft.com/office/drawing/2014/main" id="{13A083C3-2ABE-4F35-9403-2AD61C41C0A2}"/>
              </a:ext>
            </a:extLst>
          </p:cNvPr>
          <p:cNvSpPr>
            <a:spLocks xmlns:a="http://schemas.openxmlformats.org/drawingml/2006/main" noGrp="1"/>
          </p:cNvSpPr>
          <p:nvPr/>
        </p:nvSpPr>
        <p:spPr>
          <a:xfrm xmlns:a="http://schemas.openxmlformats.org/drawingml/2006/main">
            <a:off x="609600" y="16573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lnSpcReduction="10000"/>
          </a:bodyPr>
          <a:lstStyle xmlns:a="http://schemas.openxmlformats.org/drawingml/2006/main"/>
          <a:p xmlns:a="http://schemas.openxmlformats.org/drawingml/2006/main">
            <a:pPr algn="l">
              <a:lnSpc>
                <a:spcPct val="100000"/>
              </a:lnSpc>
              <a:buNone/>
              <a:defRPr sz="2400" b="1">
                <a:solidFill>
                  <a:srgbClr val="F4F4F5"/>
                </a:solidFill>
                <a:latin typeface="Segoe UI"/>
                <a:ea typeface="Segoe UI"/>
                <a:cs typeface="Segoe UI"/>
              </a:defRPr>
            </a:pPr>
            <a:r>
              <a:rPr sz="2400" b="1">
                <a:solidFill>
                  <a:srgbClr val="F4F4F5"/>
                </a:solidFill>
                <a:latin typeface="Segoe UI"/>
                <a:ea typeface="Segoe UI"/>
                <a:cs typeface="Segoe UI"/>
              </a:rPr>
              <a:t>A health-focused skill layer on OpenClaw.</a:t>
            </a:r>
          </a:p>
        </p:txBody>
      </p:sp>
      <p:sp>
        <p:nvSpPr>
          <p:cNvPr id="7" name="Straight Connector 6">
            <a:extLst xmlns:a="http://schemas.openxmlformats.org/drawingml/2006/main">
              <a:ext uri="{FF2B5EF4-FFF2-40B4-BE49-F238E27FC236}">
                <a16:creationId xmlns:a16="http://schemas.microsoft.com/office/drawing/2014/main" id="{E06A2ABE-D2CB-42CF-A5BE-651FCE3355F4}"/>
              </a:ext>
            </a:extLst>
          </p:cNvPr>
          <p:cNvSpPr>
            <a:spLocks xmlns:a="http://schemas.openxmlformats.org/drawingml/2006/main" noGrp="1"/>
          </p:cNvSpPr>
          <p:nvPr/>
        </p:nvSpPr>
        <p:spPr>
          <a:xfrm xmlns:a="http://schemas.openxmlformats.org/drawingml/2006/main">
            <a:off x="609600" y="2781300"/>
            <a:ext cx="3790950" cy="0"/>
          </a:xfrm>
          <a:prstGeom xmlns:a="http://schemas.openxmlformats.org/drawingml/2006/main" prst="line">
            <a:avLst/>
          </a:prstGeom>
          <a:noFill xmlns:a="http://schemas.openxmlformats.org/drawingml/2006/main"/>
          <a:ln xmlns:a="http://schemas.openxmlformats.org/drawingml/2006/main" w="19050">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6-proof-0-head">
            <a:extLst xmlns:a="http://schemas.openxmlformats.org/drawingml/2006/main">
              <a:ext uri="{FF2B5EF4-FFF2-40B4-BE49-F238E27FC236}">
                <a16:creationId xmlns:a16="http://schemas.microsoft.com/office/drawing/2014/main" id="{390257DC-B885-4A9C-B14B-85D3F989DAAF}"/>
              </a:ext>
            </a:extLst>
          </p:cNvPr>
          <p:cNvSpPr>
            <a:spLocks xmlns:a="http://schemas.openxmlformats.org/drawingml/2006/main" noGrp="1"/>
          </p:cNvSpPr>
          <p:nvPr/>
        </p:nvSpPr>
        <p:spPr>
          <a:xfrm xmlns:a="http://schemas.openxmlformats.org/drawingml/2006/main">
            <a:off x="609600" y="29146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75" b="1">
                <a:solidFill>
                  <a:srgbClr val="B9BAC0"/>
                </a:solidFill>
                <a:latin typeface="Consolas"/>
                <a:ea typeface="Consolas"/>
                <a:cs typeface="Consolas"/>
              </a:defRPr>
            </a:pPr>
            <a:r>
              <a:rPr sz="1275" b="1">
                <a:solidFill>
                  <a:srgbClr val="B9BAC0"/>
                </a:solidFill>
                <a:latin typeface="Consolas"/>
                <a:ea typeface="Consolas"/>
                <a:cs typeface="Consolas"/>
              </a:rPr>
              <a:t>PRIVATE</a:t>
            </a:r>
          </a:p>
        </p:txBody>
      </p:sp>
      <p:sp>
        <p:nvSpPr>
          <p:cNvPr id="9" name="s6-proof-0-body">
            <a:extLst xmlns:a="http://schemas.openxmlformats.org/drawingml/2006/main">
              <a:ext uri="{FF2B5EF4-FFF2-40B4-BE49-F238E27FC236}">
                <a16:creationId xmlns:a16="http://schemas.microsoft.com/office/drawing/2014/main" id="{F4922EA1-222E-4CDD-ABC7-60DDF8DC465B}"/>
              </a:ext>
            </a:extLst>
          </p:cNvPr>
          <p:cNvSpPr>
            <a:spLocks xmlns:a="http://schemas.openxmlformats.org/drawingml/2006/main" noGrp="1"/>
          </p:cNvSpPr>
          <p:nvPr/>
        </p:nvSpPr>
        <p:spPr>
          <a:xfrm xmlns:a="http://schemas.openxmlformats.org/drawingml/2006/main">
            <a:off x="1866900" y="2857500"/>
            <a:ext cx="2533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F4F4F5"/>
                </a:solidFill>
                <a:latin typeface="Segoe UI"/>
                <a:ea typeface="Segoe UI"/>
                <a:cs typeface="Segoe UI"/>
              </a:defRPr>
            </a:pPr>
            <a:r>
              <a:rPr sz="1575" b="0">
                <a:solidFill>
                  <a:srgbClr val="F4F4F5"/>
                </a:solidFill>
                <a:latin typeface="Segoe UI"/>
                <a:ea typeface="Segoe UI"/>
                <a:cs typeface="Segoe UI"/>
              </a:rPr>
              <a:t>Single-user, self-hosted workspace</a:t>
            </a:r>
          </a:p>
        </p:txBody>
      </p:sp>
      <p:sp>
        <p:nvSpPr>
          <p:cNvPr id="10" name="Straight Connector 9">
            <a:extLst xmlns:a="http://schemas.openxmlformats.org/drawingml/2006/main">
              <a:ext uri="{FF2B5EF4-FFF2-40B4-BE49-F238E27FC236}">
                <a16:creationId xmlns:a16="http://schemas.microsoft.com/office/drawing/2014/main" id="{770AD003-4891-4C36-AA91-E73AF2A54130}"/>
              </a:ext>
            </a:extLst>
          </p:cNvPr>
          <p:cNvSpPr>
            <a:spLocks xmlns:a="http://schemas.openxmlformats.org/drawingml/2006/main" noGrp="1"/>
          </p:cNvSpPr>
          <p:nvPr/>
        </p:nvSpPr>
        <p:spPr>
          <a:xfrm xmlns:a="http://schemas.openxmlformats.org/drawingml/2006/main">
            <a:off x="609600" y="3771900"/>
            <a:ext cx="3790950" cy="0"/>
          </a:xfrm>
          <a:prstGeom xmlns:a="http://schemas.openxmlformats.org/drawingml/2006/main" prst="line">
            <a:avLst/>
          </a:prstGeom>
          <a:noFill xmlns:a="http://schemas.openxmlformats.org/drawingml/2006/main"/>
          <a:ln xmlns:a="http://schemas.openxmlformats.org/drawingml/2006/main" w="19050">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6-proof-1-head">
            <a:extLst xmlns:a="http://schemas.openxmlformats.org/drawingml/2006/main">
              <a:ext uri="{FF2B5EF4-FFF2-40B4-BE49-F238E27FC236}">
                <a16:creationId xmlns:a16="http://schemas.microsoft.com/office/drawing/2014/main" id="{4E63C112-DD2E-4FD6-BC60-EBA93337247F}"/>
              </a:ext>
            </a:extLst>
          </p:cNvPr>
          <p:cNvSpPr>
            <a:spLocks xmlns:a="http://schemas.openxmlformats.org/drawingml/2006/main" noGrp="1"/>
          </p:cNvSpPr>
          <p:nvPr/>
        </p:nvSpPr>
        <p:spPr>
          <a:xfrm xmlns:a="http://schemas.openxmlformats.org/drawingml/2006/main">
            <a:off x="609600" y="3905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75" b="1">
                <a:solidFill>
                  <a:srgbClr val="B9BAC0"/>
                </a:solidFill>
                <a:latin typeface="Consolas"/>
                <a:ea typeface="Consolas"/>
                <a:cs typeface="Consolas"/>
              </a:defRPr>
            </a:pPr>
            <a:r>
              <a:rPr sz="1275" b="1">
                <a:solidFill>
                  <a:srgbClr val="B9BAC0"/>
                </a:solidFill>
                <a:latin typeface="Consolas"/>
                <a:ea typeface="Consolas"/>
                <a:cs typeface="Consolas"/>
              </a:rPr>
              <a:t>SPECIFIC</a:t>
            </a:r>
          </a:p>
        </p:txBody>
      </p:sp>
      <p:sp>
        <p:nvSpPr>
          <p:cNvPr id="12" name="s6-proof-1-body">
            <a:extLst xmlns:a="http://schemas.openxmlformats.org/drawingml/2006/main">
              <a:ext uri="{FF2B5EF4-FFF2-40B4-BE49-F238E27FC236}">
                <a16:creationId xmlns:a16="http://schemas.microsoft.com/office/drawing/2014/main" id="{267D4B0E-8706-43A6-975C-40A512610A43}"/>
              </a:ext>
            </a:extLst>
          </p:cNvPr>
          <p:cNvSpPr>
            <a:spLocks xmlns:a="http://schemas.openxmlformats.org/drawingml/2006/main" noGrp="1"/>
          </p:cNvSpPr>
          <p:nvPr/>
        </p:nvSpPr>
        <p:spPr>
          <a:xfrm xmlns:a="http://schemas.openxmlformats.org/drawingml/2006/main">
            <a:off x="1866900" y="3848100"/>
            <a:ext cx="2533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F4F4F5"/>
                </a:solidFill>
                <a:latin typeface="Segoe UI"/>
                <a:ea typeface="Segoe UI"/>
                <a:cs typeface="Segoe UI"/>
              </a:defRPr>
            </a:pPr>
            <a:r>
              <a:rPr sz="1575" b="0">
                <a:solidFill>
                  <a:srgbClr val="F4F4F5"/>
                </a:solidFill>
                <a:latin typeface="Segoe UI"/>
                <a:ea typeface="Segoe UI"/>
                <a:cs typeface="Segoe UI"/>
              </a:rPr>
              <a:t>Records, PDFs, visit prep, portal drafts</a:t>
            </a:r>
          </a:p>
        </p:txBody>
      </p:sp>
      <p:sp>
        <p:nvSpPr>
          <p:cNvPr id="13" name="Straight Connector 12">
            <a:extLst xmlns:a="http://schemas.openxmlformats.org/drawingml/2006/main">
              <a:ext uri="{FF2B5EF4-FFF2-40B4-BE49-F238E27FC236}">
                <a16:creationId xmlns:a16="http://schemas.microsoft.com/office/drawing/2014/main" id="{9FB18409-71B5-48F5-8819-3825D2E990B4}"/>
              </a:ext>
            </a:extLst>
          </p:cNvPr>
          <p:cNvSpPr>
            <a:spLocks xmlns:a="http://schemas.openxmlformats.org/drawingml/2006/main" noGrp="1"/>
          </p:cNvSpPr>
          <p:nvPr/>
        </p:nvSpPr>
        <p:spPr>
          <a:xfrm xmlns:a="http://schemas.openxmlformats.org/drawingml/2006/main">
            <a:off x="609600" y="4762500"/>
            <a:ext cx="3790950" cy="0"/>
          </a:xfrm>
          <a:prstGeom xmlns:a="http://schemas.openxmlformats.org/drawingml/2006/main" prst="line">
            <a:avLst/>
          </a:prstGeom>
          <a:noFill xmlns:a="http://schemas.openxmlformats.org/drawingml/2006/main"/>
          <a:ln xmlns:a="http://schemas.openxmlformats.org/drawingml/2006/main" w="19050">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6-proof-2-head">
            <a:extLst xmlns:a="http://schemas.openxmlformats.org/drawingml/2006/main">
              <a:ext uri="{FF2B5EF4-FFF2-40B4-BE49-F238E27FC236}">
                <a16:creationId xmlns:a16="http://schemas.microsoft.com/office/drawing/2014/main" id="{9DE743EE-28A0-4609-898A-F6C464233408}"/>
              </a:ext>
            </a:extLst>
          </p:cNvPr>
          <p:cNvSpPr>
            <a:spLocks xmlns:a="http://schemas.openxmlformats.org/drawingml/2006/main" noGrp="1"/>
          </p:cNvSpPr>
          <p:nvPr/>
        </p:nvSpPr>
        <p:spPr>
          <a:xfrm xmlns:a="http://schemas.openxmlformats.org/drawingml/2006/main">
            <a:off x="609600" y="4895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75" b="1">
                <a:solidFill>
                  <a:srgbClr val="C33148"/>
                </a:solidFill>
                <a:latin typeface="Consolas"/>
                <a:ea typeface="Consolas"/>
                <a:cs typeface="Consolas"/>
              </a:defRPr>
            </a:pPr>
            <a:r>
              <a:rPr sz="1275" b="1">
                <a:solidFill>
                  <a:srgbClr val="C33148"/>
                </a:solidFill>
                <a:latin typeface="Consolas"/>
                <a:ea typeface="Consolas"/>
                <a:cs typeface="Consolas"/>
              </a:rPr>
              <a:t>TESTABLE</a:t>
            </a:r>
          </a:p>
        </p:txBody>
      </p:sp>
      <p:sp>
        <p:nvSpPr>
          <p:cNvPr id="15" name="s6-proof-2-body">
            <a:extLst xmlns:a="http://schemas.openxmlformats.org/drawingml/2006/main">
              <a:ext uri="{FF2B5EF4-FFF2-40B4-BE49-F238E27FC236}">
                <a16:creationId xmlns:a16="http://schemas.microsoft.com/office/drawing/2014/main" id="{308EF2A1-E97B-4B7F-A210-7E430B43CE44}"/>
              </a:ext>
            </a:extLst>
          </p:cNvPr>
          <p:cNvSpPr>
            <a:spLocks xmlns:a="http://schemas.openxmlformats.org/drawingml/2006/main" noGrp="1"/>
          </p:cNvSpPr>
          <p:nvPr/>
        </p:nvSpPr>
        <p:spPr>
          <a:xfrm xmlns:a="http://schemas.openxmlformats.org/drawingml/2006/main">
            <a:off x="1866900" y="4838700"/>
            <a:ext cx="2533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F4F4F5"/>
                </a:solidFill>
                <a:latin typeface="Segoe UI"/>
                <a:ea typeface="Segoe UI"/>
                <a:cs typeface="Segoe UI"/>
              </a:defRPr>
            </a:pPr>
            <a:r>
              <a:rPr sz="1575" b="0">
                <a:solidFill>
                  <a:srgbClr val="F4F4F5"/>
                </a:solidFill>
                <a:latin typeface="Segoe UI"/>
                <a:ea typeface="Segoe UI"/>
                <a:cs typeface="Segoe UI"/>
              </a:rPr>
              <a:t>Synthetic fixtures and behavior evals</a:t>
            </a:r>
          </a:p>
        </p:txBody>
      </p:sp>
      <p:sp>
        <p:nvSpPr>
          <p:cNvPr id="16" name="s6-image-frame">
            <a:extLst xmlns:a="http://schemas.openxmlformats.org/drawingml/2006/main">
              <a:ext uri="{FF2B5EF4-FFF2-40B4-BE49-F238E27FC236}">
                <a16:creationId xmlns:a16="http://schemas.microsoft.com/office/drawing/2014/main" id="{88EF8D61-F711-4603-A2A5-8ED82199936B}"/>
              </a:ext>
            </a:extLst>
          </p:cNvPr>
          <p:cNvSpPr>
            <a:spLocks xmlns:a="http://schemas.openxmlformats.org/drawingml/2006/main" noGrp="1"/>
          </p:cNvSpPr>
          <p:nvPr/>
        </p:nvSpPr>
        <p:spPr>
          <a:xfrm xmlns:a="http://schemas.openxmlformats.org/drawingml/2006/main">
            <a:off x="4953000" y="1524000"/>
            <a:ext cx="6629400" cy="4476750"/>
          </a:xfrm>
          <a:prstGeom xmlns:a="http://schemas.openxmlformats.org/drawingml/2006/main" prst="roundRect">
            <a:avLst>
              <a:gd name="adj" fmla="val 383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Picture 33"/>
          <p:cNvPicPr>
            <a:picLocks xmlns:a="http://schemas.openxmlformats.org/drawingml/2006/main" noChangeAspect="1"/>
          </p:cNvPicPr>
          <p:nvPr/>
        </p:nvPicPr>
        <p:blipFill>
          <a:blip xmlns:r="http://schemas.openxmlformats.org/officeDocument/2006/relationships" xmlns:a="http://schemas.openxmlformats.org/drawingml/2006/main" r:embed="R86a300699d1441bc"/>
          <a:srcRect xmlns:a="http://schemas.openxmlformats.org/drawingml/2006/main" l="0" t="27092" r="0" b="27092"/>
          <a:stretch xmlns:a="http://schemas.openxmlformats.org/drawingml/2006/main">
            <a:fillRect l="0" t="0" r="0" b="0"/>
          </a:stretch>
        </p:blipFill>
        <p:spPr>
          <a:xfrm xmlns:a="http://schemas.openxmlformats.org/drawingml/2006/main">
            <a:off x="5067300" y="1638300"/>
            <a:ext cx="6400800" cy="4248150"/>
          </a:xfrm>
          <a:prstGeom xmlns:a="http://schemas.openxmlformats.org/drawingml/2006/main" prst="roundRect">
            <a:avLst>
              <a:gd name="adj" fmla="val 3139"/>
            </a:avLst>
          </a:prstGeom>
        </p:spPr>
      </p:pic>
      <p:sp>
        <p:nvSpPr>
          <p:cNvPr id="20" name="tula-fixture-label">
            <a:extLst xmlns:a="http://schemas.openxmlformats.org/drawingml/2006/main">
              <a:ext uri="{FF2B5EF4-FFF2-40B4-BE49-F238E27FC236}">
                <a16:creationId xmlns:a16="http://schemas.microsoft.com/office/drawing/2014/main" id="{373E277B-2553-42DC-9EFC-9A16A1F0F74F}"/>
              </a:ext>
            </a:extLst>
          </p:cNvPr>
          <p:cNvSpPr>
            <a:spLocks xmlns:a="http://schemas.openxmlformats.org/drawingml/2006/main" noGrp="1"/>
          </p:cNvSpPr>
          <p:nvPr/>
        </p:nvSpPr>
        <p:spPr>
          <a:xfrm xmlns:a="http://schemas.openxmlformats.org/drawingml/2006/main">
            <a:off x="6524625" y="6067425"/>
            <a:ext cx="483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9BAC0"/>
                </a:solidFill>
                <a:latin typeface="Consolas"/>
                <a:ea typeface="Consolas"/>
                <a:cs typeface="Consolas"/>
              </a:defRPr>
            </a:pPr>
            <a:r>
              <a:rPr sz="1050" b="1">
                <a:solidFill>
                  <a:srgbClr val="B9BAC0"/>
                </a:solidFill>
                <a:latin typeface="Consolas"/>
                <a:ea typeface="Consolas"/>
                <a:cs typeface="Consolas"/>
              </a:rPr>
              <a:t>SYNTHETIC DEMO DATA</a:t>
            </a:r>
          </a:p>
        </p:txBody>
      </p:sp>
    </p:spTree>
    <p:extLst>
      <p:ext uri="{BB962C8B-B14F-4D97-AF65-F5344CB8AC3E}">
        <p14:creationId xmlns:p14="http://schemas.microsoft.com/office/powerpoint/2010/main" val="2105298547"/>
      </p:ext>
    </p:extLst>
  </p:cSld>
</p:sld>
</file>

<file path=ppt/slides/slide9.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sp>
        <p:nvSpPr>
          <p:cNvPr id="14" name="s7-eyebrow">
            <a:extLst xmlns:a="http://schemas.openxmlformats.org/drawingml/2006/main">
              <a:ext uri="{FF2B5EF4-FFF2-40B4-BE49-F238E27FC236}">
                <a16:creationId xmlns:a16="http://schemas.microsoft.com/office/drawing/2014/main" id="{005147EF-B214-42E5-8C17-FAEBE2F6BA9B}"/>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LIVE DEMO 02 // TULA + WAZA</a:t>
            </a:r>
          </a:p>
        </p:txBody>
      </p:sp>
      <p:sp>
        <p:nvSpPr>
          <p:cNvPr id="2" name="s7-accent-rule">
            <a:extLst xmlns:a="http://schemas.openxmlformats.org/drawingml/2006/main">
              <a:ext uri="{FF2B5EF4-FFF2-40B4-BE49-F238E27FC236}">
                <a16:creationId xmlns:a16="http://schemas.microsoft.com/office/drawing/2014/main" id="{AC72C70E-D0DC-4A0F-ABAE-7EAB75A2CC2B}"/>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7-brand">
            <a:extLst xmlns:a="http://schemas.openxmlformats.org/drawingml/2006/main">
              <a:ext uri="{FF2B5EF4-FFF2-40B4-BE49-F238E27FC236}">
                <a16:creationId xmlns:a16="http://schemas.microsoft.com/office/drawing/2014/main" id="{C711F5A2-C04D-485D-BC4C-E79977A857AA}"/>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7-number">
            <a:extLst xmlns:a="http://schemas.openxmlformats.org/drawingml/2006/main">
              <a:ext uri="{FF2B5EF4-FFF2-40B4-BE49-F238E27FC236}">
                <a16:creationId xmlns:a16="http://schemas.microsoft.com/office/drawing/2014/main" id="{7E8099D4-0CEB-4B18-B5BB-FB959F3AF342}"/>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09</a:t>
            </a:r>
          </a:p>
        </p:txBody>
      </p:sp>
      <p:sp>
        <p:nvSpPr>
          <p:cNvPr id="5" name="s7-demo-number">
            <a:extLst xmlns:a="http://schemas.openxmlformats.org/drawingml/2006/main">
              <a:ext uri="{FF2B5EF4-FFF2-40B4-BE49-F238E27FC236}">
                <a16:creationId xmlns:a16="http://schemas.microsoft.com/office/drawing/2014/main" id="{C5BE5D93-6C51-491A-BF01-5689AE0D9EB4}"/>
              </a:ext>
            </a:extLst>
          </p:cNvPr>
          <p:cNvSpPr>
            <a:spLocks xmlns:a="http://schemas.openxmlformats.org/drawingml/2006/main" noGrp="1"/>
          </p:cNvSpPr>
          <p:nvPr/>
        </p:nvSpPr>
        <p:spPr>
          <a:xfrm xmlns:a="http://schemas.openxmlformats.org/drawingml/2006/main">
            <a:off x="609600" y="1428750"/>
            <a:ext cx="2476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0" b="1">
                <a:solidFill>
                  <a:srgbClr val="9B1C2C"/>
                </a:solidFill>
                <a:latin typeface="Consolas"/>
                <a:ea typeface="Consolas"/>
                <a:cs typeface="Consolas"/>
              </a:defRPr>
            </a:pPr>
            <a:r>
              <a:rPr sz="13500" b="1">
                <a:solidFill>
                  <a:srgbClr val="9B1C2C"/>
                </a:solidFill>
                <a:latin typeface="Consolas"/>
                <a:ea typeface="Consolas"/>
                <a:cs typeface="Consolas"/>
              </a:rPr>
              <a:t>02</a:t>
            </a:r>
          </a:p>
        </p:txBody>
      </p:sp>
      <p:sp>
        <p:nvSpPr>
          <p:cNvPr id="6" name="s7-title">
            <a:extLst xmlns:a="http://schemas.openxmlformats.org/drawingml/2006/main">
              <a:ext uri="{FF2B5EF4-FFF2-40B4-BE49-F238E27FC236}">
                <a16:creationId xmlns:a16="http://schemas.microsoft.com/office/drawing/2014/main" id="{EB125DA6-6A46-44DA-BAA6-550944A085B4}"/>
              </a:ext>
            </a:extLst>
          </p:cNvPr>
          <p:cNvSpPr>
            <a:spLocks xmlns:a="http://schemas.openxmlformats.org/drawingml/2006/main" noGrp="1"/>
          </p:cNvSpPr>
          <p:nvPr/>
        </p:nvSpPr>
        <p:spPr>
          <a:xfrm xmlns:a="http://schemas.openxmlformats.org/drawingml/2006/main">
            <a:off x="3429000" y="99060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Inspect the contract. Test it.</a:t>
            </a:r>
          </a:p>
        </p:txBody>
      </p:sp>
      <p:sp>
        <p:nvSpPr>
          <p:cNvPr id="7" name="s7-code-frame">
            <a:extLst xmlns:a="http://schemas.openxmlformats.org/drawingml/2006/main">
              <a:ext uri="{FF2B5EF4-FFF2-40B4-BE49-F238E27FC236}">
                <a16:creationId xmlns:a16="http://schemas.microsoft.com/office/drawing/2014/main" id="{1976635A-9257-4D2B-9DCF-62C42A8D719D}"/>
              </a:ext>
            </a:extLst>
          </p:cNvPr>
          <p:cNvSpPr>
            <a:spLocks xmlns:a="http://schemas.openxmlformats.org/drawingml/2006/main" noGrp="1"/>
          </p:cNvSpPr>
          <p:nvPr/>
        </p:nvSpPr>
        <p:spPr>
          <a:xfrm xmlns:a="http://schemas.openxmlformats.org/drawingml/2006/main">
            <a:off x="3429000" y="1866900"/>
            <a:ext cx="7810500" cy="2781300"/>
          </a:xfrm>
          <a:prstGeom xmlns:a="http://schemas.openxmlformats.org/drawingml/2006/main" prst="roundRect">
            <a:avLst>
              <a:gd name="adj" fmla="val 5479"/>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7-code">
            <a:extLst xmlns:a="http://schemas.openxmlformats.org/drawingml/2006/main">
              <a:ext uri="{FF2B5EF4-FFF2-40B4-BE49-F238E27FC236}">
                <a16:creationId xmlns:a16="http://schemas.microsoft.com/office/drawing/2014/main" id="{30771993-0464-45D3-BD82-FC08AFE5721B}"/>
              </a:ext>
            </a:extLst>
          </p:cNvPr>
          <p:cNvSpPr>
            <a:spLocks xmlns:a="http://schemas.openxmlformats.org/drawingml/2006/main" noGrp="1"/>
          </p:cNvSpPr>
          <p:nvPr/>
        </p:nvSpPr>
        <p:spPr>
          <a:xfrm xmlns:a="http://schemas.openxmlformats.org/drawingml/2006/main">
            <a:off x="3733800" y="2152650"/>
            <a:ext cx="71818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4000"/>
              </a:lnSpc>
              <a:buNone/>
              <a:defRPr sz="1650" b="0">
                <a:solidFill>
                  <a:srgbClr val="F4F4F5"/>
                </a:solidFill>
                <a:latin typeface="Consolas"/>
                <a:ea typeface="Consolas"/>
                <a:cs typeface="Consolas"/>
              </a:defRPr>
            </a:pPr>
            <a:r>
              <a:rPr sz="1650" b="0">
                <a:solidFill>
                  <a:srgbClr val="F4F4F5"/>
                </a:solidFill>
                <a:latin typeface="Consolas"/>
                <a:ea typeface="Consolas"/>
                <a:cs typeface="Consolas"/>
              </a:rPr>
              <a:t>USE FOR: upcoming visit prep</a:t>
            </a:r>
          </a:p>
          <a:p xmlns:a="http://schemas.openxmlformats.org/drawingml/2006/main">
            <a:pPr algn="l">
              <a:lnSpc>
                <a:spcPct val="114000"/>
              </a:lnSpc>
              <a:buNone/>
              <a:defRPr sz="1650" b="0">
                <a:solidFill>
                  <a:srgbClr val="F4F4F5"/>
                </a:solidFill>
                <a:latin typeface="Consolas"/>
                <a:ea typeface="Consolas"/>
                <a:cs typeface="Consolas"/>
              </a:defRPr>
            </a:pPr>
            <a:r>
              <a:rPr sz="1650" b="0">
                <a:solidFill>
                  <a:srgbClr val="F4F4F5"/>
                </a:solidFill>
                <a:latin typeface="Consolas"/>
                <a:ea typeface="Consolas"/>
                <a:cs typeface="Consolas"/>
              </a:rPr>
              <a:t>DO NOT USE FOR: diagnosis or treatment</a:t>
            </a:r>
          </a:p>
          <a:p xmlns:a="http://schemas.openxmlformats.org/drawingml/2006/main">
            <a:pPr algn="l">
              <a:lnSpc>
                <a:spcPct val="114000"/>
              </a:lnSpc>
              <a:buNone/>
              <a:defRPr sz="1650" b="0">
                <a:solidFill>
                  <a:srgbClr val="F4F4F5"/>
                </a:solidFill>
                <a:latin typeface="Consolas"/>
                <a:ea typeface="Consolas"/>
                <a:cs typeface="Consolas"/>
              </a:defRPr>
            </a:pPr>
            <a:r>
              <a:rPr sz="1650" b="0">
                <a:solidFill>
                  <a:srgbClr val="F4F4F5"/>
                </a:solidFill>
                <a:latin typeface="Consolas"/>
                <a:ea typeface="Consolas"/>
                <a:cs typeface="Consolas"/>
              </a:rPr>
              <a:t>PRIVACY: keep PHI in the workspace</a:t>
            </a:r>
          </a:p>
          <a:p xmlns:a="http://schemas.openxmlformats.org/drawingml/2006/main">
            <a:endParaRPr sz="1650" b="0">
              <a:solidFill>
                <a:srgbClr val="F4F4F5"/>
              </a:solidFill>
              <a:latin typeface="Consolas"/>
              <a:ea typeface="Consolas"/>
              <a:cs typeface="Consolas"/>
            </a:endParaRPr>
          </a:p>
          <a:p xmlns:a="http://schemas.openxmlformats.org/drawingml/2006/main">
            <a:pPr algn="l">
              <a:lnSpc>
                <a:spcPct val="114000"/>
              </a:lnSpc>
              <a:buNone/>
              <a:defRPr sz="1650" b="0">
                <a:solidFill>
                  <a:srgbClr val="F4F4F5"/>
                </a:solidFill>
                <a:latin typeface="Consolas"/>
                <a:ea typeface="Consolas"/>
                <a:cs typeface="Consolas"/>
              </a:defRPr>
            </a:pPr>
            <a:r>
              <a:rPr sz="1650" b="0">
                <a:solidFill>
                  <a:srgbClr val="F4F4F5"/>
                </a:solidFill>
                <a:latin typeface="Consolas"/>
                <a:ea typeface="Consolas"/>
                <a:cs typeface="Consolas"/>
              </a:rPr>
              <a:t>waza check skills/prep-my-visit</a:t>
            </a:r>
          </a:p>
          <a:p xmlns:a="http://schemas.openxmlformats.org/drawingml/2006/main">
            <a:pPr algn="l">
              <a:lnSpc>
                <a:spcPct val="114000"/>
              </a:lnSpc>
              <a:buNone/>
              <a:defRPr sz="1650" b="0">
                <a:solidFill>
                  <a:srgbClr val="F4F4F5"/>
                </a:solidFill>
                <a:latin typeface="Consolas"/>
                <a:ea typeface="Consolas"/>
                <a:cs typeface="Consolas"/>
              </a:defRPr>
            </a:pPr>
            <a:r>
              <a:rPr sz="1650" b="0">
                <a:solidFill>
                  <a:srgbClr val="F4F4F5"/>
                </a:solidFill>
                <a:latin typeface="Consolas"/>
                <a:ea typeface="Consolas"/>
                <a:cs typeface="Consolas"/>
              </a:rPr>
              <a:t>waza run evals/prep-my-visit/eval.yaml -v</a:t>
            </a:r>
          </a:p>
        </p:txBody>
      </p:sp>
      <p:sp>
        <p:nvSpPr>
          <p:cNvPr id="9" name="s7-step-a">
            <a:extLst xmlns:a="http://schemas.openxmlformats.org/drawingml/2006/main">
              <a:ext uri="{FF2B5EF4-FFF2-40B4-BE49-F238E27FC236}">
                <a16:creationId xmlns:a16="http://schemas.microsoft.com/office/drawing/2014/main" id="{5941249B-BA9E-4C2B-9D4F-1FDDEB815F37}"/>
              </a:ext>
            </a:extLst>
          </p:cNvPr>
          <p:cNvSpPr>
            <a:spLocks xmlns:a="http://schemas.openxmlformats.org/drawingml/2006/main" noGrp="1"/>
          </p:cNvSpPr>
          <p:nvPr/>
        </p:nvSpPr>
        <p:spPr>
          <a:xfrm xmlns:a="http://schemas.openxmlformats.org/drawingml/2006/main">
            <a:off x="3429000" y="5048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C33148"/>
                </a:solidFill>
                <a:latin typeface="Consolas"/>
                <a:ea typeface="Consolas"/>
                <a:cs typeface="Consolas"/>
              </a:defRPr>
            </a:pPr>
            <a:r>
              <a:rPr sz="1350" b="1">
                <a:solidFill>
                  <a:srgbClr val="C33148"/>
                </a:solidFill>
                <a:latin typeface="Consolas"/>
                <a:ea typeface="Consolas"/>
                <a:cs typeface="Consolas"/>
              </a:rPr>
              <a:t>OPEN SKILL.md</a:t>
            </a:r>
          </a:p>
        </p:txBody>
      </p:sp>
      <p:sp>
        <p:nvSpPr>
          <p:cNvPr id="10" name="s7-step-arrow-a">
            <a:extLst xmlns:a="http://schemas.openxmlformats.org/drawingml/2006/main">
              <a:ext uri="{FF2B5EF4-FFF2-40B4-BE49-F238E27FC236}">
                <a16:creationId xmlns:a16="http://schemas.microsoft.com/office/drawing/2014/main" id="{BEECDFF6-9A87-4890-B5D8-8D01BA39A4A4}"/>
              </a:ext>
            </a:extLst>
          </p:cNvPr>
          <p:cNvSpPr>
            <a:spLocks xmlns:a="http://schemas.openxmlformats.org/drawingml/2006/main" noGrp="1"/>
          </p:cNvSpPr>
          <p:nvPr/>
        </p:nvSpPr>
        <p:spPr>
          <a:xfrm xmlns:a="http://schemas.openxmlformats.org/drawingml/2006/main">
            <a:off x="5581650" y="49720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2100" b="0">
                <a:solidFill>
                  <a:srgbClr val="7B7E87"/>
                </a:solidFill>
                <a:latin typeface="Segoe UI"/>
                <a:ea typeface="Segoe UI"/>
                <a:cs typeface="Segoe UI"/>
              </a:defRPr>
            </a:pPr>
            <a:r>
              <a:rPr sz="2100" b="0">
                <a:solidFill>
                  <a:srgbClr val="7B7E87"/>
                </a:solidFill>
                <a:latin typeface="Segoe UI"/>
                <a:ea typeface="Segoe UI"/>
                <a:cs typeface="Segoe UI"/>
              </a:rPr>
              <a:t>→</a:t>
            </a:r>
          </a:p>
        </p:txBody>
      </p:sp>
      <p:sp>
        <p:nvSpPr>
          <p:cNvPr id="11" name="s7-step-b">
            <a:extLst xmlns:a="http://schemas.openxmlformats.org/drawingml/2006/main">
              <a:ext uri="{FF2B5EF4-FFF2-40B4-BE49-F238E27FC236}">
                <a16:creationId xmlns:a16="http://schemas.microsoft.com/office/drawing/2014/main" id="{B635B3B5-3AD9-4E0E-BB2C-A9387C252F8D}"/>
              </a:ext>
            </a:extLst>
          </p:cNvPr>
          <p:cNvSpPr>
            <a:spLocks xmlns:a="http://schemas.openxmlformats.org/drawingml/2006/main" noGrp="1"/>
          </p:cNvSpPr>
          <p:nvPr/>
        </p:nvSpPr>
        <p:spPr>
          <a:xfrm xmlns:a="http://schemas.openxmlformats.org/drawingml/2006/main">
            <a:off x="6153150" y="50482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F4F4F5"/>
                </a:solidFill>
                <a:latin typeface="Consolas"/>
                <a:ea typeface="Consolas"/>
                <a:cs typeface="Consolas"/>
              </a:defRPr>
            </a:pPr>
            <a:r>
              <a:rPr sz="1350" b="1">
                <a:solidFill>
                  <a:srgbClr val="F4F4F5"/>
                </a:solidFill>
                <a:latin typeface="Consolas"/>
                <a:ea typeface="Consolas"/>
                <a:cs typeface="Consolas"/>
              </a:rPr>
              <a:t>OPEN FAILURE TEST</a:t>
            </a:r>
          </a:p>
        </p:txBody>
      </p:sp>
      <p:sp>
        <p:nvSpPr>
          <p:cNvPr id="12" name="s7-step-arrow-b">
            <a:extLst xmlns:a="http://schemas.openxmlformats.org/drawingml/2006/main">
              <a:ext uri="{FF2B5EF4-FFF2-40B4-BE49-F238E27FC236}">
                <a16:creationId xmlns:a16="http://schemas.microsoft.com/office/drawing/2014/main" id="{8591EB51-05C6-4E6D-B614-07D6C62D41C7}"/>
              </a:ext>
            </a:extLst>
          </p:cNvPr>
          <p:cNvSpPr>
            <a:spLocks xmlns:a="http://schemas.openxmlformats.org/drawingml/2006/main" noGrp="1"/>
          </p:cNvSpPr>
          <p:nvPr/>
        </p:nvSpPr>
        <p:spPr>
          <a:xfrm xmlns:a="http://schemas.openxmlformats.org/drawingml/2006/main">
            <a:off x="8572500" y="49720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2100" b="0">
                <a:solidFill>
                  <a:srgbClr val="7B7E87"/>
                </a:solidFill>
                <a:latin typeface="Segoe UI"/>
                <a:ea typeface="Segoe UI"/>
                <a:cs typeface="Segoe UI"/>
              </a:defRPr>
            </a:pPr>
            <a:r>
              <a:rPr sz="2100" b="0">
                <a:solidFill>
                  <a:srgbClr val="7B7E87"/>
                </a:solidFill>
                <a:latin typeface="Segoe UI"/>
                <a:ea typeface="Segoe UI"/>
                <a:cs typeface="Segoe UI"/>
              </a:rPr>
              <a:t>→</a:t>
            </a:r>
          </a:p>
        </p:txBody>
      </p:sp>
      <p:sp>
        <p:nvSpPr>
          <p:cNvPr id="13" name="s7-step-c">
            <a:extLst xmlns:a="http://schemas.openxmlformats.org/drawingml/2006/main">
              <a:ext uri="{FF2B5EF4-FFF2-40B4-BE49-F238E27FC236}">
                <a16:creationId xmlns:a16="http://schemas.microsoft.com/office/drawing/2014/main" id="{F3F80CD4-14D7-41F3-97A0-984D2952FE1C}"/>
              </a:ext>
            </a:extLst>
          </p:cNvPr>
          <p:cNvSpPr>
            <a:spLocks xmlns:a="http://schemas.openxmlformats.org/drawingml/2006/main" noGrp="1"/>
          </p:cNvSpPr>
          <p:nvPr/>
        </p:nvSpPr>
        <p:spPr>
          <a:xfrm xmlns:a="http://schemas.openxmlformats.org/drawingml/2006/main">
            <a:off x="9144000" y="5048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4D93C6"/>
                </a:solidFill>
                <a:latin typeface="Consolas"/>
                <a:ea typeface="Consolas"/>
                <a:cs typeface="Consolas"/>
              </a:defRPr>
            </a:pPr>
            <a:r>
              <a:rPr sz="1350" b="1">
                <a:solidFill>
                  <a:srgbClr val="4D93C6"/>
                </a:solidFill>
                <a:latin typeface="Consolas"/>
                <a:ea typeface="Consolas"/>
                <a:cs typeface="Consolas"/>
              </a:rPr>
              <a:t>RUN WAZA</a:t>
            </a:r>
          </a:p>
        </p:txBody>
      </p:sp>
    </p:spTree>
    <p:extLst>
      <p:ext uri="{BB962C8B-B14F-4D97-AF65-F5344CB8AC3E}">
        <p14:creationId xmlns:p14="http://schemas.microsoft.com/office/powerpoint/2010/main" val="407370641"/>
      </p:ext>
    </p:extLst>
  </p:cSld>
</p:sld>
</file>

<file path=ppt/slides/slide10.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24" name="s8-eyebrow">
            <a:extLst xmlns:a="http://schemas.openxmlformats.org/drawingml/2006/main">
              <a:ext uri="{FF2B5EF4-FFF2-40B4-BE49-F238E27FC236}">
                <a16:creationId xmlns:a16="http://schemas.microsoft.com/office/drawing/2014/main" id="{A11A5749-A970-4EEF-86D8-BB3C38CC3E01}"/>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BEHAVIOR EVALUATION</a:t>
            </a:r>
          </a:p>
        </p:txBody>
      </p:sp>
      <p:sp>
        <p:nvSpPr>
          <p:cNvPr id="2" name="s8-accent-rule">
            <a:extLst xmlns:a="http://schemas.openxmlformats.org/drawingml/2006/main">
              <a:ext uri="{FF2B5EF4-FFF2-40B4-BE49-F238E27FC236}">
                <a16:creationId xmlns:a16="http://schemas.microsoft.com/office/drawing/2014/main" id="{CA7AEEB6-0002-4DE1-94D6-4D0618344071}"/>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8-brand">
            <a:extLst xmlns:a="http://schemas.openxmlformats.org/drawingml/2006/main">
              <a:ext uri="{FF2B5EF4-FFF2-40B4-BE49-F238E27FC236}">
                <a16:creationId xmlns:a16="http://schemas.microsoft.com/office/drawing/2014/main" id="{5DF3C629-FE0B-4FAE-8E3E-B61CF184470E}"/>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8-number">
            <a:extLst xmlns:a="http://schemas.openxmlformats.org/drawingml/2006/main">
              <a:ext uri="{FF2B5EF4-FFF2-40B4-BE49-F238E27FC236}">
                <a16:creationId xmlns:a16="http://schemas.microsoft.com/office/drawing/2014/main" id="{9516D6C6-A41D-4A76-949C-16A8D2A65B2A}"/>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10</a:t>
            </a:r>
          </a:p>
        </p:txBody>
      </p:sp>
      <p:sp>
        <p:nvSpPr>
          <p:cNvPr id="5" name="s8-title">
            <a:extLst xmlns:a="http://schemas.openxmlformats.org/drawingml/2006/main">
              <a:ext uri="{FF2B5EF4-FFF2-40B4-BE49-F238E27FC236}">
                <a16:creationId xmlns:a16="http://schemas.microsoft.com/office/drawing/2014/main" id="{79EED261-1171-40CA-9DBD-0818DCB2DF6D}"/>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Failure modes belong in the spec.</a:t>
            </a:r>
          </a:p>
        </p:txBody>
      </p:sp>
      <p:sp>
        <p:nvSpPr>
          <p:cNvPr id="6" name="s8-78">
            <a:extLst xmlns:a="http://schemas.openxmlformats.org/drawingml/2006/main">
              <a:ext uri="{FF2B5EF4-FFF2-40B4-BE49-F238E27FC236}">
                <a16:creationId xmlns:a16="http://schemas.microsoft.com/office/drawing/2014/main" id="{B87C7D93-0618-4393-985C-803A6B16606B}"/>
              </a:ext>
            </a:extLst>
          </p:cNvPr>
          <p:cNvSpPr>
            <a:spLocks xmlns:a="http://schemas.openxmlformats.org/drawingml/2006/main" noGrp="1"/>
          </p:cNvSpPr>
          <p:nvPr/>
        </p:nvSpPr>
        <p:spPr>
          <a:xfrm xmlns:a="http://schemas.openxmlformats.org/drawingml/2006/main">
            <a:off x="609600" y="169545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650" b="1">
                <a:solidFill>
                  <a:srgbClr val="C33148"/>
                </a:solidFill>
                <a:latin typeface="Consolas"/>
                <a:ea typeface="Consolas"/>
                <a:cs typeface="Consolas"/>
              </a:defRPr>
            </a:pPr>
            <a:r>
              <a:rPr sz="10650" b="1">
                <a:solidFill>
                  <a:srgbClr val="C33148"/>
                </a:solidFill>
                <a:latin typeface="Consolas"/>
                <a:ea typeface="Consolas"/>
                <a:cs typeface="Consolas"/>
              </a:rPr>
              <a:t>78</a:t>
            </a:r>
          </a:p>
        </p:txBody>
      </p:sp>
      <p:sp>
        <p:nvSpPr>
          <p:cNvPr id="7" name="s8-behavior-tasks">
            <a:extLst xmlns:a="http://schemas.openxmlformats.org/drawingml/2006/main">
              <a:ext uri="{FF2B5EF4-FFF2-40B4-BE49-F238E27FC236}">
                <a16:creationId xmlns:a16="http://schemas.microsoft.com/office/drawing/2014/main" id="{6C08C6C8-3D02-47C0-8A33-76AF1201A339}"/>
              </a:ext>
            </a:extLst>
          </p:cNvPr>
          <p:cNvSpPr>
            <a:spLocks xmlns:a="http://schemas.openxmlformats.org/drawingml/2006/main" noGrp="1"/>
          </p:cNvSpPr>
          <p:nvPr/>
        </p:nvSpPr>
        <p:spPr>
          <a:xfrm xmlns:a="http://schemas.openxmlformats.org/drawingml/2006/main">
            <a:off x="685800" y="33909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77"/>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defined behavior tasks</a:t>
            </a:r>
          </a:p>
        </p:txBody>
      </p:sp>
      <p:sp>
        <p:nvSpPr>
          <p:cNvPr id="8" name="s8-scope">
            <a:extLst xmlns:a="http://schemas.openxmlformats.org/drawingml/2006/main">
              <a:ext uri="{FF2B5EF4-FFF2-40B4-BE49-F238E27FC236}">
                <a16:creationId xmlns:a16="http://schemas.microsoft.com/office/drawing/2014/main" id="{22A52CB8-D166-4803-A1F0-0A9CEB5BE2C0}"/>
              </a:ext>
            </a:extLst>
          </p:cNvPr>
          <p:cNvSpPr>
            <a:spLocks xmlns:a="http://schemas.openxmlformats.org/drawingml/2006/main" noGrp="1"/>
          </p:cNvSpPr>
          <p:nvPr/>
        </p:nvSpPr>
        <p:spPr>
          <a:xfrm xmlns:a="http://schemas.openxmlformats.org/drawingml/2006/main">
            <a:off x="685800" y="3867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8 skills + composition</a:t>
            </a:r>
          </a:p>
        </p:txBody>
      </p:sp>
      <p:sp>
        <p:nvSpPr>
          <p:cNvPr id="9" name="Straight Connector 8">
            <a:extLst xmlns:a="http://schemas.openxmlformats.org/drawingml/2006/main">
              <a:ext uri="{FF2B5EF4-FFF2-40B4-BE49-F238E27FC236}">
                <a16:creationId xmlns:a16="http://schemas.microsoft.com/office/drawing/2014/main" id="{13FD098A-1A94-4C14-9FC9-F1ABEED7DB73}"/>
              </a:ext>
            </a:extLst>
          </p:cNvPr>
          <p:cNvSpPr>
            <a:spLocks xmlns:a="http://schemas.openxmlformats.org/drawingml/2006/main" noGrp="1"/>
          </p:cNvSpPr>
          <p:nvPr/>
        </p:nvSpPr>
        <p:spPr>
          <a:xfrm xmlns:a="http://schemas.openxmlformats.org/drawingml/2006/main">
            <a:off x="4095750" y="2324100"/>
            <a:ext cx="7334250" cy="0"/>
          </a:xfrm>
          <a:prstGeom xmlns:a="http://schemas.openxmlformats.org/drawingml/2006/main" prst="line">
            <a:avLst/>
          </a:prstGeom>
          <a:noFill xmlns:a="http://schemas.openxmlformats.org/drawingml/2006/main"/>
          <a:ln xmlns:a="http://schemas.openxmlformats.org/drawingml/2006/main" w="14288">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dim-0-tag">
            <a:extLst xmlns:a="http://schemas.openxmlformats.org/drawingml/2006/main">
              <a:ext uri="{FF2B5EF4-FFF2-40B4-BE49-F238E27FC236}">
                <a16:creationId xmlns:a16="http://schemas.microsoft.com/office/drawing/2014/main" id="{D194BD0D-1005-47DE-B524-63001F80F7CE}"/>
              </a:ext>
            </a:extLst>
          </p:cNvPr>
          <p:cNvSpPr>
            <a:spLocks xmlns:a="http://schemas.openxmlformats.org/drawingml/2006/main" noGrp="1"/>
          </p:cNvSpPr>
          <p:nvPr/>
        </p:nvSpPr>
        <p:spPr>
          <a:xfrm xmlns:a="http://schemas.openxmlformats.org/drawingml/2006/main">
            <a:off x="4095750" y="16764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B9BAC0"/>
                </a:solidFill>
                <a:latin typeface="Consolas"/>
                <a:ea typeface="Consolas"/>
                <a:cs typeface="Consolas"/>
              </a:defRPr>
            </a:pPr>
            <a:r>
              <a:rPr sz="1350" b="1">
                <a:solidFill>
                  <a:srgbClr val="B9BAC0"/>
                </a:solidFill>
                <a:latin typeface="Consolas"/>
                <a:ea typeface="Consolas"/>
                <a:cs typeface="Consolas"/>
              </a:rPr>
              <a:t>POSITIVE</a:t>
            </a:r>
          </a:p>
        </p:txBody>
      </p:sp>
      <p:sp>
        <p:nvSpPr>
          <p:cNvPr id="11" name="s8-dim-0-question">
            <a:extLst xmlns:a="http://schemas.openxmlformats.org/drawingml/2006/main">
              <a:ext uri="{FF2B5EF4-FFF2-40B4-BE49-F238E27FC236}">
                <a16:creationId xmlns:a16="http://schemas.microsoft.com/office/drawing/2014/main" id="{33714A13-ABD0-45A7-863B-AFE844DF6CEC}"/>
              </a:ext>
            </a:extLst>
          </p:cNvPr>
          <p:cNvSpPr>
            <a:spLocks xmlns:a="http://schemas.openxmlformats.org/drawingml/2006/main" noGrp="1"/>
          </p:cNvSpPr>
          <p:nvPr/>
        </p:nvSpPr>
        <p:spPr>
          <a:xfrm xmlns:a="http://schemas.openxmlformats.org/drawingml/2006/main">
            <a:off x="6096000" y="16383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0">
                <a:solidFill>
                  <a:srgbClr val="F4F4F5"/>
                </a:solidFill>
                <a:latin typeface="Segoe UI"/>
                <a:ea typeface="Segoe UI"/>
                <a:cs typeface="Segoe UI"/>
              </a:defRPr>
            </a:pPr>
            <a:r>
              <a:rPr sz="1875" b="0">
                <a:solidFill>
                  <a:srgbClr val="F4F4F5"/>
                </a:solidFill>
                <a:latin typeface="Segoe UI"/>
                <a:ea typeface="Segoe UI"/>
                <a:cs typeface="Segoe UI"/>
              </a:rPr>
              <a:t>Does it do the right thing?</a:t>
            </a:r>
          </a:p>
        </p:txBody>
      </p:sp>
      <p:sp>
        <p:nvSpPr>
          <p:cNvPr id="12" name="Straight Connector 11">
            <a:extLst xmlns:a="http://schemas.openxmlformats.org/drawingml/2006/main">
              <a:ext uri="{FF2B5EF4-FFF2-40B4-BE49-F238E27FC236}">
                <a16:creationId xmlns:a16="http://schemas.microsoft.com/office/drawing/2014/main" id="{E836401E-DB25-4ECF-A144-ED228EAA9119}"/>
              </a:ext>
            </a:extLst>
          </p:cNvPr>
          <p:cNvSpPr>
            <a:spLocks xmlns:a="http://schemas.openxmlformats.org/drawingml/2006/main" noGrp="1"/>
          </p:cNvSpPr>
          <p:nvPr/>
        </p:nvSpPr>
        <p:spPr>
          <a:xfrm xmlns:a="http://schemas.openxmlformats.org/drawingml/2006/main">
            <a:off x="4095750" y="3162300"/>
            <a:ext cx="7334250" cy="0"/>
          </a:xfrm>
          <a:prstGeom xmlns:a="http://schemas.openxmlformats.org/drawingml/2006/main" prst="line">
            <a:avLst/>
          </a:prstGeom>
          <a:noFill xmlns:a="http://schemas.openxmlformats.org/drawingml/2006/main"/>
          <a:ln xmlns:a="http://schemas.openxmlformats.org/drawingml/2006/main" w="14288">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8-dim-1-tag">
            <a:extLst xmlns:a="http://schemas.openxmlformats.org/drawingml/2006/main">
              <a:ext uri="{FF2B5EF4-FFF2-40B4-BE49-F238E27FC236}">
                <a16:creationId xmlns:a16="http://schemas.microsoft.com/office/drawing/2014/main" id="{D8D13646-E096-40C0-9CFC-AE61B356CFEA}"/>
              </a:ext>
            </a:extLst>
          </p:cNvPr>
          <p:cNvSpPr>
            <a:spLocks xmlns:a="http://schemas.openxmlformats.org/drawingml/2006/main" noGrp="1"/>
          </p:cNvSpPr>
          <p:nvPr/>
        </p:nvSpPr>
        <p:spPr>
          <a:xfrm xmlns:a="http://schemas.openxmlformats.org/drawingml/2006/main">
            <a:off x="4095750" y="25146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B9BAC0"/>
                </a:solidFill>
                <a:latin typeface="Consolas"/>
                <a:ea typeface="Consolas"/>
                <a:cs typeface="Consolas"/>
              </a:defRPr>
            </a:pPr>
            <a:r>
              <a:rPr sz="1350" b="1">
                <a:solidFill>
                  <a:srgbClr val="B9BAC0"/>
                </a:solidFill>
                <a:latin typeface="Consolas"/>
                <a:ea typeface="Consolas"/>
                <a:cs typeface="Consolas"/>
              </a:rPr>
              <a:t>HANDOFF</a:t>
            </a:r>
          </a:p>
        </p:txBody>
      </p:sp>
      <p:sp>
        <p:nvSpPr>
          <p:cNvPr id="14" name="s8-dim-1-question">
            <a:extLst xmlns:a="http://schemas.openxmlformats.org/drawingml/2006/main">
              <a:ext uri="{FF2B5EF4-FFF2-40B4-BE49-F238E27FC236}">
                <a16:creationId xmlns:a16="http://schemas.microsoft.com/office/drawing/2014/main" id="{2777F639-85D8-45CB-8FC7-1A6E8BA9C57E}"/>
              </a:ext>
            </a:extLst>
          </p:cNvPr>
          <p:cNvSpPr>
            <a:spLocks xmlns:a="http://schemas.openxmlformats.org/drawingml/2006/main" noGrp="1"/>
          </p:cNvSpPr>
          <p:nvPr/>
        </p:nvSpPr>
        <p:spPr>
          <a:xfrm xmlns:a="http://schemas.openxmlformats.org/drawingml/2006/main">
            <a:off x="6096000" y="24765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0">
                <a:solidFill>
                  <a:srgbClr val="F4F4F5"/>
                </a:solidFill>
                <a:latin typeface="Segoe UI"/>
                <a:ea typeface="Segoe UI"/>
                <a:cs typeface="Segoe UI"/>
              </a:defRPr>
            </a:pPr>
            <a:r>
              <a:rPr sz="1875" b="0">
                <a:solidFill>
                  <a:srgbClr val="F4F4F5"/>
                </a:solidFill>
                <a:latin typeface="Segoe UI"/>
                <a:ea typeface="Segoe UI"/>
                <a:cs typeface="Segoe UI"/>
              </a:rPr>
              <a:t>Does it route work elsewhere?</a:t>
            </a:r>
          </a:p>
        </p:txBody>
      </p:sp>
      <p:sp>
        <p:nvSpPr>
          <p:cNvPr id="15" name="Straight Connector 14">
            <a:extLst xmlns:a="http://schemas.openxmlformats.org/drawingml/2006/main">
              <a:ext uri="{FF2B5EF4-FFF2-40B4-BE49-F238E27FC236}">
                <a16:creationId xmlns:a16="http://schemas.microsoft.com/office/drawing/2014/main" id="{1E0E5A50-3E2C-4491-9668-BF7395430B7E}"/>
              </a:ext>
            </a:extLst>
          </p:cNvPr>
          <p:cNvSpPr>
            <a:spLocks xmlns:a="http://schemas.openxmlformats.org/drawingml/2006/main" noGrp="1"/>
          </p:cNvSpPr>
          <p:nvPr/>
        </p:nvSpPr>
        <p:spPr>
          <a:xfrm xmlns:a="http://schemas.openxmlformats.org/drawingml/2006/main">
            <a:off x="4095750" y="4000500"/>
            <a:ext cx="7334250" cy="0"/>
          </a:xfrm>
          <a:prstGeom xmlns:a="http://schemas.openxmlformats.org/drawingml/2006/main" prst="line">
            <a:avLst/>
          </a:prstGeom>
          <a:noFill xmlns:a="http://schemas.openxmlformats.org/drawingml/2006/main"/>
          <a:ln xmlns:a="http://schemas.openxmlformats.org/drawingml/2006/main" w="14288">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8-dim-2-tag">
            <a:extLst xmlns:a="http://schemas.openxmlformats.org/drawingml/2006/main">
              <a:ext uri="{FF2B5EF4-FFF2-40B4-BE49-F238E27FC236}">
                <a16:creationId xmlns:a16="http://schemas.microsoft.com/office/drawing/2014/main" id="{0981EC71-7152-47AD-A1D1-0F0300348693}"/>
              </a:ext>
            </a:extLst>
          </p:cNvPr>
          <p:cNvSpPr>
            <a:spLocks xmlns:a="http://schemas.openxmlformats.org/drawingml/2006/main" noGrp="1"/>
          </p:cNvSpPr>
          <p:nvPr/>
        </p:nvSpPr>
        <p:spPr>
          <a:xfrm xmlns:a="http://schemas.openxmlformats.org/drawingml/2006/main">
            <a:off x="4095750" y="3352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C33148"/>
                </a:solidFill>
                <a:latin typeface="Consolas"/>
                <a:ea typeface="Consolas"/>
                <a:cs typeface="Consolas"/>
              </a:defRPr>
            </a:pPr>
            <a:r>
              <a:rPr sz="1350" b="1">
                <a:solidFill>
                  <a:srgbClr val="C33148"/>
                </a:solidFill>
                <a:latin typeface="Consolas"/>
                <a:ea typeface="Consolas"/>
                <a:cs typeface="Consolas"/>
              </a:rPr>
              <a:t>PHI</a:t>
            </a:r>
          </a:p>
        </p:txBody>
      </p:sp>
      <p:sp>
        <p:nvSpPr>
          <p:cNvPr id="17" name="s8-dim-2-question">
            <a:extLst xmlns:a="http://schemas.openxmlformats.org/drawingml/2006/main">
              <a:ext uri="{FF2B5EF4-FFF2-40B4-BE49-F238E27FC236}">
                <a16:creationId xmlns:a16="http://schemas.microsoft.com/office/drawing/2014/main" id="{80A120C6-45EC-4A39-A4A6-402CA3305E44}"/>
              </a:ext>
            </a:extLst>
          </p:cNvPr>
          <p:cNvSpPr>
            <a:spLocks xmlns:a="http://schemas.openxmlformats.org/drawingml/2006/main" noGrp="1"/>
          </p:cNvSpPr>
          <p:nvPr/>
        </p:nvSpPr>
        <p:spPr>
          <a:xfrm xmlns:a="http://schemas.openxmlformats.org/drawingml/2006/main">
            <a:off x="6096000" y="33147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0">
                <a:solidFill>
                  <a:srgbClr val="F4F4F5"/>
                </a:solidFill>
                <a:latin typeface="Segoe UI"/>
                <a:ea typeface="Segoe UI"/>
                <a:cs typeface="Segoe UI"/>
              </a:defRPr>
            </a:pPr>
            <a:r>
              <a:rPr sz="1875" b="0">
                <a:solidFill>
                  <a:srgbClr val="F4F4F5"/>
                </a:solidFill>
                <a:latin typeface="Segoe UI"/>
                <a:ea typeface="Segoe UI"/>
                <a:cs typeface="Segoe UI"/>
              </a:rPr>
              <a:t>Does it refuse data exfiltration?</a:t>
            </a:r>
          </a:p>
        </p:txBody>
      </p:sp>
      <p:sp>
        <p:nvSpPr>
          <p:cNvPr id="18" name="Straight Connector 17">
            <a:extLst xmlns:a="http://schemas.openxmlformats.org/drawingml/2006/main">
              <a:ext uri="{FF2B5EF4-FFF2-40B4-BE49-F238E27FC236}">
                <a16:creationId xmlns:a16="http://schemas.microsoft.com/office/drawing/2014/main" id="{D8396880-0689-48FA-8EC8-7CC52F74DB9A}"/>
              </a:ext>
            </a:extLst>
          </p:cNvPr>
          <p:cNvSpPr>
            <a:spLocks xmlns:a="http://schemas.openxmlformats.org/drawingml/2006/main" noGrp="1"/>
          </p:cNvSpPr>
          <p:nvPr/>
        </p:nvSpPr>
        <p:spPr>
          <a:xfrm xmlns:a="http://schemas.openxmlformats.org/drawingml/2006/main">
            <a:off x="4095750" y="4838700"/>
            <a:ext cx="7334250" cy="0"/>
          </a:xfrm>
          <a:prstGeom xmlns:a="http://schemas.openxmlformats.org/drawingml/2006/main" prst="line">
            <a:avLst/>
          </a:prstGeom>
          <a:noFill xmlns:a="http://schemas.openxmlformats.org/drawingml/2006/main"/>
          <a:ln xmlns:a="http://schemas.openxmlformats.org/drawingml/2006/main" w="14288">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8-dim-3-tag">
            <a:extLst xmlns:a="http://schemas.openxmlformats.org/drawingml/2006/main">
              <a:ext uri="{FF2B5EF4-FFF2-40B4-BE49-F238E27FC236}">
                <a16:creationId xmlns:a16="http://schemas.microsoft.com/office/drawing/2014/main" id="{353CFAD1-79ED-426A-9C2E-78CC4E508199}"/>
              </a:ext>
            </a:extLst>
          </p:cNvPr>
          <p:cNvSpPr>
            <a:spLocks xmlns:a="http://schemas.openxmlformats.org/drawingml/2006/main" noGrp="1"/>
          </p:cNvSpPr>
          <p:nvPr/>
        </p:nvSpPr>
        <p:spPr>
          <a:xfrm xmlns:a="http://schemas.openxmlformats.org/drawingml/2006/main">
            <a:off x="4095750" y="41910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B9BAC0"/>
                </a:solidFill>
                <a:latin typeface="Consolas"/>
                <a:ea typeface="Consolas"/>
                <a:cs typeface="Consolas"/>
              </a:defRPr>
            </a:pPr>
            <a:r>
              <a:rPr sz="1350" b="1">
                <a:solidFill>
                  <a:srgbClr val="B9BAC0"/>
                </a:solidFill>
                <a:latin typeface="Consolas"/>
                <a:ea typeface="Consolas"/>
                <a:cs typeface="Consolas"/>
              </a:rPr>
              <a:t>ADVERSARIAL</a:t>
            </a:r>
          </a:p>
        </p:txBody>
      </p:sp>
      <p:sp>
        <p:nvSpPr>
          <p:cNvPr id="20" name="s8-dim-3-question">
            <a:extLst xmlns:a="http://schemas.openxmlformats.org/drawingml/2006/main">
              <a:ext uri="{FF2B5EF4-FFF2-40B4-BE49-F238E27FC236}">
                <a16:creationId xmlns:a16="http://schemas.microsoft.com/office/drawing/2014/main" id="{346C0A0E-8E28-44AB-8D47-A222ED6AB3DC}"/>
              </a:ext>
            </a:extLst>
          </p:cNvPr>
          <p:cNvSpPr>
            <a:spLocks xmlns:a="http://schemas.openxmlformats.org/drawingml/2006/main" noGrp="1"/>
          </p:cNvSpPr>
          <p:nvPr/>
        </p:nvSpPr>
        <p:spPr>
          <a:xfrm xmlns:a="http://schemas.openxmlformats.org/drawingml/2006/main">
            <a:off x="6096000" y="41529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0">
                <a:solidFill>
                  <a:srgbClr val="F4F4F5"/>
                </a:solidFill>
                <a:latin typeface="Segoe UI"/>
                <a:ea typeface="Segoe UI"/>
                <a:cs typeface="Segoe UI"/>
              </a:defRPr>
            </a:pPr>
            <a:r>
              <a:rPr sz="1875" b="0">
                <a:solidFill>
                  <a:srgbClr val="F4F4F5"/>
                </a:solidFill>
                <a:latin typeface="Segoe UI"/>
                <a:ea typeface="Segoe UI"/>
                <a:cs typeface="Segoe UI"/>
              </a:rPr>
              <a:t>Does it resist coercion and forced send?</a:t>
            </a:r>
          </a:p>
        </p:txBody>
      </p:sp>
      <p:sp>
        <p:nvSpPr>
          <p:cNvPr id="21" name="Straight Connector 20">
            <a:extLst xmlns:a="http://schemas.openxmlformats.org/drawingml/2006/main">
              <a:ext uri="{FF2B5EF4-FFF2-40B4-BE49-F238E27FC236}">
                <a16:creationId xmlns:a16="http://schemas.microsoft.com/office/drawing/2014/main" id="{AA5B7A7D-1B9F-4A1C-8181-65ED9B9B47CB}"/>
              </a:ext>
            </a:extLst>
          </p:cNvPr>
          <p:cNvSpPr>
            <a:spLocks xmlns:a="http://schemas.openxmlformats.org/drawingml/2006/main" noGrp="1"/>
          </p:cNvSpPr>
          <p:nvPr/>
        </p:nvSpPr>
        <p:spPr>
          <a:xfrm xmlns:a="http://schemas.openxmlformats.org/drawingml/2006/main">
            <a:off x="4095750" y="5676900"/>
            <a:ext cx="7334250" cy="0"/>
          </a:xfrm>
          <a:prstGeom xmlns:a="http://schemas.openxmlformats.org/drawingml/2006/main" prst="line">
            <a:avLst/>
          </a:prstGeom>
          <a:noFill xmlns:a="http://schemas.openxmlformats.org/drawingml/2006/main"/>
          <a:ln xmlns:a="http://schemas.openxmlformats.org/drawingml/2006/main" w="14288">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8-dim-4-tag">
            <a:extLst xmlns:a="http://schemas.openxmlformats.org/drawingml/2006/main">
              <a:ext uri="{FF2B5EF4-FFF2-40B4-BE49-F238E27FC236}">
                <a16:creationId xmlns:a16="http://schemas.microsoft.com/office/drawing/2014/main" id="{E22A2D37-AE22-42AF-A273-7076AADB41EA}"/>
              </a:ext>
            </a:extLst>
          </p:cNvPr>
          <p:cNvSpPr>
            <a:spLocks xmlns:a="http://schemas.openxmlformats.org/drawingml/2006/main" noGrp="1"/>
          </p:cNvSpPr>
          <p:nvPr/>
        </p:nvSpPr>
        <p:spPr>
          <a:xfrm xmlns:a="http://schemas.openxmlformats.org/drawingml/2006/main">
            <a:off x="4095750" y="50292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B9BAC0"/>
                </a:solidFill>
                <a:latin typeface="Consolas"/>
                <a:ea typeface="Consolas"/>
                <a:cs typeface="Consolas"/>
              </a:defRPr>
            </a:pPr>
            <a:r>
              <a:rPr sz="1350" b="1">
                <a:solidFill>
                  <a:srgbClr val="B9BAC0"/>
                </a:solidFill>
                <a:latin typeface="Consolas"/>
                <a:ea typeface="Consolas"/>
                <a:cs typeface="Consolas"/>
              </a:rPr>
              <a:t>GOLDEN</a:t>
            </a:r>
          </a:p>
        </p:txBody>
      </p:sp>
      <p:sp>
        <p:nvSpPr>
          <p:cNvPr id="23" name="s8-dim-4-question">
            <a:extLst xmlns:a="http://schemas.openxmlformats.org/drawingml/2006/main">
              <a:ext uri="{FF2B5EF4-FFF2-40B4-BE49-F238E27FC236}">
                <a16:creationId xmlns:a16="http://schemas.microsoft.com/office/drawing/2014/main" id="{2625272C-A2A3-4604-B446-4BC26A43EEAC}"/>
              </a:ext>
            </a:extLst>
          </p:cNvPr>
          <p:cNvSpPr>
            <a:spLocks xmlns:a="http://schemas.openxmlformats.org/drawingml/2006/main" noGrp="1"/>
          </p:cNvSpPr>
          <p:nvPr/>
        </p:nvSpPr>
        <p:spPr>
          <a:xfrm xmlns:a="http://schemas.openxmlformats.org/drawingml/2006/main">
            <a:off x="6096000" y="49911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094"/>
          </a:bodyPr>
          <a:lstStyle xmlns:a="http://schemas.openxmlformats.org/drawingml/2006/main"/>
          <a:p xmlns:a="http://schemas.openxmlformats.org/drawingml/2006/main">
            <a:pPr algn="l">
              <a:lnSpc>
                <a:spcPct val="100000"/>
              </a:lnSpc>
              <a:buNone/>
              <a:defRPr sz="1875" b="0">
                <a:solidFill>
                  <a:srgbClr val="F4F4F5"/>
                </a:solidFill>
                <a:latin typeface="Segoe UI"/>
                <a:ea typeface="Segoe UI"/>
                <a:cs typeface="Segoe UI"/>
              </a:defRPr>
            </a:pPr>
            <a:r>
              <a:rPr sz="1875" b="0">
                <a:solidFill>
                  <a:srgbClr val="F4F4F5"/>
                </a:solidFill>
                <a:latin typeface="Segoe UI"/>
                <a:ea typeface="Segoe UI"/>
                <a:cs typeface="Segoe UI"/>
              </a:rPr>
              <a:t>Does complete input produce the contract output?</a:t>
            </a:r>
          </a:p>
        </p:txBody>
      </p:sp>
      <p:sp>
        <p:nvSpPr>
          <p:cNvPr id="25" name="eval-status">
            <a:extLst xmlns:a="http://schemas.openxmlformats.org/drawingml/2006/main">
              <a:ext uri="{FF2B5EF4-FFF2-40B4-BE49-F238E27FC236}">
                <a16:creationId xmlns:a16="http://schemas.microsoft.com/office/drawing/2014/main" id="{61BDAFC4-2899-44E4-ABFE-3875B6AC09BF}"/>
              </a:ext>
            </a:extLst>
          </p:cNvPr>
          <p:cNvSpPr>
            <a:spLocks xmlns:a="http://schemas.openxmlformats.org/drawingml/2006/main" noGrp="1"/>
          </p:cNvSpPr>
          <p:nvPr/>
        </p:nvSpPr>
        <p:spPr>
          <a:xfrm xmlns:a="http://schemas.openxmlformats.org/drawingml/2006/main">
            <a:off x="609600" y="584835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0">
                <a:solidFill>
                  <a:srgbClr val="B9BAC0"/>
                </a:solidFill>
                <a:latin typeface="Segoe UI"/>
                <a:ea typeface="Segoe UI"/>
                <a:cs typeface="Segoe UI"/>
              </a:defRPr>
            </a:pPr>
            <a:r>
              <a:rPr sz="1500" b="0">
                <a:solidFill>
                  <a:srgbClr val="B9BAC0"/>
                </a:solidFill>
                <a:latin typeface="Segoe UI"/>
                <a:ea typeface="Segoe UI"/>
                <a:cs typeface="Segoe UI"/>
              </a:rPr>
              <a:t>Live pass rates are not published in the public status page.</a:t>
            </a:r>
          </a:p>
        </p:txBody>
      </p:sp>
    </p:spTree>
    <p:extLst>
      <p:ext uri="{BB962C8B-B14F-4D97-AF65-F5344CB8AC3E}">
        <p14:creationId xmlns:p14="http://schemas.microsoft.com/office/powerpoint/2010/main" val="1154838851"/>
      </p:ext>
    </p:extLst>
  </p:cSld>
</p:sld>
</file>

<file path=ppt/slides/slide11.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20" name="s9-eyebrow">
            <a:extLst xmlns:a="http://schemas.openxmlformats.org/drawingml/2006/main">
              <a:ext uri="{FF2B5EF4-FFF2-40B4-BE49-F238E27FC236}">
                <a16:creationId xmlns:a16="http://schemas.microsoft.com/office/drawing/2014/main" id="{92AEA1F4-CBAB-4E72-B4FF-C9407ABCF0DD}"/>
              </a:ext>
            </a:extLst>
          </p:cNvPr>
          <p:cNvSpPr>
            <a:spLocks xmlns:a="http://schemas.openxmlformats.org/drawingml/2006/main" noGrp="1"/>
          </p:cNvSpPr>
          <p:nvPr/>
        </p:nvSpPr>
        <p:spPr>
          <a:xfrm xmlns:a="http://schemas.openxmlformats.org/drawingml/2006/main">
            <a:off x="609600" y="285750"/>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TULA RELEASE GATES WITH MICROSOFT WAZA</a:t>
            </a:r>
          </a:p>
        </p:txBody>
      </p:sp>
      <p:sp>
        <p:nvSpPr>
          <p:cNvPr id="2" name="s9-accent-rule">
            <a:extLst xmlns:a="http://schemas.openxmlformats.org/drawingml/2006/main">
              <a:ext uri="{FF2B5EF4-FFF2-40B4-BE49-F238E27FC236}">
                <a16:creationId xmlns:a16="http://schemas.microsoft.com/office/drawing/2014/main" id="{F8943FDC-6323-4614-B911-2EF7384BE162}"/>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9-brand">
            <a:extLst xmlns:a="http://schemas.openxmlformats.org/drawingml/2006/main">
              <a:ext uri="{FF2B5EF4-FFF2-40B4-BE49-F238E27FC236}">
                <a16:creationId xmlns:a16="http://schemas.microsoft.com/office/drawing/2014/main" id="{D55FA8BB-47F9-4CAD-B06F-3633AE198F6A}"/>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9-number">
            <a:extLst xmlns:a="http://schemas.openxmlformats.org/drawingml/2006/main">
              <a:ext uri="{FF2B5EF4-FFF2-40B4-BE49-F238E27FC236}">
                <a16:creationId xmlns:a16="http://schemas.microsoft.com/office/drawing/2014/main" id="{6ADF8D96-3B94-442B-9639-5D77FAEDFF8B}"/>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11</a:t>
            </a:r>
          </a:p>
        </p:txBody>
      </p:sp>
      <p:sp>
        <p:nvSpPr>
          <p:cNvPr id="5" name="s9-title">
            <a:extLst xmlns:a="http://schemas.openxmlformats.org/drawingml/2006/main">
              <a:ext uri="{FF2B5EF4-FFF2-40B4-BE49-F238E27FC236}">
                <a16:creationId xmlns:a16="http://schemas.microsoft.com/office/drawing/2014/main" id="{34DAA657-2B64-4F27-9AC8-071A3F4AA2D1}"/>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A passing demo is not a release gate.</a:t>
            </a:r>
          </a:p>
        </p:txBody>
      </p:sp>
      <p:sp>
        <p:nvSpPr>
          <p:cNvPr id="6" name="s9-lane-arrow">
            <a:extLst xmlns:a="http://schemas.openxmlformats.org/drawingml/2006/main">
              <a:ext uri="{FF2B5EF4-FFF2-40B4-BE49-F238E27FC236}">
                <a16:creationId xmlns:a16="http://schemas.microsoft.com/office/drawing/2014/main" id="{EF8E741A-AD62-4BC9-82C7-C6E86AC25D84}"/>
              </a:ext>
            </a:extLst>
          </p:cNvPr>
          <p:cNvSpPr>
            <a:spLocks xmlns:a="http://schemas.openxmlformats.org/drawingml/2006/main" noGrp="1"/>
          </p:cNvSpPr>
          <p:nvPr/>
        </p:nvSpPr>
        <p:spPr>
          <a:xfrm xmlns:a="http://schemas.openxmlformats.org/drawingml/2006/main">
            <a:off x="5848350" y="3028950"/>
            <a:ext cx="495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400" b="0">
                <a:solidFill>
                  <a:srgbClr val="7B7E87"/>
                </a:solidFill>
                <a:latin typeface="Segoe UI"/>
                <a:ea typeface="Segoe UI"/>
                <a:cs typeface="Segoe UI"/>
              </a:defRPr>
            </a:pPr>
            <a:r>
              <a:rPr sz="2400" b="0">
                <a:solidFill>
                  <a:srgbClr val="7B7E87"/>
                </a:solidFill>
                <a:latin typeface="Segoe UI"/>
                <a:ea typeface="Segoe UI"/>
                <a:cs typeface="Segoe UI"/>
              </a:rPr>
              <a:t>→</a:t>
            </a:r>
          </a:p>
        </p:txBody>
      </p:sp>
      <p:sp>
        <p:nvSpPr>
          <p:cNvPr id="7" name="s9-structural-box">
            <a:extLst xmlns:a="http://schemas.openxmlformats.org/drawingml/2006/main">
              <a:ext uri="{FF2B5EF4-FFF2-40B4-BE49-F238E27FC236}">
                <a16:creationId xmlns:a16="http://schemas.microsoft.com/office/drawing/2014/main" id="{9ED17184-5B70-4CE9-9521-F1CAC57F7863}"/>
              </a:ext>
            </a:extLst>
          </p:cNvPr>
          <p:cNvSpPr>
            <a:spLocks xmlns:a="http://schemas.openxmlformats.org/drawingml/2006/main" noGrp="1"/>
          </p:cNvSpPr>
          <p:nvPr/>
        </p:nvSpPr>
        <p:spPr>
          <a:xfrm xmlns:a="http://schemas.openxmlformats.org/drawingml/2006/main">
            <a:off x="609600" y="1714500"/>
            <a:ext cx="4953000" cy="3067050"/>
          </a:xfrm>
          <a:prstGeom xmlns:a="http://schemas.openxmlformats.org/drawingml/2006/main" prst="roundRect">
            <a:avLst>
              <a:gd name="adj" fmla="val 559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9-structural-label">
            <a:extLst xmlns:a="http://schemas.openxmlformats.org/drawingml/2006/main">
              <a:ext uri="{FF2B5EF4-FFF2-40B4-BE49-F238E27FC236}">
                <a16:creationId xmlns:a16="http://schemas.microsoft.com/office/drawing/2014/main" id="{DA554F29-02E1-4699-8D45-E31314DEFCD3}"/>
              </a:ext>
            </a:extLst>
          </p:cNvPr>
          <p:cNvSpPr>
            <a:spLocks xmlns:a="http://schemas.openxmlformats.org/drawingml/2006/main" noGrp="1"/>
          </p:cNvSpPr>
          <p:nvPr/>
        </p:nvSpPr>
        <p:spPr>
          <a:xfrm xmlns:a="http://schemas.openxmlformats.org/drawingml/2006/main">
            <a:off x="914400" y="2000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4D93C6"/>
                </a:solidFill>
                <a:latin typeface="Consolas"/>
                <a:ea typeface="Consolas"/>
                <a:cs typeface="Consolas"/>
              </a:defRPr>
            </a:pPr>
            <a:r>
              <a:rPr sz="1500" b="1">
                <a:solidFill>
                  <a:srgbClr val="4D93C6"/>
                </a:solidFill>
                <a:latin typeface="Consolas"/>
                <a:ea typeface="Consolas"/>
                <a:cs typeface="Consolas"/>
              </a:rPr>
              <a:t>STRUCTURAL</a:t>
            </a:r>
          </a:p>
        </p:txBody>
      </p:sp>
      <p:sp>
        <p:nvSpPr>
          <p:cNvPr id="9" name="s9-structural-title">
            <a:extLst xmlns:a="http://schemas.openxmlformats.org/drawingml/2006/main">
              <a:ext uri="{FF2B5EF4-FFF2-40B4-BE49-F238E27FC236}">
                <a16:creationId xmlns:a16="http://schemas.microsoft.com/office/drawing/2014/main" id="{D6DAD560-99AD-4223-B764-A8580ACAA9FE}"/>
              </a:ext>
            </a:extLst>
          </p:cNvPr>
          <p:cNvSpPr>
            <a:spLocks xmlns:a="http://schemas.openxmlformats.org/drawingml/2006/main" noGrp="1"/>
          </p:cNvSpPr>
          <p:nvPr/>
        </p:nvSpPr>
        <p:spPr>
          <a:xfrm xmlns:a="http://schemas.openxmlformats.org/drawingml/2006/main">
            <a:off x="914400" y="2476500"/>
            <a:ext cx="400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850" b="1">
                <a:solidFill>
                  <a:srgbClr val="F4F4F5"/>
                </a:solidFill>
                <a:latin typeface="Segoe UI"/>
                <a:ea typeface="Segoe UI"/>
                <a:cs typeface="Segoe UI"/>
              </a:defRPr>
            </a:pPr>
            <a:r>
              <a:rPr sz="2850" b="1">
                <a:solidFill>
                  <a:srgbClr val="F4F4F5"/>
                </a:solidFill>
                <a:latin typeface="Segoe UI"/>
                <a:ea typeface="Segoe UI"/>
                <a:cs typeface="Segoe UI"/>
              </a:rPr>
              <a:t>Every PR</a:t>
            </a:r>
          </a:p>
        </p:txBody>
      </p:sp>
      <p:sp>
        <p:nvSpPr>
          <p:cNvPr id="10" name="s9-structural-body">
            <a:extLst xmlns:a="http://schemas.openxmlformats.org/drawingml/2006/main">
              <a:ext uri="{FF2B5EF4-FFF2-40B4-BE49-F238E27FC236}">
                <a16:creationId xmlns:a16="http://schemas.microsoft.com/office/drawing/2014/main" id="{2B16D202-2F1D-451D-88E5-D3E42A450E8D}"/>
              </a:ext>
            </a:extLst>
          </p:cNvPr>
          <p:cNvSpPr>
            <a:spLocks xmlns:a="http://schemas.openxmlformats.org/drawingml/2006/main" noGrp="1"/>
          </p:cNvSpPr>
          <p:nvPr/>
        </p:nvSpPr>
        <p:spPr>
          <a:xfrm xmlns:a="http://schemas.openxmlformats.org/drawingml/2006/main">
            <a:off x="914400" y="31051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Spec, links, task wiring, fixtures</a:t>
            </a:r>
          </a:p>
        </p:txBody>
      </p:sp>
      <p:sp>
        <p:nvSpPr>
          <p:cNvPr id="11" name="s9-structural-command">
            <a:extLst xmlns:a="http://schemas.openxmlformats.org/drawingml/2006/main">
              <a:ext uri="{FF2B5EF4-FFF2-40B4-BE49-F238E27FC236}">
                <a16:creationId xmlns:a16="http://schemas.microsoft.com/office/drawing/2014/main" id="{B59471A3-AB0F-44FD-A134-01618CD25D2F}"/>
              </a:ext>
            </a:extLst>
          </p:cNvPr>
          <p:cNvSpPr>
            <a:spLocks xmlns:a="http://schemas.openxmlformats.org/drawingml/2006/main" noGrp="1"/>
          </p:cNvSpPr>
          <p:nvPr/>
        </p:nvSpPr>
        <p:spPr>
          <a:xfrm xmlns:a="http://schemas.openxmlformats.org/drawingml/2006/main">
            <a:off x="914400" y="3905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0">
                <a:solidFill>
                  <a:srgbClr val="F4F4F5"/>
                </a:solidFill>
                <a:latin typeface="Consolas"/>
                <a:ea typeface="Consolas"/>
                <a:cs typeface="Consolas"/>
              </a:defRPr>
            </a:pPr>
            <a:r>
              <a:rPr sz="1500" b="0">
                <a:solidFill>
                  <a:srgbClr val="F4F4F5"/>
                </a:solidFill>
                <a:latin typeface="Consolas"/>
                <a:ea typeface="Consolas"/>
                <a:cs typeface="Consolas"/>
              </a:rPr>
              <a:t>waza check skills/&lt;name&gt;</a:t>
            </a:r>
          </a:p>
        </p:txBody>
      </p:sp>
      <p:sp>
        <p:nvSpPr>
          <p:cNvPr id="12" name="s9-cert-box">
            <a:extLst xmlns:a="http://schemas.openxmlformats.org/drawingml/2006/main">
              <a:ext uri="{FF2B5EF4-FFF2-40B4-BE49-F238E27FC236}">
                <a16:creationId xmlns:a16="http://schemas.microsoft.com/office/drawing/2014/main" id="{1B8B0015-4510-407F-904B-9223A056A187}"/>
              </a:ext>
            </a:extLst>
          </p:cNvPr>
          <p:cNvSpPr>
            <a:spLocks xmlns:a="http://schemas.openxmlformats.org/drawingml/2006/main" noGrp="1"/>
          </p:cNvSpPr>
          <p:nvPr/>
        </p:nvSpPr>
        <p:spPr>
          <a:xfrm xmlns:a="http://schemas.openxmlformats.org/drawingml/2006/main">
            <a:off x="6629400" y="1714500"/>
            <a:ext cx="4953000" cy="3067050"/>
          </a:xfrm>
          <a:prstGeom xmlns:a="http://schemas.openxmlformats.org/drawingml/2006/main" prst="roundRect">
            <a:avLst>
              <a:gd name="adj" fmla="val 5590"/>
            </a:avLst>
          </a:prstGeom>
          <a:solidFill xmlns:a="http://schemas.openxmlformats.org/drawingml/2006/main">
            <a:srgbClr val="191B20"/>
          </a:solidFill>
          <a:ln xmlns:a="http://schemas.openxmlformats.org/drawingml/2006/main" w="19050">
            <a:solidFill>
              <a:srgbClr val="9B1C2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9-cert-label">
            <a:extLst xmlns:a="http://schemas.openxmlformats.org/drawingml/2006/main">
              <a:ext uri="{FF2B5EF4-FFF2-40B4-BE49-F238E27FC236}">
                <a16:creationId xmlns:a16="http://schemas.microsoft.com/office/drawing/2014/main" id="{96C9C411-9821-404E-8ACE-70F1B1202625}"/>
              </a:ext>
            </a:extLst>
          </p:cNvPr>
          <p:cNvSpPr>
            <a:spLocks xmlns:a="http://schemas.openxmlformats.org/drawingml/2006/main" noGrp="1"/>
          </p:cNvSpPr>
          <p:nvPr/>
        </p:nvSpPr>
        <p:spPr>
          <a:xfrm xmlns:a="http://schemas.openxmlformats.org/drawingml/2006/main">
            <a:off x="6934200" y="20002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LIVE EVALUATION</a:t>
            </a:r>
          </a:p>
        </p:txBody>
      </p:sp>
      <p:sp>
        <p:nvSpPr>
          <p:cNvPr id="14" name="s9-cert-title">
            <a:extLst xmlns:a="http://schemas.openxmlformats.org/drawingml/2006/main">
              <a:ext uri="{FF2B5EF4-FFF2-40B4-BE49-F238E27FC236}">
                <a16:creationId xmlns:a16="http://schemas.microsoft.com/office/drawing/2014/main" id="{2F818739-E055-4957-AFF6-B7E8EFC4BD2E}"/>
              </a:ext>
            </a:extLst>
          </p:cNvPr>
          <p:cNvSpPr>
            <a:spLocks xmlns:a="http://schemas.openxmlformats.org/drawingml/2006/main" noGrp="1"/>
          </p:cNvSpPr>
          <p:nvPr/>
        </p:nvSpPr>
        <p:spPr>
          <a:xfrm xmlns:a="http://schemas.openxmlformats.org/drawingml/2006/main">
            <a:off x="6934200" y="2476500"/>
            <a:ext cx="400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850" b="1">
                <a:solidFill>
                  <a:srgbClr val="F4F4F5"/>
                </a:solidFill>
                <a:latin typeface="Segoe UI"/>
                <a:ea typeface="Segoe UI"/>
                <a:cs typeface="Segoe UI"/>
              </a:defRPr>
            </a:pPr>
            <a:r>
              <a:rPr sz="2850" b="1">
                <a:solidFill>
                  <a:srgbClr val="F4F4F5"/>
                </a:solidFill>
                <a:latin typeface="Segoe UI"/>
                <a:ea typeface="Segoe UI"/>
                <a:cs typeface="Segoe UI"/>
              </a:rPr>
              <a:t>Live model</a:t>
            </a:r>
          </a:p>
        </p:txBody>
      </p:sp>
      <p:sp>
        <p:nvSpPr>
          <p:cNvPr id="15" name="s9-cert-body">
            <a:extLst xmlns:a="http://schemas.openxmlformats.org/drawingml/2006/main">
              <a:ext uri="{FF2B5EF4-FFF2-40B4-BE49-F238E27FC236}">
                <a16:creationId xmlns:a16="http://schemas.microsoft.com/office/drawing/2014/main" id="{827B06B2-0668-48A6-B860-4920FD6A14C5}"/>
              </a:ext>
            </a:extLst>
          </p:cNvPr>
          <p:cNvSpPr>
            <a:spLocks xmlns:a="http://schemas.openxmlformats.org/drawingml/2006/main" noGrp="1"/>
          </p:cNvSpPr>
          <p:nvPr/>
        </p:nvSpPr>
        <p:spPr>
          <a:xfrm xmlns:a="http://schemas.openxmlformats.org/drawingml/2006/main">
            <a:off x="6934200" y="31051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Behavior, graders, pass rates</a:t>
            </a:r>
          </a:p>
        </p:txBody>
      </p:sp>
      <p:sp>
        <p:nvSpPr>
          <p:cNvPr id="16" name="s9-cert-command">
            <a:extLst xmlns:a="http://schemas.openxmlformats.org/drawingml/2006/main">
              <a:ext uri="{FF2B5EF4-FFF2-40B4-BE49-F238E27FC236}">
                <a16:creationId xmlns:a16="http://schemas.microsoft.com/office/drawing/2014/main" id="{6741654C-3245-436E-A2C8-45C67BC1EDFE}"/>
              </a:ext>
            </a:extLst>
          </p:cNvPr>
          <p:cNvSpPr>
            <a:spLocks xmlns:a="http://schemas.openxmlformats.org/drawingml/2006/main" noGrp="1"/>
          </p:cNvSpPr>
          <p:nvPr/>
        </p:nvSpPr>
        <p:spPr>
          <a:xfrm xmlns:a="http://schemas.openxmlformats.org/drawingml/2006/main">
            <a:off x="6934200" y="3905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0">
                <a:solidFill>
                  <a:srgbClr val="F4F4F5"/>
                </a:solidFill>
                <a:latin typeface="Consolas"/>
                <a:ea typeface="Consolas"/>
                <a:cs typeface="Consolas"/>
              </a:defRPr>
            </a:pPr>
            <a:r>
              <a:rPr sz="1500" b="0">
                <a:solidFill>
                  <a:srgbClr val="F4F4F5"/>
                </a:solidFill>
                <a:latin typeface="Consolas"/>
                <a:ea typeface="Consolas"/>
                <a:cs typeface="Consolas"/>
              </a:rPr>
              <a:t>waza run eval.yaml -v</a:t>
            </a:r>
          </a:p>
        </p:txBody>
      </p:sp>
      <p:sp>
        <p:nvSpPr>
          <p:cNvPr id="17" name="s9-blocker-label">
            <a:extLst xmlns:a="http://schemas.openxmlformats.org/drawingml/2006/main">
              <a:ext uri="{FF2B5EF4-FFF2-40B4-BE49-F238E27FC236}">
                <a16:creationId xmlns:a16="http://schemas.microsoft.com/office/drawing/2014/main" id="{22EE0588-D047-4CEC-BE4A-CC04EFDD8AE6}"/>
              </a:ext>
            </a:extLst>
          </p:cNvPr>
          <p:cNvSpPr>
            <a:spLocks xmlns:a="http://schemas.openxmlformats.org/drawingml/2006/main" noGrp="1"/>
          </p:cNvSpPr>
          <p:nvPr/>
        </p:nvSpPr>
        <p:spPr>
          <a:xfrm xmlns:a="http://schemas.openxmlformats.org/drawingml/2006/main">
            <a:off x="609600" y="51054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1">
                <a:solidFill>
                  <a:srgbClr val="B9BAC0"/>
                </a:solidFill>
                <a:latin typeface="Consolas"/>
                <a:ea typeface="Consolas"/>
                <a:cs typeface="Consolas"/>
              </a:defRPr>
            </a:pPr>
            <a:r>
              <a:rPr sz="1650" b="1">
                <a:solidFill>
                  <a:srgbClr val="B9BAC0"/>
                </a:solidFill>
                <a:latin typeface="Consolas"/>
                <a:ea typeface="Consolas"/>
                <a:cs typeface="Consolas"/>
              </a:rPr>
              <a:t>Tula release blockers</a:t>
            </a:r>
          </a:p>
        </p:txBody>
      </p:sp>
      <p:sp>
        <p:nvSpPr>
          <p:cNvPr id="18" name="s9-blockers">
            <a:extLst xmlns:a="http://schemas.openxmlformats.org/drawingml/2006/main">
              <a:ext uri="{FF2B5EF4-FFF2-40B4-BE49-F238E27FC236}">
                <a16:creationId xmlns:a16="http://schemas.microsoft.com/office/drawing/2014/main" id="{D0720BA8-DE73-4D0C-869A-F15855943DA7}"/>
              </a:ext>
            </a:extLst>
          </p:cNvPr>
          <p:cNvSpPr>
            <a:spLocks xmlns:a="http://schemas.openxmlformats.org/drawingml/2006/main" noGrp="1"/>
          </p:cNvSpPr>
          <p:nvPr/>
        </p:nvSpPr>
        <p:spPr>
          <a:xfrm xmlns:a="http://schemas.openxmlformats.org/drawingml/2006/main">
            <a:off x="609600" y="55530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1">
                <a:solidFill>
                  <a:srgbClr val="F4F4F5"/>
                </a:solidFill>
                <a:latin typeface="Segoe UI"/>
                <a:ea typeface="Segoe UI"/>
                <a:cs typeface="Segoe UI"/>
              </a:defRPr>
            </a:pPr>
            <a:r>
              <a:rPr sz="1575" b="1">
                <a:solidFill>
                  <a:srgbClr val="F4F4F5"/>
                </a:solidFill>
                <a:latin typeface="Segoe UI"/>
                <a:ea typeface="Segoe UI"/>
                <a:cs typeface="Segoe UI"/>
              </a:rPr>
              <a:t>PHI boundary / adversarial / triage override / golden</a:t>
            </a:r>
          </a:p>
        </p:txBody>
      </p:sp>
      <p:sp>
        <p:nvSpPr>
          <p:cNvPr id="19" name="s9-threshold">
            <a:extLst xmlns:a="http://schemas.openxmlformats.org/drawingml/2006/main">
              <a:ext uri="{FF2B5EF4-FFF2-40B4-BE49-F238E27FC236}">
                <a16:creationId xmlns:a16="http://schemas.microsoft.com/office/drawing/2014/main" id="{8D1E1147-A318-4988-9FC6-3F753A7E37E6}"/>
              </a:ext>
            </a:extLst>
          </p:cNvPr>
          <p:cNvSpPr>
            <a:spLocks xmlns:a="http://schemas.openxmlformats.org/drawingml/2006/main" noGrp="1"/>
          </p:cNvSpPr>
          <p:nvPr/>
        </p:nvSpPr>
        <p:spPr>
          <a:xfrm xmlns:a="http://schemas.openxmlformats.org/drawingml/2006/main">
            <a:off x="8972550" y="5581650"/>
            <a:ext cx="2609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350" b="1">
                <a:solidFill>
                  <a:srgbClr val="C33148"/>
                </a:solidFill>
                <a:latin typeface="Consolas"/>
                <a:ea typeface="Consolas"/>
                <a:cs typeface="Consolas"/>
              </a:defRPr>
            </a:pPr>
            <a:r>
              <a:rPr sz="1350" b="1">
                <a:solidFill>
                  <a:srgbClr val="C33148"/>
                </a:solidFill>
                <a:latin typeface="Consolas"/>
                <a:ea typeface="Consolas"/>
                <a:cs typeface="Consolas"/>
              </a:rPr>
              <a:t>Tula: 0.85 / 1.0 strict</a:t>
            </a:r>
          </a:p>
        </p:txBody>
      </p:sp>
    </p:spTree>
    <p:extLst>
      <p:ext uri="{BB962C8B-B14F-4D97-AF65-F5344CB8AC3E}">
        <p14:creationId xmlns:p14="http://schemas.microsoft.com/office/powerpoint/2010/main" val="882336463"/>
      </p:ext>
    </p:extLst>
  </p:cSld>
</p:sld>
</file>

<file path=ppt/slides/slide12.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22" name="s10-eyebrow">
            <a:extLst xmlns:a="http://schemas.openxmlformats.org/drawingml/2006/main">
              <a:ext uri="{FF2B5EF4-FFF2-40B4-BE49-F238E27FC236}">
                <a16:creationId xmlns:a16="http://schemas.microsoft.com/office/drawing/2014/main" id="{77161CB0-8285-4EF6-8940-337A7A900194}"/>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GOVERNANCE GAP</a:t>
            </a:r>
          </a:p>
        </p:txBody>
      </p:sp>
      <p:sp>
        <p:nvSpPr>
          <p:cNvPr id="2" name="s10-accent-rule">
            <a:extLst xmlns:a="http://schemas.openxmlformats.org/drawingml/2006/main">
              <a:ext uri="{FF2B5EF4-FFF2-40B4-BE49-F238E27FC236}">
                <a16:creationId xmlns:a16="http://schemas.microsoft.com/office/drawing/2014/main" id="{6AC2E2C4-6867-4717-8BCA-BE06F76B8246}"/>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10-brand">
            <a:extLst xmlns:a="http://schemas.openxmlformats.org/drawingml/2006/main">
              <a:ext uri="{FF2B5EF4-FFF2-40B4-BE49-F238E27FC236}">
                <a16:creationId xmlns:a16="http://schemas.microsoft.com/office/drawing/2014/main" id="{A765D105-2EF2-48CA-AFF0-CC1775EA86EC}"/>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10-number">
            <a:extLst xmlns:a="http://schemas.openxmlformats.org/drawingml/2006/main">
              <a:ext uri="{FF2B5EF4-FFF2-40B4-BE49-F238E27FC236}">
                <a16:creationId xmlns:a16="http://schemas.microsoft.com/office/drawing/2014/main" id="{12DEF6C7-802B-4928-82E4-5E5D3E92876A}"/>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12</a:t>
            </a:r>
          </a:p>
        </p:txBody>
      </p:sp>
      <p:sp>
        <p:nvSpPr>
          <p:cNvPr id="5" name="s10-title">
            <a:extLst xmlns:a="http://schemas.openxmlformats.org/drawingml/2006/main">
              <a:ext uri="{FF2B5EF4-FFF2-40B4-BE49-F238E27FC236}">
                <a16:creationId xmlns:a16="http://schemas.microsoft.com/office/drawing/2014/main" id="{9A5B7AAB-E8DB-42BF-9F00-42883D7F1545}"/>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Self-hosted is not the same as governed.</a:t>
            </a:r>
          </a:p>
        </p:txBody>
      </p:sp>
      <p:sp>
        <p:nvSpPr>
          <p:cNvPr id="6" name="s10-left-frame">
            <a:extLst xmlns:a="http://schemas.openxmlformats.org/drawingml/2006/main">
              <a:ext uri="{FF2B5EF4-FFF2-40B4-BE49-F238E27FC236}">
                <a16:creationId xmlns:a16="http://schemas.microsoft.com/office/drawing/2014/main" id="{46CACB6F-BDC4-460D-A6A7-568EA22239A9}"/>
              </a:ext>
            </a:extLst>
          </p:cNvPr>
          <p:cNvSpPr>
            <a:spLocks xmlns:a="http://schemas.openxmlformats.org/drawingml/2006/main" noGrp="1"/>
          </p:cNvSpPr>
          <p:nvPr/>
        </p:nvSpPr>
        <p:spPr>
          <a:xfrm xmlns:a="http://schemas.openxmlformats.org/drawingml/2006/main">
            <a:off x="609600" y="1562100"/>
            <a:ext cx="5029200" cy="4476750"/>
          </a:xfrm>
          <a:prstGeom xmlns:a="http://schemas.openxmlformats.org/drawingml/2006/main" prst="roundRect">
            <a:avLst>
              <a:gd name="adj" fmla="val 3830"/>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pic>
        <p:nvPicPr>
          <p:cNvPr id="30" name="Picture 27"/>
          <p:cNvPicPr>
            <a:picLocks xmlns:a="http://schemas.openxmlformats.org/drawingml/2006/main" noChangeAspect="1"/>
          </p:cNvPicPr>
          <p:nvPr/>
        </p:nvPicPr>
        <p:blipFill>
          <a:blip xmlns:r="http://schemas.openxmlformats.org/officeDocument/2006/relationships" xmlns:a="http://schemas.openxmlformats.org/drawingml/2006/main" r:embed="Rf3edc0b26a5e4384"/>
          <a:srcRect xmlns:a="http://schemas.openxmlformats.org/drawingml/2006/main" l="0" t="11031" r="0" b="11031"/>
          <a:stretch xmlns:a="http://schemas.openxmlformats.org/drawingml/2006/main">
            <a:fillRect l="0" t="0" r="0" b="0"/>
          </a:stretch>
        </p:blipFill>
        <p:spPr>
          <a:xfrm xmlns:a="http://schemas.openxmlformats.org/drawingml/2006/main">
            <a:off x="723900" y="1676400"/>
            <a:ext cx="4800600" cy="4248150"/>
          </a:xfrm>
          <a:prstGeom xmlns:a="http://schemas.openxmlformats.org/drawingml/2006/main" prst="roundRect">
            <a:avLst>
              <a:gd name="adj" fmla="val 3139"/>
            </a:avLst>
          </a:prstGeom>
        </p:spPr>
      </p:pic>
      <p:sp>
        <p:nvSpPr>
          <p:cNvPr id="8" name="s10-hosted-label-box">
            <a:extLst xmlns:a="http://schemas.openxmlformats.org/drawingml/2006/main">
              <a:ext uri="{FF2B5EF4-FFF2-40B4-BE49-F238E27FC236}">
                <a16:creationId xmlns:a16="http://schemas.microsoft.com/office/drawing/2014/main" id="{1AB9D414-6254-4F16-A046-CCD04D8FDA2D}"/>
              </a:ext>
            </a:extLst>
          </p:cNvPr>
          <p:cNvSpPr>
            <a:spLocks xmlns:a="http://schemas.openxmlformats.org/drawingml/2006/main" noGrp="1"/>
          </p:cNvSpPr>
          <p:nvPr/>
        </p:nvSpPr>
        <p:spPr>
          <a:xfrm xmlns:a="http://schemas.openxmlformats.org/drawingml/2006/main">
            <a:off x="838200" y="4762500"/>
            <a:ext cx="3429000" cy="876300"/>
          </a:xfrm>
          <a:prstGeom xmlns:a="http://schemas.openxmlformats.org/drawingml/2006/main" prst="roundRect">
            <a:avLst>
              <a:gd name="adj" fmla="val 13043"/>
            </a:avLst>
          </a:prstGeom>
          <a:solidFill xmlns:a="http://schemas.openxmlformats.org/drawingml/2006/main">
            <a:srgbClr val="08090B"/>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10-hosted-label">
            <a:extLst xmlns:a="http://schemas.openxmlformats.org/drawingml/2006/main">
              <a:ext uri="{FF2B5EF4-FFF2-40B4-BE49-F238E27FC236}">
                <a16:creationId xmlns:a16="http://schemas.microsoft.com/office/drawing/2014/main" id="{088F8112-17C7-45AC-9BA2-1217B3C5B8B9}"/>
              </a:ext>
            </a:extLst>
          </p:cNvPr>
          <p:cNvSpPr>
            <a:spLocks xmlns:a="http://schemas.openxmlformats.org/drawingml/2006/main" noGrp="1"/>
          </p:cNvSpPr>
          <p:nvPr/>
        </p:nvSpPr>
        <p:spPr>
          <a:xfrm xmlns:a="http://schemas.openxmlformats.org/drawingml/2006/main">
            <a:off x="1066800" y="49149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F4F4F5"/>
                </a:solidFill>
                <a:latin typeface="Consolas"/>
                <a:ea typeface="Consolas"/>
                <a:cs typeface="Consolas"/>
              </a:defRPr>
            </a:pPr>
            <a:r>
              <a:rPr sz="1800" b="1">
                <a:solidFill>
                  <a:srgbClr val="F4F4F5"/>
                </a:solidFill>
                <a:latin typeface="Consolas"/>
                <a:ea typeface="Consolas"/>
                <a:cs typeface="Consolas"/>
              </a:rPr>
              <a:t>SELF-HOSTED</a:t>
            </a:r>
          </a:p>
        </p:txBody>
      </p:sp>
      <p:sp>
        <p:nvSpPr>
          <p:cNvPr id="10" name="s10-hosted-body">
            <a:extLst xmlns:a="http://schemas.openxmlformats.org/drawingml/2006/main">
              <a:ext uri="{FF2B5EF4-FFF2-40B4-BE49-F238E27FC236}">
                <a16:creationId xmlns:a16="http://schemas.microsoft.com/office/drawing/2014/main" id="{98B6C6E5-6FF5-46FF-B8BF-192DEC0689D2}"/>
              </a:ext>
            </a:extLst>
          </p:cNvPr>
          <p:cNvSpPr>
            <a:spLocks xmlns:a="http://schemas.openxmlformats.org/drawingml/2006/main" noGrp="1"/>
          </p:cNvSpPr>
          <p:nvPr/>
        </p:nvSpPr>
        <p:spPr>
          <a:xfrm xmlns:a="http://schemas.openxmlformats.org/drawingml/2006/main">
            <a:off x="1066800" y="52768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425" b="0">
                <a:solidFill>
                  <a:srgbClr val="B9BAC0"/>
                </a:solidFill>
                <a:latin typeface="Segoe UI"/>
                <a:ea typeface="Segoe UI"/>
                <a:cs typeface="Segoe UI"/>
              </a:defRPr>
            </a:pPr>
            <a:r>
              <a:rPr sz="1425" b="0">
                <a:solidFill>
                  <a:srgbClr val="B9BAC0"/>
                </a:solidFill>
                <a:latin typeface="Segoe UI"/>
                <a:ea typeface="Segoe UI"/>
                <a:cs typeface="Segoe UI"/>
              </a:rPr>
              <a:t>Where it runs.</a:t>
            </a:r>
          </a:p>
        </p:txBody>
      </p:sp>
      <p:sp>
        <p:nvSpPr>
          <p:cNvPr id="11" name="s10-split">
            <a:extLst xmlns:a="http://schemas.openxmlformats.org/drawingml/2006/main">
              <a:ext uri="{FF2B5EF4-FFF2-40B4-BE49-F238E27FC236}">
                <a16:creationId xmlns:a16="http://schemas.microsoft.com/office/drawing/2014/main" id="{B9147715-0C9A-494E-BA52-1B03955EC247}"/>
              </a:ext>
            </a:extLst>
          </p:cNvPr>
          <p:cNvSpPr>
            <a:spLocks xmlns:a="http://schemas.openxmlformats.org/drawingml/2006/main" noGrp="1"/>
          </p:cNvSpPr>
          <p:nvPr/>
        </p:nvSpPr>
        <p:spPr>
          <a:xfrm xmlns:a="http://schemas.openxmlformats.org/drawingml/2006/main">
            <a:off x="6019800" y="1657350"/>
            <a:ext cx="0" cy="4171950"/>
          </a:xfrm>
          <a:prstGeom xmlns:a="http://schemas.openxmlformats.org/drawingml/2006/main" prst="line">
            <a:avLst/>
          </a:prstGeom>
          <a:noFill xmlns:a="http://schemas.openxmlformats.org/drawingml/2006/main"/>
          <a:ln xmlns:a="http://schemas.openxmlformats.org/drawingml/2006/main" w="28575">
            <a:solidFill>
              <a:srgbClr val="9B1C2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10-governed-label">
            <a:extLst xmlns:a="http://schemas.openxmlformats.org/drawingml/2006/main">
              <a:ext uri="{FF2B5EF4-FFF2-40B4-BE49-F238E27FC236}">
                <a16:creationId xmlns:a16="http://schemas.microsoft.com/office/drawing/2014/main" id="{4AA53593-DE14-4CBA-9484-FB951A8F9075}"/>
              </a:ext>
            </a:extLst>
          </p:cNvPr>
          <p:cNvSpPr>
            <a:spLocks xmlns:a="http://schemas.openxmlformats.org/drawingml/2006/main" noGrp="1"/>
          </p:cNvSpPr>
          <p:nvPr/>
        </p:nvSpPr>
        <p:spPr>
          <a:xfrm xmlns:a="http://schemas.openxmlformats.org/drawingml/2006/main">
            <a:off x="6553200" y="1695450"/>
            <a:ext cx="457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450" b="1">
                <a:solidFill>
                  <a:srgbClr val="C33148"/>
                </a:solidFill>
                <a:latin typeface="Consolas"/>
                <a:ea typeface="Consolas"/>
                <a:cs typeface="Consolas"/>
              </a:defRPr>
            </a:pPr>
            <a:r>
              <a:rPr sz="3450" b="1">
                <a:solidFill>
                  <a:srgbClr val="C33148"/>
                </a:solidFill>
                <a:latin typeface="Consolas"/>
                <a:ea typeface="Consolas"/>
                <a:cs typeface="Consolas"/>
              </a:rPr>
              <a:t>GOVERNED</a:t>
            </a:r>
          </a:p>
        </p:txBody>
      </p:sp>
      <p:sp>
        <p:nvSpPr>
          <p:cNvPr id="13" name="s10-question-0">
            <a:extLst xmlns:a="http://schemas.openxmlformats.org/drawingml/2006/main">
              <a:ext uri="{FF2B5EF4-FFF2-40B4-BE49-F238E27FC236}">
                <a16:creationId xmlns:a16="http://schemas.microsoft.com/office/drawing/2014/main" id="{751353F5-A0FC-4A58-A59A-A7B8943AB65B}"/>
              </a:ext>
            </a:extLst>
          </p:cNvPr>
          <p:cNvSpPr>
            <a:spLocks xmlns:a="http://schemas.openxmlformats.org/drawingml/2006/main" noGrp="1"/>
          </p:cNvSpPr>
          <p:nvPr/>
        </p:nvSpPr>
        <p:spPr>
          <a:xfrm xmlns:a="http://schemas.openxmlformats.org/drawingml/2006/main">
            <a:off x="6553200" y="26289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0">
                <a:solidFill>
                  <a:srgbClr val="F4F4F5"/>
                </a:solidFill>
                <a:latin typeface="Segoe UI"/>
                <a:ea typeface="Segoe UI"/>
                <a:cs typeface="Segoe UI"/>
              </a:defRPr>
            </a:pPr>
            <a:r>
              <a:rPr sz="2100" b="0">
                <a:solidFill>
                  <a:srgbClr val="F4F4F5"/>
                </a:solidFill>
                <a:latin typeface="Segoe UI"/>
                <a:ea typeface="Segoe UI"/>
                <a:cs typeface="Segoe UI"/>
              </a:rPr>
              <a:t>Who is acting?</a:t>
            </a:r>
          </a:p>
        </p:txBody>
      </p:sp>
      <p:sp>
        <p:nvSpPr>
          <p:cNvPr id="14" name="Straight Connector 13">
            <a:extLst xmlns:a="http://schemas.openxmlformats.org/drawingml/2006/main">
              <a:ext uri="{FF2B5EF4-FFF2-40B4-BE49-F238E27FC236}">
                <a16:creationId xmlns:a16="http://schemas.microsoft.com/office/drawing/2014/main" id="{ADDC90D0-D619-476D-9815-C38B60310A39}"/>
              </a:ext>
            </a:extLst>
          </p:cNvPr>
          <p:cNvSpPr>
            <a:spLocks xmlns:a="http://schemas.openxmlformats.org/drawingml/2006/main" noGrp="1"/>
          </p:cNvSpPr>
          <p:nvPr/>
        </p:nvSpPr>
        <p:spPr>
          <a:xfrm xmlns:a="http://schemas.openxmlformats.org/drawingml/2006/main">
            <a:off x="6553200" y="3105150"/>
            <a:ext cx="47625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10-question-1">
            <a:extLst xmlns:a="http://schemas.openxmlformats.org/drawingml/2006/main">
              <a:ext uri="{FF2B5EF4-FFF2-40B4-BE49-F238E27FC236}">
                <a16:creationId xmlns:a16="http://schemas.microsoft.com/office/drawing/2014/main" id="{7257127D-B5B9-4C72-87C0-1301557B6ED3}"/>
              </a:ext>
            </a:extLst>
          </p:cNvPr>
          <p:cNvSpPr>
            <a:spLocks xmlns:a="http://schemas.openxmlformats.org/drawingml/2006/main" noGrp="1"/>
          </p:cNvSpPr>
          <p:nvPr/>
        </p:nvSpPr>
        <p:spPr>
          <a:xfrm xmlns:a="http://schemas.openxmlformats.org/drawingml/2006/main">
            <a:off x="6553200" y="33337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What data can move?</a:t>
            </a:r>
          </a:p>
        </p:txBody>
      </p:sp>
      <p:sp>
        <p:nvSpPr>
          <p:cNvPr id="16" name="Straight Connector 15">
            <a:extLst xmlns:a="http://schemas.openxmlformats.org/drawingml/2006/main">
              <a:ext uri="{FF2B5EF4-FFF2-40B4-BE49-F238E27FC236}">
                <a16:creationId xmlns:a16="http://schemas.microsoft.com/office/drawing/2014/main" id="{0F526D70-0975-4929-87AE-44AAD50938D0}"/>
              </a:ext>
            </a:extLst>
          </p:cNvPr>
          <p:cNvSpPr>
            <a:spLocks xmlns:a="http://schemas.openxmlformats.org/drawingml/2006/main" noGrp="1"/>
          </p:cNvSpPr>
          <p:nvPr/>
        </p:nvSpPr>
        <p:spPr>
          <a:xfrm xmlns:a="http://schemas.openxmlformats.org/drawingml/2006/main">
            <a:off x="6553200" y="3810000"/>
            <a:ext cx="47625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10-question-2">
            <a:extLst xmlns:a="http://schemas.openxmlformats.org/drawingml/2006/main">
              <a:ext uri="{FF2B5EF4-FFF2-40B4-BE49-F238E27FC236}">
                <a16:creationId xmlns:a16="http://schemas.microsoft.com/office/drawing/2014/main" id="{28B23C6D-81A2-4C09-8E7A-89308E449F4E}"/>
              </a:ext>
            </a:extLst>
          </p:cNvPr>
          <p:cNvSpPr>
            <a:spLocks xmlns:a="http://schemas.openxmlformats.org/drawingml/2006/main" noGrp="1"/>
          </p:cNvSpPr>
          <p:nvPr/>
        </p:nvSpPr>
        <p:spPr>
          <a:xfrm xmlns:a="http://schemas.openxmlformats.org/drawingml/2006/main">
            <a:off x="6553200" y="40386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0">
                <a:solidFill>
                  <a:srgbClr val="F4F4F5"/>
                </a:solidFill>
                <a:latin typeface="Segoe UI"/>
                <a:ea typeface="Segoe UI"/>
                <a:cs typeface="Segoe UI"/>
              </a:defRPr>
            </a:pPr>
            <a:r>
              <a:rPr sz="2100" b="0">
                <a:solidFill>
                  <a:srgbClr val="F4F4F5"/>
                </a:solidFill>
                <a:latin typeface="Segoe UI"/>
                <a:ea typeface="Segoe UI"/>
                <a:cs typeface="Segoe UI"/>
              </a:rPr>
              <a:t>Which action needs approval?</a:t>
            </a:r>
          </a:p>
        </p:txBody>
      </p:sp>
      <p:sp>
        <p:nvSpPr>
          <p:cNvPr id="18" name="Straight Connector 17">
            <a:extLst xmlns:a="http://schemas.openxmlformats.org/drawingml/2006/main">
              <a:ext uri="{FF2B5EF4-FFF2-40B4-BE49-F238E27FC236}">
                <a16:creationId xmlns:a16="http://schemas.microsoft.com/office/drawing/2014/main" id="{91B91285-F611-422F-BC4D-A2E19817594E}"/>
              </a:ext>
            </a:extLst>
          </p:cNvPr>
          <p:cNvSpPr>
            <a:spLocks xmlns:a="http://schemas.openxmlformats.org/drawingml/2006/main" noGrp="1"/>
          </p:cNvSpPr>
          <p:nvPr/>
        </p:nvSpPr>
        <p:spPr>
          <a:xfrm xmlns:a="http://schemas.openxmlformats.org/drawingml/2006/main">
            <a:off x="6553200" y="4514850"/>
            <a:ext cx="47625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10-question-3">
            <a:extLst xmlns:a="http://schemas.openxmlformats.org/drawingml/2006/main">
              <a:ext uri="{FF2B5EF4-FFF2-40B4-BE49-F238E27FC236}">
                <a16:creationId xmlns:a16="http://schemas.microsoft.com/office/drawing/2014/main" id="{C6C97E74-03A3-4ADF-9237-03C82CB219DD}"/>
              </a:ext>
            </a:extLst>
          </p:cNvPr>
          <p:cNvSpPr>
            <a:spLocks xmlns:a="http://schemas.openxmlformats.org/drawingml/2006/main" noGrp="1"/>
          </p:cNvSpPr>
          <p:nvPr/>
        </p:nvSpPr>
        <p:spPr>
          <a:xfrm xmlns:a="http://schemas.openxmlformats.org/drawingml/2006/main">
            <a:off x="6553200" y="47434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0">
                <a:solidFill>
                  <a:srgbClr val="F4F4F5"/>
                </a:solidFill>
                <a:latin typeface="Segoe UI"/>
                <a:ea typeface="Segoe UI"/>
                <a:cs typeface="Segoe UI"/>
              </a:defRPr>
            </a:pPr>
            <a:r>
              <a:rPr sz="2100" b="0">
                <a:solidFill>
                  <a:srgbClr val="F4F4F5"/>
                </a:solidFill>
                <a:latin typeface="Segoe UI"/>
                <a:ea typeface="Segoe UI"/>
                <a:cs typeface="Segoe UI"/>
              </a:rPr>
              <a:t>What remains auditable?</a:t>
            </a:r>
          </a:p>
        </p:txBody>
      </p:sp>
      <p:sp>
        <p:nvSpPr>
          <p:cNvPr id="20" name="Straight Connector 19">
            <a:extLst xmlns:a="http://schemas.openxmlformats.org/drawingml/2006/main">
              <a:ext uri="{FF2B5EF4-FFF2-40B4-BE49-F238E27FC236}">
                <a16:creationId xmlns:a16="http://schemas.microsoft.com/office/drawing/2014/main" id="{B21E01FE-B9B7-4737-A0C0-CB9573BAA0B6}"/>
              </a:ext>
            </a:extLst>
          </p:cNvPr>
          <p:cNvSpPr>
            <a:spLocks xmlns:a="http://schemas.openxmlformats.org/drawingml/2006/main" noGrp="1"/>
          </p:cNvSpPr>
          <p:nvPr/>
        </p:nvSpPr>
        <p:spPr>
          <a:xfrm xmlns:a="http://schemas.openxmlformats.org/drawingml/2006/main">
            <a:off x="6553200" y="5219700"/>
            <a:ext cx="47625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10-bottom">
            <a:extLst xmlns:a="http://schemas.openxmlformats.org/drawingml/2006/main">
              <a:ext uri="{FF2B5EF4-FFF2-40B4-BE49-F238E27FC236}">
                <a16:creationId xmlns:a16="http://schemas.microsoft.com/office/drawing/2014/main" id="{33BEBBB1-061F-430E-84B6-392A56A871FF}"/>
              </a:ext>
            </a:extLst>
          </p:cNvPr>
          <p:cNvSpPr>
            <a:spLocks xmlns:a="http://schemas.openxmlformats.org/drawingml/2006/main" noGrp="1"/>
          </p:cNvSpPr>
          <p:nvPr/>
        </p:nvSpPr>
        <p:spPr>
          <a:xfrm xmlns:a="http://schemas.openxmlformats.org/drawingml/2006/main">
            <a:off x="6553200" y="55816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0">
                <a:solidFill>
                  <a:srgbClr val="B9BAC0"/>
                </a:solidFill>
                <a:latin typeface="Segoe UI"/>
                <a:ea typeface="Segoe UI"/>
                <a:cs typeface="Segoe UI"/>
              </a:defRPr>
            </a:pPr>
            <a:r>
              <a:rPr sz="1650" b="0">
                <a:solidFill>
                  <a:srgbClr val="B9BAC0"/>
                </a:solidFill>
                <a:latin typeface="Segoe UI"/>
                <a:ea typeface="Segoe UI"/>
                <a:cs typeface="Segoe UI"/>
              </a:rPr>
              <a:t>Governance answers questions that hosting cannot.</a:t>
            </a:r>
          </a:p>
        </p:txBody>
      </p:sp>
    </p:spTree>
    <p:extLst>
      <p:ext uri="{BB962C8B-B14F-4D97-AF65-F5344CB8AC3E}">
        <p14:creationId xmlns:p14="http://schemas.microsoft.com/office/powerpoint/2010/main" val="1306933370"/>
      </p:ext>
    </p:extLst>
  </p:cSld>
</p:sld>
</file>

<file path=ppt/slides/slide13.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18" name="s11-eyebrow">
            <a:extLst xmlns:a="http://schemas.openxmlformats.org/drawingml/2006/main">
              <a:ext uri="{FF2B5EF4-FFF2-40B4-BE49-F238E27FC236}">
                <a16:creationId xmlns:a16="http://schemas.microsoft.com/office/drawing/2014/main" id="{87624B95-9BF9-4FBF-843C-FE898CFD3988}"/>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TULA + M365 AGENT ECOSYSTEM</a:t>
            </a:r>
          </a:p>
        </p:txBody>
      </p:sp>
      <p:sp>
        <p:nvSpPr>
          <p:cNvPr id="2" name="s11-accent-rule">
            <a:extLst xmlns:a="http://schemas.openxmlformats.org/drawingml/2006/main">
              <a:ext uri="{FF2B5EF4-FFF2-40B4-BE49-F238E27FC236}">
                <a16:creationId xmlns:a16="http://schemas.microsoft.com/office/drawing/2014/main" id="{FF912ECD-7D5A-464A-9BB0-67F08DAB43CC}"/>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11-brand">
            <a:extLst xmlns:a="http://schemas.openxmlformats.org/drawingml/2006/main">
              <a:ext uri="{FF2B5EF4-FFF2-40B4-BE49-F238E27FC236}">
                <a16:creationId xmlns:a16="http://schemas.microsoft.com/office/drawing/2014/main" id="{4571E13E-B358-4F64-81E2-D9B4A319E624}"/>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11-number">
            <a:extLst xmlns:a="http://schemas.openxmlformats.org/drawingml/2006/main">
              <a:ext uri="{FF2B5EF4-FFF2-40B4-BE49-F238E27FC236}">
                <a16:creationId xmlns:a16="http://schemas.microsoft.com/office/drawing/2014/main" id="{FD4D4C7D-BCA9-47CE-953C-7B70BF1F3BE9}"/>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13</a:t>
            </a:r>
          </a:p>
        </p:txBody>
      </p:sp>
      <p:sp>
        <p:nvSpPr>
          <p:cNvPr id="5" name="s11-title">
            <a:extLst xmlns:a="http://schemas.openxmlformats.org/drawingml/2006/main">
              <a:ext uri="{FF2B5EF4-FFF2-40B4-BE49-F238E27FC236}">
                <a16:creationId xmlns:a16="http://schemas.microsoft.com/office/drawing/2014/main" id="{2A3D4FC8-45EC-4227-A327-431B8D05CAD3}"/>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450" b="1">
                <a:solidFill>
                  <a:srgbClr val="F4F4F5"/>
                </a:solidFill>
                <a:latin typeface="Segoe UI"/>
                <a:ea typeface="Segoe UI"/>
                <a:cs typeface="Segoe UI"/>
              </a:defRPr>
            </a:pPr>
            <a:r>
              <a:rPr sz="3450" b="1">
                <a:solidFill>
                  <a:srgbClr val="F4F4F5"/>
                </a:solidFill>
                <a:latin typeface="Segoe UI"/>
                <a:ea typeface="Segoe UI"/>
                <a:cs typeface="Segoe UI"/>
              </a:rPr>
              <a:t>Trust Bridge makes governance visible</a:t>
            </a:r>
          </a:p>
        </p:txBody>
      </p:sp>
      <p:sp>
        <p:nvSpPr>
          <p:cNvPr id="6" name="s11-governance-frame">
            <a:extLst xmlns:a="http://schemas.openxmlformats.org/drawingml/2006/main">
              <a:ext uri="{FF2B5EF4-FFF2-40B4-BE49-F238E27FC236}">
                <a16:creationId xmlns:a16="http://schemas.microsoft.com/office/drawing/2014/main" id="{FE6DF1E1-3C25-4FF9-A116-AE98F9F63667}"/>
              </a:ext>
            </a:extLst>
          </p:cNvPr>
          <p:cNvSpPr>
            <a:spLocks xmlns:a="http://schemas.openxmlformats.org/drawingml/2006/main" noGrp="1"/>
          </p:cNvSpPr>
          <p:nvPr/>
        </p:nvSpPr>
        <p:spPr>
          <a:xfrm xmlns:a="http://schemas.openxmlformats.org/drawingml/2006/main">
            <a:off x="609600" y="1504950"/>
            <a:ext cx="8229600" cy="4629150"/>
          </a:xfrm>
          <a:prstGeom xmlns:a="http://schemas.openxmlformats.org/drawingml/2006/main" prst="roundRect">
            <a:avLst>
              <a:gd name="adj" fmla="val 3704"/>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pic>
        <p:nvPicPr>
          <p:cNvPr id="26" name="Picture 23"/>
          <p:cNvPicPr>
            <a:picLocks xmlns:a="http://schemas.openxmlformats.org/drawingml/2006/main" noChangeAspect="1"/>
          </p:cNvPicPr>
          <p:nvPr/>
        </p:nvPicPr>
        <p:blipFill>
          <a:blip xmlns:r="http://schemas.openxmlformats.org/officeDocument/2006/relationships" xmlns:a="http://schemas.openxmlformats.org/drawingml/2006/main" r:embed="Rcdd517c2c30a4770"/>
          <a:srcRect xmlns:a="http://schemas.openxmlformats.org/drawingml/2006/main" l="0" t="1417" r="0" b="1417"/>
          <a:stretch xmlns:a="http://schemas.openxmlformats.org/drawingml/2006/main">
            <a:fillRect l="0" t="0" r="0" b="0"/>
          </a:stretch>
        </p:blipFill>
        <p:spPr>
          <a:xfrm xmlns:a="http://schemas.openxmlformats.org/drawingml/2006/main">
            <a:off x="723900" y="1619250"/>
            <a:ext cx="8001000" cy="4400550"/>
          </a:xfrm>
          <a:prstGeom xmlns:a="http://schemas.openxmlformats.org/drawingml/2006/main" prst="roundRect">
            <a:avLst>
              <a:gd name="adj" fmla="val 3030"/>
            </a:avLst>
          </a:prstGeom>
        </p:spPr>
      </p:pic>
      <p:sp>
        <p:nvSpPr>
          <p:cNvPr id="8" name="s11-callout-0-head">
            <a:extLst xmlns:a="http://schemas.openxmlformats.org/drawingml/2006/main">
              <a:ext uri="{FF2B5EF4-FFF2-40B4-BE49-F238E27FC236}">
                <a16:creationId xmlns:a16="http://schemas.microsoft.com/office/drawing/2014/main" id="{B9316AE9-F5F9-46AF-BE15-1A1D5C932550}"/>
              </a:ext>
            </a:extLst>
          </p:cNvPr>
          <p:cNvSpPr>
            <a:spLocks xmlns:a="http://schemas.openxmlformats.org/drawingml/2006/main" noGrp="1"/>
          </p:cNvSpPr>
          <p:nvPr/>
        </p:nvSpPr>
        <p:spPr>
          <a:xfrm xmlns:a="http://schemas.openxmlformats.org/drawingml/2006/main">
            <a:off x="9258300" y="17145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C33148"/>
                </a:solidFill>
                <a:latin typeface="Consolas"/>
                <a:ea typeface="Consolas"/>
                <a:cs typeface="Consolas"/>
              </a:defRPr>
            </a:pPr>
            <a:r>
              <a:rPr sz="1350" b="1">
                <a:solidFill>
                  <a:srgbClr val="C33148"/>
                </a:solidFill>
                <a:latin typeface="Consolas"/>
                <a:ea typeface="Consolas"/>
                <a:cs typeface="Consolas"/>
              </a:rPr>
              <a:t>CONSENT</a:t>
            </a:r>
          </a:p>
        </p:txBody>
      </p:sp>
      <p:sp>
        <p:nvSpPr>
          <p:cNvPr id="9" name="s11-callout-0-body">
            <a:extLst xmlns:a="http://schemas.openxmlformats.org/drawingml/2006/main">
              <a:ext uri="{FF2B5EF4-FFF2-40B4-BE49-F238E27FC236}">
                <a16:creationId xmlns:a16="http://schemas.microsoft.com/office/drawing/2014/main" id="{AEDAE3E8-7932-44D7-ADF1-F52AFD670E0E}"/>
              </a:ext>
            </a:extLst>
          </p:cNvPr>
          <p:cNvSpPr>
            <a:spLocks xmlns:a="http://schemas.openxmlformats.org/drawingml/2006/main" noGrp="1"/>
          </p:cNvSpPr>
          <p:nvPr/>
        </p:nvSpPr>
        <p:spPr>
          <a:xfrm xmlns:a="http://schemas.openxmlformats.org/drawingml/2006/main">
            <a:off x="9258300" y="21145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F4F4F5"/>
                </a:solidFill>
                <a:latin typeface="Segoe UI"/>
                <a:ea typeface="Segoe UI"/>
                <a:cs typeface="Segoe UI"/>
              </a:defRPr>
            </a:pPr>
            <a:r>
              <a:rPr sz="1875" b="1">
                <a:solidFill>
                  <a:srgbClr val="F4F4F5"/>
                </a:solidFill>
                <a:latin typeface="Segoe UI"/>
                <a:ea typeface="Segoe UI"/>
                <a:cs typeface="Segoe UI"/>
              </a:rPr>
              <a:t>Should this bridge exist?</a:t>
            </a:r>
          </a:p>
        </p:txBody>
      </p:sp>
      <p:sp>
        <p:nvSpPr>
          <p:cNvPr id="10" name="Straight Connector 9">
            <a:extLst xmlns:a="http://schemas.openxmlformats.org/drawingml/2006/main">
              <a:ext uri="{FF2B5EF4-FFF2-40B4-BE49-F238E27FC236}">
                <a16:creationId xmlns:a16="http://schemas.microsoft.com/office/drawing/2014/main" id="{BA392B34-CA0B-4812-892C-6C7D53CAB939}"/>
              </a:ext>
            </a:extLst>
          </p:cNvPr>
          <p:cNvSpPr>
            <a:spLocks xmlns:a="http://schemas.openxmlformats.org/drawingml/2006/main" noGrp="1"/>
          </p:cNvSpPr>
          <p:nvPr/>
        </p:nvSpPr>
        <p:spPr>
          <a:xfrm xmlns:a="http://schemas.openxmlformats.org/drawingml/2006/main">
            <a:off x="9258300" y="2819400"/>
            <a:ext cx="22860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1-callout-1-head">
            <a:extLst xmlns:a="http://schemas.openxmlformats.org/drawingml/2006/main">
              <a:ext uri="{FF2B5EF4-FFF2-40B4-BE49-F238E27FC236}">
                <a16:creationId xmlns:a16="http://schemas.microsoft.com/office/drawing/2014/main" id="{1E414004-7206-4A60-B764-09067A84FD3B}"/>
              </a:ext>
            </a:extLst>
          </p:cNvPr>
          <p:cNvSpPr>
            <a:spLocks xmlns:a="http://schemas.openxmlformats.org/drawingml/2006/main" noGrp="1"/>
          </p:cNvSpPr>
          <p:nvPr/>
        </p:nvSpPr>
        <p:spPr>
          <a:xfrm xmlns:a="http://schemas.openxmlformats.org/drawingml/2006/main">
            <a:off x="9258300" y="30670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F0B84B"/>
                </a:solidFill>
                <a:latin typeface="Consolas"/>
                <a:ea typeface="Consolas"/>
                <a:cs typeface="Consolas"/>
              </a:defRPr>
            </a:pPr>
            <a:r>
              <a:rPr sz="1350" b="1">
                <a:solidFill>
                  <a:srgbClr val="F0B84B"/>
                </a:solidFill>
                <a:latin typeface="Consolas"/>
                <a:ea typeface="Consolas"/>
                <a:cs typeface="Consolas"/>
              </a:rPr>
              <a:t>ATTENTION</a:t>
            </a:r>
          </a:p>
        </p:txBody>
      </p:sp>
      <p:sp>
        <p:nvSpPr>
          <p:cNvPr id="12" name="s11-callout-1-body">
            <a:extLst xmlns:a="http://schemas.openxmlformats.org/drawingml/2006/main">
              <a:ext uri="{FF2B5EF4-FFF2-40B4-BE49-F238E27FC236}">
                <a16:creationId xmlns:a16="http://schemas.microsoft.com/office/drawing/2014/main" id="{C8D9A00F-D2A9-4512-B4E5-A6F50830E5A1}"/>
              </a:ext>
            </a:extLst>
          </p:cNvPr>
          <p:cNvSpPr>
            <a:spLocks xmlns:a="http://schemas.openxmlformats.org/drawingml/2006/main" noGrp="1"/>
          </p:cNvSpPr>
          <p:nvPr/>
        </p:nvSpPr>
        <p:spPr>
          <a:xfrm xmlns:a="http://schemas.openxmlformats.org/drawingml/2006/main">
            <a:off x="9258300" y="34671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F4F4F5"/>
                </a:solidFill>
                <a:latin typeface="Segoe UI"/>
                <a:ea typeface="Segoe UI"/>
                <a:cs typeface="Segoe UI"/>
              </a:defRPr>
            </a:pPr>
            <a:r>
              <a:rPr sz="1875" b="1">
                <a:solidFill>
                  <a:srgbClr val="F4F4F5"/>
                </a:solidFill>
                <a:latin typeface="Segoe UI"/>
                <a:ea typeface="Segoe UI"/>
                <a:cs typeface="Segoe UI"/>
              </a:rPr>
              <a:t>What needs intervention?</a:t>
            </a:r>
          </a:p>
        </p:txBody>
      </p:sp>
      <p:sp>
        <p:nvSpPr>
          <p:cNvPr id="13" name="Straight Connector 12">
            <a:extLst xmlns:a="http://schemas.openxmlformats.org/drawingml/2006/main">
              <a:ext uri="{FF2B5EF4-FFF2-40B4-BE49-F238E27FC236}">
                <a16:creationId xmlns:a16="http://schemas.microsoft.com/office/drawing/2014/main" id="{60C02364-033B-45E6-A475-54370540CF6B}"/>
              </a:ext>
            </a:extLst>
          </p:cNvPr>
          <p:cNvSpPr>
            <a:spLocks xmlns:a="http://schemas.openxmlformats.org/drawingml/2006/main" noGrp="1"/>
          </p:cNvSpPr>
          <p:nvPr/>
        </p:nvSpPr>
        <p:spPr>
          <a:xfrm xmlns:a="http://schemas.openxmlformats.org/drawingml/2006/main">
            <a:off x="9258300" y="4171950"/>
            <a:ext cx="22860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1-callout-2-head">
            <a:extLst xmlns:a="http://schemas.openxmlformats.org/drawingml/2006/main">
              <a:ext uri="{FF2B5EF4-FFF2-40B4-BE49-F238E27FC236}">
                <a16:creationId xmlns:a16="http://schemas.microsoft.com/office/drawing/2014/main" id="{558594DC-25C2-4C5D-A4F9-E3DA0526D980}"/>
              </a:ext>
            </a:extLst>
          </p:cNvPr>
          <p:cNvSpPr>
            <a:spLocks xmlns:a="http://schemas.openxmlformats.org/drawingml/2006/main" noGrp="1"/>
          </p:cNvSpPr>
          <p:nvPr/>
        </p:nvSpPr>
        <p:spPr>
          <a:xfrm xmlns:a="http://schemas.openxmlformats.org/drawingml/2006/main">
            <a:off x="9258300" y="44196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38C7D9"/>
                </a:solidFill>
                <a:latin typeface="Consolas"/>
                <a:ea typeface="Consolas"/>
                <a:cs typeface="Consolas"/>
              </a:defRPr>
            </a:pPr>
            <a:r>
              <a:rPr sz="1350" b="1">
                <a:solidFill>
                  <a:srgbClr val="38C7D9"/>
                </a:solidFill>
                <a:latin typeface="Consolas"/>
                <a:ea typeface="Consolas"/>
                <a:cs typeface="Consolas"/>
              </a:rPr>
              <a:t>AUDIT</a:t>
            </a:r>
          </a:p>
        </p:txBody>
      </p:sp>
      <p:sp>
        <p:nvSpPr>
          <p:cNvPr id="15" name="s11-callout-2-body">
            <a:extLst xmlns:a="http://schemas.openxmlformats.org/drawingml/2006/main">
              <a:ext uri="{FF2B5EF4-FFF2-40B4-BE49-F238E27FC236}">
                <a16:creationId xmlns:a16="http://schemas.microsoft.com/office/drawing/2014/main" id="{07CBC67B-108B-422E-8547-74FC4B081416}"/>
              </a:ext>
            </a:extLst>
          </p:cNvPr>
          <p:cNvSpPr>
            <a:spLocks xmlns:a="http://schemas.openxmlformats.org/drawingml/2006/main" noGrp="1"/>
          </p:cNvSpPr>
          <p:nvPr/>
        </p:nvSpPr>
        <p:spPr>
          <a:xfrm xmlns:a="http://schemas.openxmlformats.org/drawingml/2006/main">
            <a:off x="9258300" y="48196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F4F4F5"/>
                </a:solidFill>
                <a:latin typeface="Segoe UI"/>
                <a:ea typeface="Segoe UI"/>
                <a:cs typeface="Segoe UI"/>
              </a:defRPr>
            </a:pPr>
            <a:r>
              <a:rPr sz="1875" b="1">
                <a:solidFill>
                  <a:srgbClr val="F4F4F5"/>
                </a:solidFill>
                <a:latin typeface="Segoe UI"/>
                <a:ea typeface="Segoe UI"/>
                <a:cs typeface="Segoe UI"/>
              </a:rPr>
              <a:t>Can we explain the decision?</a:t>
            </a:r>
          </a:p>
        </p:txBody>
      </p:sp>
      <p:sp>
        <p:nvSpPr>
          <p:cNvPr id="16" name="Straight Connector 15">
            <a:extLst xmlns:a="http://schemas.openxmlformats.org/drawingml/2006/main">
              <a:ext uri="{FF2B5EF4-FFF2-40B4-BE49-F238E27FC236}">
                <a16:creationId xmlns:a16="http://schemas.microsoft.com/office/drawing/2014/main" id="{3992C86B-ED03-42CE-B012-E1CDC1A9A56F}"/>
              </a:ext>
            </a:extLst>
          </p:cNvPr>
          <p:cNvSpPr>
            <a:spLocks xmlns:a="http://schemas.openxmlformats.org/drawingml/2006/main" noGrp="1"/>
          </p:cNvSpPr>
          <p:nvPr/>
        </p:nvSpPr>
        <p:spPr>
          <a:xfrm xmlns:a="http://schemas.openxmlformats.org/drawingml/2006/main">
            <a:off x="9258300" y="5524500"/>
            <a:ext cx="2286000" cy="0"/>
          </a:xfrm>
          <a:prstGeom xmlns:a="http://schemas.openxmlformats.org/drawingml/2006/main" prst="line">
            <a:avLst/>
          </a:prstGeom>
          <a:noFill xmlns:a="http://schemas.openxmlformats.org/drawingml/2006/main"/>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11-synthetic">
            <a:extLst xmlns:a="http://schemas.openxmlformats.org/drawingml/2006/main">
              <a:ext uri="{FF2B5EF4-FFF2-40B4-BE49-F238E27FC236}">
                <a16:creationId xmlns:a16="http://schemas.microsoft.com/office/drawing/2014/main" id="{44B3EAC1-2767-467D-BD9A-B9BD459465A1}"/>
              </a:ext>
            </a:extLst>
          </p:cNvPr>
          <p:cNvSpPr>
            <a:spLocks xmlns:a="http://schemas.openxmlformats.org/drawingml/2006/main" noGrp="1"/>
          </p:cNvSpPr>
          <p:nvPr/>
        </p:nvSpPr>
        <p:spPr>
          <a:xfrm xmlns:a="http://schemas.openxmlformats.org/drawingml/2006/main">
            <a:off x="9258300" y="57340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975" b="1">
                <a:solidFill>
                  <a:srgbClr val="7B7E87"/>
                </a:solidFill>
                <a:latin typeface="Consolas"/>
                <a:ea typeface="Consolas"/>
                <a:cs typeface="Consolas"/>
              </a:defRPr>
            </a:pPr>
            <a:r>
              <a:rPr sz="975" b="1">
                <a:solidFill>
                  <a:srgbClr val="7B7E87"/>
                </a:solidFill>
                <a:latin typeface="Consolas"/>
                <a:ea typeface="Consolas"/>
                <a:cs typeface="Consolas"/>
              </a:rPr>
              <a:t>SYNTHETIC DEMO DATA</a:t>
            </a:r>
          </a:p>
        </p:txBody>
      </p:sp>
    </p:spTree>
    <p:extLst>
      <p:ext uri="{BB962C8B-B14F-4D97-AF65-F5344CB8AC3E}">
        <p14:creationId xmlns:p14="http://schemas.microsoft.com/office/powerpoint/2010/main" val="551130291"/>
      </p:ext>
    </p:extLst>
  </p:cSld>
</p:sld>
</file>

<file path=ppt/slides/slide14.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sp>
        <p:nvSpPr>
          <p:cNvPr id="17" name="s12-eyebrow">
            <a:extLst xmlns:a="http://schemas.openxmlformats.org/drawingml/2006/main">
              <a:ext uri="{FF2B5EF4-FFF2-40B4-BE49-F238E27FC236}">
                <a16:creationId xmlns:a16="http://schemas.microsoft.com/office/drawing/2014/main" id="{053D7B22-C6EE-4327-AB2B-49C8E990DFD2}"/>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LIVE DEMO 03 // TRUST BRIDGE</a:t>
            </a:r>
          </a:p>
        </p:txBody>
      </p:sp>
      <p:sp>
        <p:nvSpPr>
          <p:cNvPr id="2" name="s12-accent-rule">
            <a:extLst xmlns:a="http://schemas.openxmlformats.org/drawingml/2006/main">
              <a:ext uri="{FF2B5EF4-FFF2-40B4-BE49-F238E27FC236}">
                <a16:creationId xmlns:a16="http://schemas.microsoft.com/office/drawing/2014/main" id="{5E87C467-6149-4724-B613-F88B72C97251}"/>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12-brand">
            <a:extLst xmlns:a="http://schemas.openxmlformats.org/drawingml/2006/main">
              <a:ext uri="{FF2B5EF4-FFF2-40B4-BE49-F238E27FC236}">
                <a16:creationId xmlns:a16="http://schemas.microsoft.com/office/drawing/2014/main" id="{3C9B2494-3DEB-4102-B7E0-B6C1F769967A}"/>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12-number">
            <a:extLst xmlns:a="http://schemas.openxmlformats.org/drawingml/2006/main">
              <a:ext uri="{FF2B5EF4-FFF2-40B4-BE49-F238E27FC236}">
                <a16:creationId xmlns:a16="http://schemas.microsoft.com/office/drawing/2014/main" id="{8EA3053C-269B-48BE-A781-E137715DBF1B}"/>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14</a:t>
            </a:r>
          </a:p>
        </p:txBody>
      </p:sp>
      <p:sp>
        <p:nvSpPr>
          <p:cNvPr id="5" name="s12-demo-number">
            <a:extLst xmlns:a="http://schemas.openxmlformats.org/drawingml/2006/main">
              <a:ext uri="{FF2B5EF4-FFF2-40B4-BE49-F238E27FC236}">
                <a16:creationId xmlns:a16="http://schemas.microsoft.com/office/drawing/2014/main" id="{302CA7C8-A3F4-41EE-88B9-7936D4C256BF}"/>
              </a:ext>
            </a:extLst>
          </p:cNvPr>
          <p:cNvSpPr>
            <a:spLocks xmlns:a="http://schemas.openxmlformats.org/drawingml/2006/main" noGrp="1"/>
          </p:cNvSpPr>
          <p:nvPr/>
        </p:nvSpPr>
        <p:spPr>
          <a:xfrm xmlns:a="http://schemas.openxmlformats.org/drawingml/2006/main">
            <a:off x="609600" y="1428750"/>
            <a:ext cx="3162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0" b="1">
                <a:solidFill>
                  <a:srgbClr val="9B1C2C"/>
                </a:solidFill>
                <a:latin typeface="Consolas"/>
                <a:ea typeface="Consolas"/>
                <a:cs typeface="Consolas"/>
              </a:defRPr>
            </a:pPr>
            <a:r>
              <a:rPr sz="13500" b="1">
                <a:solidFill>
                  <a:srgbClr val="9B1C2C"/>
                </a:solidFill>
                <a:latin typeface="Consolas"/>
                <a:ea typeface="Consolas"/>
                <a:cs typeface="Consolas"/>
              </a:rPr>
              <a:t>03</a:t>
            </a:r>
          </a:p>
        </p:txBody>
      </p:sp>
      <p:sp>
        <p:nvSpPr>
          <p:cNvPr id="6" name="s12-title">
            <a:extLst xmlns:a="http://schemas.openxmlformats.org/drawingml/2006/main">
              <a:ext uri="{FF2B5EF4-FFF2-40B4-BE49-F238E27FC236}">
                <a16:creationId xmlns:a16="http://schemas.microsoft.com/office/drawing/2014/main" id="{68151960-F993-4147-9355-A6B341992BB8}"/>
              </a:ext>
            </a:extLst>
          </p:cNvPr>
          <p:cNvSpPr>
            <a:spLocks xmlns:a="http://schemas.openxmlformats.org/drawingml/2006/main" noGrp="1"/>
          </p:cNvSpPr>
          <p:nvPr/>
        </p:nvSpPr>
        <p:spPr>
          <a:xfrm xmlns:a="http://schemas.openxmlformats.org/drawingml/2006/main">
            <a:off x="4476750" y="990600"/>
            <a:ext cx="676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036" lnSpcReduction="20000"/>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Trace one interaction across the bridge</a:t>
            </a:r>
          </a:p>
        </p:txBody>
      </p:sp>
      <p:sp>
        <p:nvSpPr>
          <p:cNvPr id="7" name="s12-step-1-num">
            <a:extLst xmlns:a="http://schemas.openxmlformats.org/drawingml/2006/main">
              <a:ext uri="{FF2B5EF4-FFF2-40B4-BE49-F238E27FC236}">
                <a16:creationId xmlns:a16="http://schemas.microsoft.com/office/drawing/2014/main" id="{819E0958-C5A9-4B76-A120-5EF5D482BDE4}"/>
              </a:ext>
            </a:extLst>
          </p:cNvPr>
          <p:cNvSpPr>
            <a:spLocks xmlns:a="http://schemas.openxmlformats.org/drawingml/2006/main" noGrp="1"/>
          </p:cNvSpPr>
          <p:nvPr/>
        </p:nvSpPr>
        <p:spPr>
          <a:xfrm xmlns:a="http://schemas.openxmlformats.org/drawingml/2006/main">
            <a:off x="4476750" y="215265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01</a:t>
            </a:r>
          </a:p>
        </p:txBody>
      </p:sp>
      <p:sp>
        <p:nvSpPr>
          <p:cNvPr id="8" name="s12-step-1-title">
            <a:extLst xmlns:a="http://schemas.openxmlformats.org/drawingml/2006/main">
              <a:ext uri="{FF2B5EF4-FFF2-40B4-BE49-F238E27FC236}">
                <a16:creationId xmlns:a16="http://schemas.microsoft.com/office/drawing/2014/main" id="{731D80A0-2EAA-42C1-9997-544B8640CE96}"/>
              </a:ext>
            </a:extLst>
          </p:cNvPr>
          <p:cNvSpPr>
            <a:spLocks xmlns:a="http://schemas.openxmlformats.org/drawingml/2006/main" noGrp="1"/>
          </p:cNvSpPr>
          <p:nvPr/>
        </p:nvSpPr>
        <p:spPr>
          <a:xfrm xmlns:a="http://schemas.openxmlformats.org/drawingml/2006/main">
            <a:off x="5143500" y="2114550"/>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Filter</a:t>
            </a:r>
          </a:p>
        </p:txBody>
      </p:sp>
      <p:sp>
        <p:nvSpPr>
          <p:cNvPr id="9" name="s12-step-1-body">
            <a:extLst xmlns:a="http://schemas.openxmlformats.org/drawingml/2006/main">
              <a:ext uri="{FF2B5EF4-FFF2-40B4-BE49-F238E27FC236}">
                <a16:creationId xmlns:a16="http://schemas.microsoft.com/office/drawing/2014/main" id="{BF1379F9-277B-4720-B9D5-D6FFBBF6944B}"/>
              </a:ext>
            </a:extLst>
          </p:cNvPr>
          <p:cNvSpPr>
            <a:spLocks xmlns:a="http://schemas.openxmlformats.org/drawingml/2006/main" noGrp="1"/>
          </p:cNvSpPr>
          <p:nvPr/>
        </p:nvSpPr>
        <p:spPr>
          <a:xfrm xmlns:a="http://schemas.openxmlformats.org/drawingml/2006/main">
            <a:off x="5143500" y="249555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Show only consent-blocked interactions.</a:t>
            </a:r>
          </a:p>
        </p:txBody>
      </p:sp>
      <p:sp>
        <p:nvSpPr>
          <p:cNvPr id="10" name="s12-step-2-num">
            <a:extLst xmlns:a="http://schemas.openxmlformats.org/drawingml/2006/main">
              <a:ext uri="{FF2B5EF4-FFF2-40B4-BE49-F238E27FC236}">
                <a16:creationId xmlns:a16="http://schemas.microsoft.com/office/drawing/2014/main" id="{8CF5803E-F8AF-47A7-9A36-44258B980B26}"/>
              </a:ext>
            </a:extLst>
          </p:cNvPr>
          <p:cNvSpPr>
            <a:spLocks xmlns:a="http://schemas.openxmlformats.org/drawingml/2006/main" noGrp="1"/>
          </p:cNvSpPr>
          <p:nvPr/>
        </p:nvSpPr>
        <p:spPr>
          <a:xfrm xmlns:a="http://schemas.openxmlformats.org/drawingml/2006/main">
            <a:off x="4476750" y="33528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02</a:t>
            </a:r>
          </a:p>
        </p:txBody>
      </p:sp>
      <p:sp>
        <p:nvSpPr>
          <p:cNvPr id="11" name="s12-step-2-title">
            <a:extLst xmlns:a="http://schemas.openxmlformats.org/drawingml/2006/main">
              <a:ext uri="{FF2B5EF4-FFF2-40B4-BE49-F238E27FC236}">
                <a16:creationId xmlns:a16="http://schemas.microsoft.com/office/drawing/2014/main" id="{78FF5C80-A204-4312-A1E0-20212A804CFA}"/>
              </a:ext>
            </a:extLst>
          </p:cNvPr>
          <p:cNvSpPr>
            <a:spLocks xmlns:a="http://schemas.openxmlformats.org/drawingml/2006/main" noGrp="1"/>
          </p:cNvSpPr>
          <p:nvPr/>
        </p:nvSpPr>
        <p:spPr>
          <a:xfrm xmlns:a="http://schemas.openxmlformats.org/drawingml/2006/main">
            <a:off x="5143500" y="3314700"/>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Select</a:t>
            </a:r>
          </a:p>
        </p:txBody>
      </p:sp>
      <p:sp>
        <p:nvSpPr>
          <p:cNvPr id="12" name="s12-step-2-body">
            <a:extLst xmlns:a="http://schemas.openxmlformats.org/drawingml/2006/main">
              <a:ext uri="{FF2B5EF4-FFF2-40B4-BE49-F238E27FC236}">
                <a16:creationId xmlns:a16="http://schemas.microsoft.com/office/drawing/2014/main" id="{7DD03C3C-9220-491F-BC7F-DF4B4674FE07}"/>
              </a:ext>
            </a:extLst>
          </p:cNvPr>
          <p:cNvSpPr>
            <a:spLocks xmlns:a="http://schemas.openxmlformats.org/drawingml/2006/main" noGrp="1"/>
          </p:cNvSpPr>
          <p:nvPr/>
        </p:nvSpPr>
        <p:spPr>
          <a:xfrm xmlns:a="http://schemas.openxmlformats.org/drawingml/2006/main">
            <a:off x="5143500" y="369570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Open one patient-to-M365 bridge.</a:t>
            </a:r>
          </a:p>
        </p:txBody>
      </p:sp>
      <p:sp>
        <p:nvSpPr>
          <p:cNvPr id="13" name="s12-step-3-num">
            <a:extLst xmlns:a="http://schemas.openxmlformats.org/drawingml/2006/main">
              <a:ext uri="{FF2B5EF4-FFF2-40B4-BE49-F238E27FC236}">
                <a16:creationId xmlns:a16="http://schemas.microsoft.com/office/drawing/2014/main" id="{D6A2DC0A-242F-409C-804B-25B817F1405C}"/>
              </a:ext>
            </a:extLst>
          </p:cNvPr>
          <p:cNvSpPr>
            <a:spLocks xmlns:a="http://schemas.openxmlformats.org/drawingml/2006/main" noGrp="1"/>
          </p:cNvSpPr>
          <p:nvPr/>
        </p:nvSpPr>
        <p:spPr>
          <a:xfrm xmlns:a="http://schemas.openxmlformats.org/drawingml/2006/main">
            <a:off x="4476750" y="455295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C33148"/>
                </a:solidFill>
                <a:latin typeface="Consolas"/>
                <a:ea typeface="Consolas"/>
                <a:cs typeface="Consolas"/>
              </a:defRPr>
            </a:pPr>
            <a:r>
              <a:rPr sz="1500" b="1">
                <a:solidFill>
                  <a:srgbClr val="C33148"/>
                </a:solidFill>
                <a:latin typeface="Consolas"/>
                <a:ea typeface="Consolas"/>
                <a:cs typeface="Consolas"/>
              </a:rPr>
              <a:t>03</a:t>
            </a:r>
          </a:p>
        </p:txBody>
      </p:sp>
      <p:sp>
        <p:nvSpPr>
          <p:cNvPr id="14" name="s12-step-3-title">
            <a:extLst xmlns:a="http://schemas.openxmlformats.org/drawingml/2006/main">
              <a:ext uri="{FF2B5EF4-FFF2-40B4-BE49-F238E27FC236}">
                <a16:creationId xmlns:a16="http://schemas.microsoft.com/office/drawing/2014/main" id="{EB0BC0F4-74D3-4A9B-8ADA-99D605F333F9}"/>
              </a:ext>
            </a:extLst>
          </p:cNvPr>
          <p:cNvSpPr>
            <a:spLocks xmlns:a="http://schemas.openxmlformats.org/drawingml/2006/main" noGrp="1"/>
          </p:cNvSpPr>
          <p:nvPr/>
        </p:nvSpPr>
        <p:spPr>
          <a:xfrm xmlns:a="http://schemas.openxmlformats.org/drawingml/2006/main">
            <a:off x="5143500" y="4514850"/>
            <a:ext cx="600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100" b="1">
                <a:solidFill>
                  <a:srgbClr val="F4F4F5"/>
                </a:solidFill>
                <a:latin typeface="Segoe UI"/>
                <a:ea typeface="Segoe UI"/>
                <a:cs typeface="Segoe UI"/>
              </a:defRPr>
            </a:pPr>
            <a:r>
              <a:rPr sz="2100" b="1">
                <a:solidFill>
                  <a:srgbClr val="F4F4F5"/>
                </a:solidFill>
                <a:latin typeface="Segoe UI"/>
                <a:ea typeface="Segoe UI"/>
                <a:cs typeface="Segoe UI"/>
              </a:rPr>
              <a:t>Explain</a:t>
            </a:r>
          </a:p>
        </p:txBody>
      </p:sp>
      <p:sp>
        <p:nvSpPr>
          <p:cNvPr id="15" name="s12-step-3-body">
            <a:extLst xmlns:a="http://schemas.openxmlformats.org/drawingml/2006/main">
              <a:ext uri="{FF2B5EF4-FFF2-40B4-BE49-F238E27FC236}">
                <a16:creationId xmlns:a16="http://schemas.microsoft.com/office/drawing/2014/main" id="{64FCAE65-7102-4419-BFDE-F8C2E780D9AD}"/>
              </a:ext>
            </a:extLst>
          </p:cNvPr>
          <p:cNvSpPr>
            <a:spLocks xmlns:a="http://schemas.openxmlformats.org/drawingml/2006/main" noGrp="1"/>
          </p:cNvSpPr>
          <p:nvPr/>
        </p:nvSpPr>
        <p:spPr>
          <a:xfrm xmlns:a="http://schemas.openxmlformats.org/drawingml/2006/main">
            <a:off x="5143500" y="4895850"/>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Follow the reason into policy and audit.</a:t>
            </a:r>
          </a:p>
        </p:txBody>
      </p:sp>
      <p:sp>
        <p:nvSpPr>
          <p:cNvPr id="16" name="s12-demo-question">
            <a:extLst xmlns:a="http://schemas.openxmlformats.org/drawingml/2006/main">
              <a:ext uri="{FF2B5EF4-FFF2-40B4-BE49-F238E27FC236}">
                <a16:creationId xmlns:a16="http://schemas.microsoft.com/office/drawing/2014/main" id="{5F7FDC5D-0ABC-4CAD-B606-CF210B3E3D4D}"/>
              </a:ext>
            </a:extLst>
          </p:cNvPr>
          <p:cNvSpPr>
            <a:spLocks xmlns:a="http://schemas.openxmlformats.org/drawingml/2006/main" noGrp="1"/>
          </p:cNvSpPr>
          <p:nvPr/>
        </p:nvSpPr>
        <p:spPr>
          <a:xfrm xmlns:a="http://schemas.openxmlformats.org/drawingml/2006/main">
            <a:off x="4476750" y="58102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38C7D9"/>
                </a:solidFill>
                <a:latin typeface="Consolas"/>
                <a:ea typeface="Consolas"/>
                <a:cs typeface="Consolas"/>
              </a:defRPr>
            </a:pPr>
            <a:r>
              <a:rPr sz="1125" b="1">
                <a:solidFill>
                  <a:srgbClr val="38C7D9"/>
                </a:solidFill>
                <a:latin typeface="Consolas"/>
                <a:ea typeface="Consolas"/>
                <a:cs typeface="Consolas"/>
              </a:rPr>
              <a:t>WHAT PREVENTED THE ACTION, AND CAN WE PROVE IT?</a:t>
            </a:r>
          </a:p>
        </p:txBody>
      </p:sp>
    </p:spTree>
    <p:extLst>
      <p:ext uri="{BB962C8B-B14F-4D97-AF65-F5344CB8AC3E}">
        <p14:creationId xmlns:p14="http://schemas.microsoft.com/office/powerpoint/2010/main" val="1309777477"/>
      </p:ext>
    </p:extLst>
  </p:cSld>
</p:sld>
</file>

<file path=ppt/slides/slide15.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18" name="s13-eyebrow">
            <a:extLst xmlns:a="http://schemas.openxmlformats.org/drawingml/2006/main">
              <a:ext uri="{FF2B5EF4-FFF2-40B4-BE49-F238E27FC236}">
                <a16:creationId xmlns:a16="http://schemas.microsoft.com/office/drawing/2014/main" id="{09C2A856-4E39-4F01-8ECA-16435F38D7B3}"/>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REUSABLE PATTERN</a:t>
            </a:r>
          </a:p>
        </p:txBody>
      </p:sp>
      <p:sp>
        <p:nvSpPr>
          <p:cNvPr id="2" name="s13-accent-rule">
            <a:extLst xmlns:a="http://schemas.openxmlformats.org/drawingml/2006/main">
              <a:ext uri="{FF2B5EF4-FFF2-40B4-BE49-F238E27FC236}">
                <a16:creationId xmlns:a16="http://schemas.microsoft.com/office/drawing/2014/main" id="{BC01F4BB-5DB2-4815-A437-9A442B389FE2}"/>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13-brand">
            <a:extLst xmlns:a="http://schemas.openxmlformats.org/drawingml/2006/main">
              <a:ext uri="{FF2B5EF4-FFF2-40B4-BE49-F238E27FC236}">
                <a16:creationId xmlns:a16="http://schemas.microsoft.com/office/drawing/2014/main" id="{C8459047-B756-498B-9CC8-7CECAB731A32}"/>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13-number">
            <a:extLst xmlns:a="http://schemas.openxmlformats.org/drawingml/2006/main">
              <a:ext uri="{FF2B5EF4-FFF2-40B4-BE49-F238E27FC236}">
                <a16:creationId xmlns:a16="http://schemas.microsoft.com/office/drawing/2014/main" id="{EA57A3CB-4C87-4874-B37D-C79D6B4C1433}"/>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15</a:t>
            </a:r>
          </a:p>
        </p:txBody>
      </p:sp>
      <p:sp>
        <p:nvSpPr>
          <p:cNvPr id="5" name="s13-title">
            <a:extLst xmlns:a="http://schemas.openxmlformats.org/drawingml/2006/main">
              <a:ext uri="{FF2B5EF4-FFF2-40B4-BE49-F238E27FC236}">
                <a16:creationId xmlns:a16="http://schemas.microsoft.com/office/drawing/2014/main" id="{0F576D56-9AC4-4213-9C5A-F97E4F859322}"/>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600" b="1">
                <a:solidFill>
                  <a:srgbClr val="F4F4F5"/>
                </a:solidFill>
                <a:latin typeface="Segoe UI"/>
                <a:ea typeface="Segoe UI"/>
                <a:cs typeface="Segoe UI"/>
              </a:defRPr>
            </a:pPr>
            <a:r>
              <a:rPr sz="3600" b="1">
                <a:solidFill>
                  <a:srgbClr val="F4F4F5"/>
                </a:solidFill>
                <a:latin typeface="Segoe UI"/>
                <a:ea typeface="Segoe UI"/>
                <a:cs typeface="Segoe UI"/>
              </a:rPr>
              <a:t>The pattern holds across agent domains.</a:t>
            </a:r>
          </a:p>
        </p:txBody>
      </p:sp>
      <p:sp>
        <p:nvSpPr>
          <p:cNvPr id="6" name="s13-governance-layer">
            <a:extLst xmlns:a="http://schemas.openxmlformats.org/drawingml/2006/main">
              <a:ext uri="{FF2B5EF4-FFF2-40B4-BE49-F238E27FC236}">
                <a16:creationId xmlns:a16="http://schemas.microsoft.com/office/drawing/2014/main" id="{B897B841-71E5-44D7-BE62-A377D85A3547}"/>
              </a:ext>
            </a:extLst>
          </p:cNvPr>
          <p:cNvSpPr>
            <a:spLocks xmlns:a="http://schemas.openxmlformats.org/drawingml/2006/main" noGrp="1"/>
          </p:cNvSpPr>
          <p:nvPr/>
        </p:nvSpPr>
        <p:spPr>
          <a:xfrm xmlns:a="http://schemas.openxmlformats.org/drawingml/2006/main">
            <a:off x="609600" y="1676400"/>
            <a:ext cx="10972800" cy="914400"/>
          </a:xfrm>
          <a:prstGeom xmlns:a="http://schemas.openxmlformats.org/drawingml/2006/main" prst="roundRect">
            <a:avLst>
              <a:gd name="adj" fmla="val 16667"/>
            </a:avLst>
          </a:prstGeom>
          <a:solidFill xmlns:a="http://schemas.openxmlformats.org/drawingml/2006/main">
            <a:srgbClr val="9B1C2C"/>
          </a:solidFill>
          <a:ln xmlns:a="http://schemas.openxmlformats.org/drawingml/2006/main" w="952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3-governance-text">
            <a:extLst xmlns:a="http://schemas.openxmlformats.org/drawingml/2006/main">
              <a:ext uri="{FF2B5EF4-FFF2-40B4-BE49-F238E27FC236}">
                <a16:creationId xmlns:a16="http://schemas.microsoft.com/office/drawing/2014/main" id="{3A7E5C86-F2E0-480B-A6EF-7DF61AFC5A37}"/>
              </a:ext>
            </a:extLst>
          </p:cNvPr>
          <p:cNvSpPr>
            <a:spLocks xmlns:a="http://schemas.openxmlformats.org/drawingml/2006/main" noGrp="1"/>
          </p:cNvSpPr>
          <p:nvPr/>
        </p:nvSpPr>
        <p:spPr>
          <a:xfrm xmlns:a="http://schemas.openxmlformats.org/drawingml/2006/main">
            <a:off x="876300" y="1924050"/>
            <a:ext cx="1043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875" b="1">
                <a:solidFill>
                  <a:srgbClr val="F4F4F5"/>
                </a:solidFill>
                <a:latin typeface="Consolas"/>
                <a:ea typeface="Consolas"/>
                <a:cs typeface="Consolas"/>
              </a:defRPr>
            </a:pPr>
            <a:r>
              <a:rPr sz="1875" b="1">
                <a:solidFill>
                  <a:srgbClr val="F4F4F5"/>
                </a:solidFill>
                <a:latin typeface="Consolas"/>
                <a:ea typeface="Consolas"/>
                <a:cs typeface="Consolas"/>
              </a:rPr>
              <a:t>GOVERNANCE  //  IDENTITY  •  POLICY  •  APPROVAL  •  AUDIT  •  EVALS</a:t>
            </a:r>
          </a:p>
        </p:txBody>
      </p:sp>
      <p:sp>
        <p:nvSpPr>
          <p:cNvPr id="8" name="s13-scout-box">
            <a:extLst xmlns:a="http://schemas.openxmlformats.org/drawingml/2006/main">
              <a:ext uri="{FF2B5EF4-FFF2-40B4-BE49-F238E27FC236}">
                <a16:creationId xmlns:a16="http://schemas.microsoft.com/office/drawing/2014/main" id="{79880819-BF04-4378-A3BD-B3F39BD245CF}"/>
              </a:ext>
            </a:extLst>
          </p:cNvPr>
          <p:cNvSpPr>
            <a:spLocks xmlns:a="http://schemas.openxmlformats.org/drawingml/2006/main" noGrp="1"/>
          </p:cNvSpPr>
          <p:nvPr/>
        </p:nvSpPr>
        <p:spPr>
          <a:xfrm xmlns:a="http://schemas.openxmlformats.org/drawingml/2006/main">
            <a:off x="609600" y="2876550"/>
            <a:ext cx="5219700" cy="1962150"/>
          </a:xfrm>
          <a:prstGeom xmlns:a="http://schemas.openxmlformats.org/drawingml/2006/main" prst="roundRect">
            <a:avLst>
              <a:gd name="adj" fmla="val 7767"/>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13-scout-label">
            <a:extLst xmlns:a="http://schemas.openxmlformats.org/drawingml/2006/main">
              <a:ext uri="{FF2B5EF4-FFF2-40B4-BE49-F238E27FC236}">
                <a16:creationId xmlns:a16="http://schemas.microsoft.com/office/drawing/2014/main" id="{7486C4A6-D105-4961-999F-FF831252D1A3}"/>
              </a:ext>
            </a:extLst>
          </p:cNvPr>
          <p:cNvSpPr>
            <a:spLocks xmlns:a="http://schemas.openxmlformats.org/drawingml/2006/main" noGrp="1"/>
          </p:cNvSpPr>
          <p:nvPr/>
        </p:nvSpPr>
        <p:spPr>
          <a:xfrm xmlns:a="http://schemas.openxmlformats.org/drawingml/2006/main">
            <a:off x="914400" y="31432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4D93C6"/>
                </a:solidFill>
                <a:latin typeface="Consolas"/>
                <a:ea typeface="Consolas"/>
                <a:cs typeface="Consolas"/>
              </a:defRPr>
            </a:pPr>
            <a:r>
              <a:rPr sz="1350" b="1">
                <a:solidFill>
                  <a:srgbClr val="4D93C6"/>
                </a:solidFill>
                <a:latin typeface="Consolas"/>
                <a:ea typeface="Consolas"/>
                <a:cs typeface="Consolas"/>
              </a:rPr>
              <a:t>WORKFORCE</a:t>
            </a:r>
          </a:p>
        </p:txBody>
      </p:sp>
      <p:sp>
        <p:nvSpPr>
          <p:cNvPr id="10" name="s13-scout-title">
            <a:extLst xmlns:a="http://schemas.openxmlformats.org/drawingml/2006/main">
              <a:ext uri="{FF2B5EF4-FFF2-40B4-BE49-F238E27FC236}">
                <a16:creationId xmlns:a16="http://schemas.microsoft.com/office/drawing/2014/main" id="{246D30F7-DD6F-4F25-8E12-F4340D253DB7}"/>
              </a:ext>
            </a:extLst>
          </p:cNvPr>
          <p:cNvSpPr>
            <a:spLocks xmlns:a="http://schemas.openxmlformats.org/drawingml/2006/main" noGrp="1"/>
          </p:cNvSpPr>
          <p:nvPr/>
        </p:nvSpPr>
        <p:spPr>
          <a:xfrm xmlns:a="http://schemas.openxmlformats.org/drawingml/2006/main">
            <a:off x="914400" y="35623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450" b="1">
                <a:solidFill>
                  <a:srgbClr val="F4F4F5"/>
                </a:solidFill>
                <a:latin typeface="Segoe UI"/>
                <a:ea typeface="Segoe UI"/>
                <a:cs typeface="Segoe UI"/>
              </a:defRPr>
            </a:pPr>
            <a:r>
              <a:rPr sz="3450" b="1">
                <a:solidFill>
                  <a:srgbClr val="F4F4F5"/>
                </a:solidFill>
                <a:latin typeface="Segoe UI"/>
                <a:ea typeface="Segoe UI"/>
                <a:cs typeface="Segoe UI"/>
              </a:rPr>
              <a:t>Autopilot</a:t>
            </a:r>
          </a:p>
        </p:txBody>
      </p:sp>
      <p:sp>
        <p:nvSpPr>
          <p:cNvPr id="11" name="s13-scout-body">
            <a:extLst xmlns:a="http://schemas.openxmlformats.org/drawingml/2006/main">
              <a:ext uri="{FF2B5EF4-FFF2-40B4-BE49-F238E27FC236}">
                <a16:creationId xmlns:a16="http://schemas.microsoft.com/office/drawing/2014/main" id="{D3384C2B-0C6E-464D-906B-BD7ED1FE22EB}"/>
              </a:ext>
            </a:extLst>
          </p:cNvPr>
          <p:cNvSpPr>
            <a:spLocks xmlns:a="http://schemas.openxmlformats.org/drawingml/2006/main" noGrp="1"/>
          </p:cNvSpPr>
          <p:nvPr/>
        </p:nvSpPr>
        <p:spPr>
          <a:xfrm xmlns:a="http://schemas.openxmlformats.org/drawingml/2006/main">
            <a:off x="914400" y="424815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B9BAC0"/>
                </a:solidFill>
                <a:latin typeface="Segoe UI"/>
                <a:ea typeface="Segoe UI"/>
                <a:cs typeface="Segoe UI"/>
              </a:defRPr>
            </a:pPr>
            <a:r>
              <a:rPr sz="1575" b="0">
                <a:solidFill>
                  <a:srgbClr val="B9BAC0"/>
                </a:solidFill>
                <a:latin typeface="Segoe UI"/>
                <a:ea typeface="Segoe UI"/>
                <a:cs typeface="Segoe UI"/>
              </a:rPr>
              <a:t>Work context  •  Entra identity  •  M365 policy</a:t>
            </a:r>
          </a:p>
        </p:txBody>
      </p:sp>
      <p:sp>
        <p:nvSpPr>
          <p:cNvPr id="12" name="s13-tula-box">
            <a:extLst xmlns:a="http://schemas.openxmlformats.org/drawingml/2006/main">
              <a:ext uri="{FF2B5EF4-FFF2-40B4-BE49-F238E27FC236}">
                <a16:creationId xmlns:a16="http://schemas.microsoft.com/office/drawing/2014/main" id="{53C7D14A-F03D-4132-BD22-5F22CA84994A}"/>
              </a:ext>
            </a:extLst>
          </p:cNvPr>
          <p:cNvSpPr>
            <a:spLocks xmlns:a="http://schemas.openxmlformats.org/drawingml/2006/main" noGrp="1"/>
          </p:cNvSpPr>
          <p:nvPr/>
        </p:nvSpPr>
        <p:spPr>
          <a:xfrm xmlns:a="http://schemas.openxmlformats.org/drawingml/2006/main">
            <a:off x="6362700" y="2876550"/>
            <a:ext cx="5219700" cy="1962150"/>
          </a:xfrm>
          <a:prstGeom xmlns:a="http://schemas.openxmlformats.org/drawingml/2006/main" prst="roundRect">
            <a:avLst>
              <a:gd name="adj" fmla="val 7767"/>
            </a:avLst>
          </a:prstGeom>
          <a:solidFill xmlns:a="http://schemas.openxmlformats.org/drawingml/2006/main">
            <a:srgbClr val="191B20"/>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13-tula-label">
            <a:extLst xmlns:a="http://schemas.openxmlformats.org/drawingml/2006/main">
              <a:ext uri="{FF2B5EF4-FFF2-40B4-BE49-F238E27FC236}">
                <a16:creationId xmlns:a16="http://schemas.microsoft.com/office/drawing/2014/main" id="{CA781D18-8776-45C2-AD22-2B4FF3B6B364}"/>
              </a:ext>
            </a:extLst>
          </p:cNvPr>
          <p:cNvSpPr>
            <a:spLocks xmlns:a="http://schemas.openxmlformats.org/drawingml/2006/main" noGrp="1"/>
          </p:cNvSpPr>
          <p:nvPr/>
        </p:nvSpPr>
        <p:spPr>
          <a:xfrm xmlns:a="http://schemas.openxmlformats.org/drawingml/2006/main">
            <a:off x="6667500" y="31432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C33148"/>
                </a:solidFill>
                <a:latin typeface="Consolas"/>
                <a:ea typeface="Consolas"/>
                <a:cs typeface="Consolas"/>
              </a:defRPr>
            </a:pPr>
            <a:r>
              <a:rPr sz="1350" b="1">
                <a:solidFill>
                  <a:srgbClr val="C33148"/>
                </a:solidFill>
                <a:latin typeface="Consolas"/>
                <a:ea typeface="Consolas"/>
                <a:cs typeface="Consolas"/>
              </a:rPr>
              <a:t>PATIENT</a:t>
            </a:r>
          </a:p>
        </p:txBody>
      </p:sp>
      <p:sp>
        <p:nvSpPr>
          <p:cNvPr id="14" name="s13-tula-title">
            <a:extLst xmlns:a="http://schemas.openxmlformats.org/drawingml/2006/main">
              <a:ext uri="{FF2B5EF4-FFF2-40B4-BE49-F238E27FC236}">
                <a16:creationId xmlns:a16="http://schemas.microsoft.com/office/drawing/2014/main" id="{8B3A0C29-9727-457A-AB02-AA43029156F0}"/>
              </a:ext>
            </a:extLst>
          </p:cNvPr>
          <p:cNvSpPr>
            <a:spLocks xmlns:a="http://schemas.openxmlformats.org/drawingml/2006/main" noGrp="1"/>
          </p:cNvSpPr>
          <p:nvPr/>
        </p:nvSpPr>
        <p:spPr>
          <a:xfrm xmlns:a="http://schemas.openxmlformats.org/drawingml/2006/main">
            <a:off x="6667500" y="35623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450" b="1">
                <a:solidFill>
                  <a:srgbClr val="F4F4F5"/>
                </a:solidFill>
                <a:latin typeface="Segoe UI"/>
                <a:ea typeface="Segoe UI"/>
                <a:cs typeface="Segoe UI"/>
              </a:defRPr>
            </a:pPr>
            <a:r>
              <a:rPr sz="3450" b="1">
                <a:solidFill>
                  <a:srgbClr val="F4F4F5"/>
                </a:solidFill>
                <a:latin typeface="Segoe UI"/>
                <a:ea typeface="Segoe UI"/>
                <a:cs typeface="Segoe UI"/>
              </a:rPr>
              <a:t>Tula</a:t>
            </a:r>
          </a:p>
        </p:txBody>
      </p:sp>
      <p:sp>
        <p:nvSpPr>
          <p:cNvPr id="15" name="s13-tula-body">
            <a:extLst xmlns:a="http://schemas.openxmlformats.org/drawingml/2006/main">
              <a:ext uri="{FF2B5EF4-FFF2-40B4-BE49-F238E27FC236}">
                <a16:creationId xmlns:a16="http://schemas.microsoft.com/office/drawing/2014/main" id="{015667B2-FFBD-4262-82F8-D8B454D714B5}"/>
              </a:ext>
            </a:extLst>
          </p:cNvPr>
          <p:cNvSpPr>
            <a:spLocks xmlns:a="http://schemas.openxmlformats.org/drawingml/2006/main" noGrp="1"/>
          </p:cNvSpPr>
          <p:nvPr/>
        </p:nvSpPr>
        <p:spPr>
          <a:xfrm xmlns:a="http://schemas.openxmlformats.org/drawingml/2006/main">
            <a:off x="6667500" y="4248150"/>
            <a:ext cx="445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87"/>
          </a:bodyPr>
          <a:lstStyle xmlns:a="http://schemas.openxmlformats.org/drawingml/2006/main"/>
          <a:p xmlns:a="http://schemas.openxmlformats.org/drawingml/2006/main">
            <a:pPr algn="l">
              <a:lnSpc>
                <a:spcPct val="100000"/>
              </a:lnSpc>
              <a:buNone/>
              <a:defRPr sz="1500" b="0">
                <a:solidFill>
                  <a:srgbClr val="B9BAC0"/>
                </a:solidFill>
                <a:latin typeface="Segoe UI"/>
                <a:ea typeface="Segoe UI"/>
                <a:cs typeface="Segoe UI"/>
              </a:defRPr>
            </a:pPr>
            <a:r>
              <a:rPr sz="1500" b="0">
                <a:solidFill>
                  <a:srgbClr val="B9BAC0"/>
                </a:solidFill>
                <a:latin typeface="Segoe UI"/>
                <a:ea typeface="Segoe UI"/>
                <a:cs typeface="Segoe UI"/>
              </a:rPr>
              <a:t>Health context / Patient boundary / Safety constraints</a:t>
            </a:r>
          </a:p>
        </p:txBody>
      </p:sp>
      <p:sp>
        <p:nvSpPr>
          <p:cNvPr id="16" name="s13-runtime-layer">
            <a:extLst xmlns:a="http://schemas.openxmlformats.org/drawingml/2006/main">
              <a:ext uri="{FF2B5EF4-FFF2-40B4-BE49-F238E27FC236}">
                <a16:creationId xmlns:a16="http://schemas.microsoft.com/office/drawing/2014/main" id="{A2D7EDD5-2B24-4BE0-AC21-6C9CA22286ED}"/>
              </a:ext>
            </a:extLst>
          </p:cNvPr>
          <p:cNvSpPr>
            <a:spLocks xmlns:a="http://schemas.openxmlformats.org/drawingml/2006/main" noGrp="1"/>
          </p:cNvSpPr>
          <p:nvPr/>
        </p:nvSpPr>
        <p:spPr>
          <a:xfrm xmlns:a="http://schemas.openxmlformats.org/drawingml/2006/main">
            <a:off x="609600" y="5124450"/>
            <a:ext cx="10972800" cy="781050"/>
          </a:xfrm>
          <a:prstGeom xmlns:a="http://schemas.openxmlformats.org/drawingml/2006/main" prst="roundRect">
            <a:avLst>
              <a:gd name="adj" fmla="val 19512"/>
            </a:avLst>
          </a:prstGeom>
          <a:solidFill xmlns:a="http://schemas.openxmlformats.org/drawingml/2006/main">
            <a:srgbClr val="08090B"/>
          </a:solidFill>
          <a:ln xmlns:a="http://schemas.openxmlformats.org/drawingml/2006/main" w="9525">
            <a:solidFill>
              <a:srgbClr val="353840"/>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13-runtime-text">
            <a:extLst xmlns:a="http://schemas.openxmlformats.org/drawingml/2006/main">
              <a:ext uri="{FF2B5EF4-FFF2-40B4-BE49-F238E27FC236}">
                <a16:creationId xmlns:a16="http://schemas.microsoft.com/office/drawing/2014/main" id="{980A78FC-0646-4BAE-9BFB-3D69306FD59D}"/>
              </a:ext>
            </a:extLst>
          </p:cNvPr>
          <p:cNvSpPr>
            <a:spLocks xmlns:a="http://schemas.openxmlformats.org/drawingml/2006/main" noGrp="1"/>
          </p:cNvSpPr>
          <p:nvPr/>
        </p:nvSpPr>
        <p:spPr>
          <a:xfrm xmlns:a="http://schemas.openxmlformats.org/drawingml/2006/main">
            <a:off x="914400" y="5353050"/>
            <a:ext cx="1036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4F4F5"/>
                </a:solidFill>
                <a:latin typeface="Consolas"/>
                <a:ea typeface="Consolas"/>
                <a:cs typeface="Consolas"/>
              </a:defRPr>
            </a:pPr>
            <a:r>
              <a:rPr sz="1725" b="1">
                <a:solidFill>
                  <a:srgbClr val="F4F4F5"/>
                </a:solidFill>
                <a:latin typeface="Consolas"/>
                <a:ea typeface="Consolas"/>
                <a:cs typeface="Consolas"/>
              </a:rPr>
              <a:t>OPENCLAW FOUNDATION / DEPLOYMENT AND CONTROLS VARY</a:t>
            </a:r>
          </a:p>
        </p:txBody>
      </p:sp>
    </p:spTree>
    <p:extLst>
      <p:ext uri="{BB962C8B-B14F-4D97-AF65-F5344CB8AC3E}">
        <p14:creationId xmlns:p14="http://schemas.microsoft.com/office/powerpoint/2010/main" val="1279006789"/>
      </p:ext>
    </p:extLst>
  </p:cSld>
</p:sld>
</file>

<file path=ppt/slides/slide16.xml><?xml version="1.0" encoding="utf-8"?>
<p:sld xmlns:p="http://schemas.openxmlformats.org/presentationml/2006/main">
  <p:cSld>
    <p:bg>
      <p:bgPr>
        <a:solidFill xmlns:a="http://schemas.openxmlformats.org/drawingml/2006/main">
          <a:srgbClr val="08090B"/>
        </a:solidFill>
      </p:bgPr>
    </p:bg>
    <p:spTree>
      <p:nvGrpSpPr>
        <p:cNvPr id="1" name=""/>
        <p:cNvGrpSpPr/>
        <p:nvPr/>
      </p:nvGrpSpPr>
      <p:grpSpPr>
        <a:xfrm xmlns:a="http://schemas.openxmlformats.org/drawingml/2006/main"/>
      </p:grpSpPr>
      <p:sp>
        <p:nvSpPr>
          <p:cNvPr id="19" name="s14-eyebrow">
            <a:extLst xmlns:a="http://schemas.openxmlformats.org/drawingml/2006/main">
              <a:ext uri="{FF2B5EF4-FFF2-40B4-BE49-F238E27FC236}">
                <a16:creationId xmlns:a16="http://schemas.microsoft.com/office/drawing/2014/main" id="{1EC7811E-CE8E-4DD7-8FB0-B683B7EFAF4B}"/>
              </a:ext>
            </a:extLst>
          </p:cNvPr>
          <p:cNvSpPr>
            <a:spLocks xmlns:a="http://schemas.openxmlformats.org/drawingml/2006/main" noGrp="1"/>
          </p:cNvSpPr>
          <p:nvPr/>
        </p:nvSpPr>
        <p:spPr>
          <a:xfrm xmlns:a="http://schemas.openxmlformats.org/drawingml/2006/main">
            <a:off x="6096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B9BAC0"/>
                </a:solidFill>
                <a:latin typeface="Consolas"/>
                <a:ea typeface="Consolas"/>
                <a:cs typeface="Consolas"/>
              </a:defRPr>
            </a:pPr>
            <a:r>
              <a:rPr sz="1050" b="1">
                <a:solidFill>
                  <a:srgbClr val="B9BAC0"/>
                </a:solidFill>
                <a:latin typeface="Consolas"/>
                <a:ea typeface="Consolas"/>
                <a:cs typeface="Consolas"/>
              </a:rPr>
              <a:t>TAKEAWAY</a:t>
            </a:r>
          </a:p>
        </p:txBody>
      </p:sp>
      <p:sp>
        <p:nvSpPr>
          <p:cNvPr id="2" name="s14-accent-rule">
            <a:extLst xmlns:a="http://schemas.openxmlformats.org/drawingml/2006/main">
              <a:ext uri="{FF2B5EF4-FFF2-40B4-BE49-F238E27FC236}">
                <a16:creationId xmlns:a16="http://schemas.microsoft.com/office/drawing/2014/main" id="{528B2117-4CA2-4794-BD59-6079170C0C60}"/>
              </a:ext>
            </a:extLst>
          </p:cNvPr>
          <p:cNvSpPr>
            <a:spLocks xmlns:a="http://schemas.openxmlformats.org/drawingml/2006/main" noGrp="1"/>
          </p:cNvSpPr>
          <p:nvPr/>
        </p:nvSpPr>
        <p:spPr>
          <a:xfrm xmlns:a="http://schemas.openxmlformats.org/drawingml/2006/main">
            <a:off x="609600" y="590550"/>
            <a:ext cx="9144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14-brand">
            <a:extLst xmlns:a="http://schemas.openxmlformats.org/drawingml/2006/main">
              <a:ext uri="{FF2B5EF4-FFF2-40B4-BE49-F238E27FC236}">
                <a16:creationId xmlns:a16="http://schemas.microsoft.com/office/drawing/2014/main" id="{C6D0FE91-FFFE-4FF8-A8AF-37DF8FD372B3}"/>
              </a:ext>
            </a:extLst>
          </p:cNvPr>
          <p:cNvSpPr>
            <a:spLocks xmlns:a="http://schemas.openxmlformats.org/drawingml/2006/main" noGrp="1"/>
          </p:cNvSpPr>
          <p:nvPr/>
        </p:nvSpPr>
        <p:spPr>
          <a:xfrm xmlns:a="http://schemas.openxmlformats.org/drawingml/2006/main">
            <a:off x="609600" y="6457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9BAC0"/>
                </a:solidFill>
                <a:latin typeface="Segoe UI"/>
                <a:ea typeface="Segoe UI"/>
                <a:cs typeface="Segoe UI"/>
              </a:defRPr>
            </a:pPr>
            <a:r>
              <a:rPr sz="1050" b="1">
                <a:solidFill>
                  <a:srgbClr val="B9BAC0"/>
                </a:solidFill>
                <a:latin typeface="Segoe UI"/>
                <a:ea typeface="Segoe UI"/>
                <a:cs typeface="Segoe UI"/>
              </a:rPr>
              <a:t>RealActivity / Manila 2026</a:t>
            </a:r>
          </a:p>
        </p:txBody>
      </p:sp>
      <p:sp>
        <p:nvSpPr>
          <p:cNvPr id="4" name="s14-number">
            <a:extLst xmlns:a="http://schemas.openxmlformats.org/drawingml/2006/main">
              <a:ext uri="{FF2B5EF4-FFF2-40B4-BE49-F238E27FC236}">
                <a16:creationId xmlns:a16="http://schemas.microsoft.com/office/drawing/2014/main" id="{1866E88A-592D-42CF-B6C8-AE29108FDFBF}"/>
              </a:ext>
            </a:extLst>
          </p:cNvPr>
          <p:cNvSpPr>
            <a:spLocks xmlns:a="http://schemas.openxmlformats.org/drawingml/2006/main" noGrp="1"/>
          </p:cNvSpPr>
          <p:nvPr/>
        </p:nvSpPr>
        <p:spPr>
          <a:xfrm xmlns:a="http://schemas.openxmlformats.org/drawingml/2006/main">
            <a:off x="11144250" y="64389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0">
                <a:solidFill>
                  <a:srgbClr val="7B7E87"/>
                </a:solidFill>
                <a:latin typeface="Consolas"/>
                <a:ea typeface="Consolas"/>
                <a:cs typeface="Consolas"/>
              </a:defRPr>
            </a:pPr>
            <a:r>
              <a:rPr sz="1050" b="0">
                <a:solidFill>
                  <a:srgbClr val="7B7E87"/>
                </a:solidFill>
                <a:latin typeface="Consolas"/>
                <a:ea typeface="Consolas"/>
                <a:cs typeface="Consolas"/>
              </a:rPr>
              <a:t>16</a:t>
            </a:r>
          </a:p>
        </p:txBody>
      </p:sp>
      <p:sp>
        <p:nvSpPr>
          <p:cNvPr id="5" name="s14-title">
            <a:extLst xmlns:a="http://schemas.openxmlformats.org/drawingml/2006/main">
              <a:ext uri="{FF2B5EF4-FFF2-40B4-BE49-F238E27FC236}">
                <a16:creationId xmlns:a16="http://schemas.microsoft.com/office/drawing/2014/main" id="{B2F8228A-3E43-41F6-B6AB-1D9D78003662}"/>
              </a:ext>
            </a:extLst>
          </p:cNvPr>
          <p:cNvSpPr>
            <a:spLocks xmlns:a="http://schemas.openxmlformats.org/drawingml/2006/main" noGrp="1"/>
          </p:cNvSpPr>
          <p:nvPr/>
        </p:nvSpPr>
        <p:spPr>
          <a:xfrm xmlns:a="http://schemas.openxmlformats.org/drawingml/2006/main">
            <a:off x="609600" y="10287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4050" b="1">
                <a:solidFill>
                  <a:srgbClr val="F4F4F5"/>
                </a:solidFill>
                <a:latin typeface="Segoe UI"/>
                <a:ea typeface="Segoe UI"/>
                <a:cs typeface="Segoe UI"/>
              </a:defRPr>
            </a:pPr>
            <a:r>
              <a:rPr sz="4050" b="1">
                <a:solidFill>
                  <a:srgbClr val="F4F4F5"/>
                </a:solidFill>
                <a:latin typeface="Segoe UI"/>
                <a:ea typeface="Segoe UI"/>
                <a:cs typeface="Segoe UI"/>
              </a:rPr>
              <a:t>Build agents you can interrogate.</a:t>
            </a:r>
          </a:p>
        </p:txBody>
      </p:sp>
      <p:sp>
        <p:nvSpPr>
          <p:cNvPr id="6" name="s14-subtitle">
            <a:extLst xmlns:a="http://schemas.openxmlformats.org/drawingml/2006/main">
              <a:ext uri="{FF2B5EF4-FFF2-40B4-BE49-F238E27FC236}">
                <a16:creationId xmlns:a16="http://schemas.microsoft.com/office/drawing/2014/main" id="{FD16DF2C-D235-4EDF-9304-B67FE2C5AA5C}"/>
              </a:ext>
            </a:extLst>
          </p:cNvPr>
          <p:cNvSpPr>
            <a:spLocks xmlns:a="http://schemas.openxmlformats.org/drawingml/2006/main" noGrp="1"/>
          </p:cNvSpPr>
          <p:nvPr/>
        </p:nvSpPr>
        <p:spPr>
          <a:xfrm xmlns:a="http://schemas.openxmlformats.org/drawingml/2006/main">
            <a:off x="609600" y="1962150"/>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0">
                <a:solidFill>
                  <a:srgbClr val="B9BAC0"/>
                </a:solidFill>
                <a:latin typeface="Segoe UI"/>
                <a:ea typeface="Segoe UI"/>
                <a:cs typeface="Segoe UI"/>
              </a:defRPr>
            </a:pPr>
            <a:r>
              <a:rPr sz="2250" b="0">
                <a:solidFill>
                  <a:srgbClr val="B9BAC0"/>
                </a:solidFill>
                <a:latin typeface="Segoe UI"/>
                <a:ea typeface="Segoe UI"/>
                <a:cs typeface="Segoe UI"/>
              </a:rPr>
              <a:t>After they act, the evidence must still be there.</a:t>
            </a:r>
          </a:p>
        </p:txBody>
      </p:sp>
      <p:sp>
        <p:nvSpPr>
          <p:cNvPr id="7" name="s14-verb-0-rule">
            <a:extLst xmlns:a="http://schemas.openxmlformats.org/drawingml/2006/main">
              <a:ext uri="{FF2B5EF4-FFF2-40B4-BE49-F238E27FC236}">
                <a16:creationId xmlns:a16="http://schemas.microsoft.com/office/drawing/2014/main" id="{06F87210-9891-4796-ABDF-5C8B54E9B750}"/>
              </a:ext>
            </a:extLst>
          </p:cNvPr>
          <p:cNvSpPr>
            <a:spLocks xmlns:a="http://schemas.openxmlformats.org/drawingml/2006/main" noGrp="1"/>
          </p:cNvSpPr>
          <p:nvPr/>
        </p:nvSpPr>
        <p:spPr>
          <a:xfrm xmlns:a="http://schemas.openxmlformats.org/drawingml/2006/main">
            <a:off x="609600" y="3390900"/>
            <a:ext cx="2286000" cy="0"/>
          </a:xfrm>
          <a:prstGeom xmlns:a="http://schemas.openxmlformats.org/drawingml/2006/main" prst="line">
            <a:avLst/>
          </a:prstGeom>
          <a:noFill xmlns:a="http://schemas.openxmlformats.org/drawingml/2006/main"/>
          <a:ln xmlns:a="http://schemas.openxmlformats.org/drawingml/2006/main" w="28575">
            <a:solidFill>
              <a:srgbClr val="F4F4F5"/>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14-verb-0">
            <a:extLst xmlns:a="http://schemas.openxmlformats.org/drawingml/2006/main">
              <a:ext uri="{FF2B5EF4-FFF2-40B4-BE49-F238E27FC236}">
                <a16:creationId xmlns:a16="http://schemas.microsoft.com/office/drawing/2014/main" id="{52B19038-7A4E-4465-BA33-9E2C3CBB056E}"/>
              </a:ext>
            </a:extLst>
          </p:cNvPr>
          <p:cNvSpPr>
            <a:spLocks xmlns:a="http://schemas.openxmlformats.org/drawingml/2006/main" noGrp="1"/>
          </p:cNvSpPr>
          <p:nvPr/>
        </p:nvSpPr>
        <p:spPr>
          <a:xfrm xmlns:a="http://schemas.openxmlformats.org/drawingml/2006/main">
            <a:off x="609600" y="36385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F4F4F5"/>
                </a:solidFill>
                <a:latin typeface="Consolas"/>
                <a:ea typeface="Consolas"/>
                <a:cs typeface="Consolas"/>
              </a:defRPr>
            </a:pPr>
            <a:r>
              <a:rPr sz="2250" b="1">
                <a:solidFill>
                  <a:srgbClr val="F4F4F5"/>
                </a:solidFill>
                <a:latin typeface="Consolas"/>
                <a:ea typeface="Consolas"/>
                <a:cs typeface="Consolas"/>
              </a:rPr>
              <a:t>INSPECT</a:t>
            </a:r>
          </a:p>
        </p:txBody>
      </p:sp>
      <p:sp>
        <p:nvSpPr>
          <p:cNvPr id="9" name="s14-verb-1-rule">
            <a:extLst xmlns:a="http://schemas.openxmlformats.org/drawingml/2006/main">
              <a:ext uri="{FF2B5EF4-FFF2-40B4-BE49-F238E27FC236}">
                <a16:creationId xmlns:a16="http://schemas.microsoft.com/office/drawing/2014/main" id="{0923F2C2-C07F-48F4-8F9D-42C3082437AE}"/>
              </a:ext>
            </a:extLst>
          </p:cNvPr>
          <p:cNvSpPr>
            <a:spLocks xmlns:a="http://schemas.openxmlformats.org/drawingml/2006/main" noGrp="1"/>
          </p:cNvSpPr>
          <p:nvPr/>
        </p:nvSpPr>
        <p:spPr>
          <a:xfrm xmlns:a="http://schemas.openxmlformats.org/drawingml/2006/main">
            <a:off x="3352800" y="3390900"/>
            <a:ext cx="2286000" cy="0"/>
          </a:xfrm>
          <a:prstGeom xmlns:a="http://schemas.openxmlformats.org/drawingml/2006/main" prst="line">
            <a:avLst/>
          </a:prstGeom>
          <a:noFill xmlns:a="http://schemas.openxmlformats.org/drawingml/2006/main"/>
          <a:ln xmlns:a="http://schemas.openxmlformats.org/drawingml/2006/main" w="28575">
            <a:solidFill>
              <a:srgbClr val="4D93C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4-verb-1">
            <a:extLst xmlns:a="http://schemas.openxmlformats.org/drawingml/2006/main">
              <a:ext uri="{FF2B5EF4-FFF2-40B4-BE49-F238E27FC236}">
                <a16:creationId xmlns:a16="http://schemas.microsoft.com/office/drawing/2014/main" id="{E2836937-BEA2-4BB8-B0C1-D8781B3FA2FD}"/>
              </a:ext>
            </a:extLst>
          </p:cNvPr>
          <p:cNvSpPr>
            <a:spLocks xmlns:a="http://schemas.openxmlformats.org/drawingml/2006/main" noGrp="1"/>
          </p:cNvSpPr>
          <p:nvPr/>
        </p:nvSpPr>
        <p:spPr>
          <a:xfrm xmlns:a="http://schemas.openxmlformats.org/drawingml/2006/main">
            <a:off x="3352800" y="36385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4D93C6"/>
                </a:solidFill>
                <a:latin typeface="Consolas"/>
                <a:ea typeface="Consolas"/>
                <a:cs typeface="Consolas"/>
              </a:defRPr>
            </a:pPr>
            <a:r>
              <a:rPr sz="2250" b="1">
                <a:solidFill>
                  <a:srgbClr val="4D93C6"/>
                </a:solidFill>
                <a:latin typeface="Consolas"/>
                <a:ea typeface="Consolas"/>
                <a:cs typeface="Consolas"/>
              </a:rPr>
              <a:t>TEST</a:t>
            </a:r>
          </a:p>
        </p:txBody>
      </p:sp>
      <p:sp>
        <p:nvSpPr>
          <p:cNvPr id="11" name="s14-verb-2-rule">
            <a:extLst xmlns:a="http://schemas.openxmlformats.org/drawingml/2006/main">
              <a:ext uri="{FF2B5EF4-FFF2-40B4-BE49-F238E27FC236}">
                <a16:creationId xmlns:a16="http://schemas.microsoft.com/office/drawing/2014/main" id="{636EB664-AE1F-4256-834D-21C20F0D850F}"/>
              </a:ext>
            </a:extLst>
          </p:cNvPr>
          <p:cNvSpPr>
            <a:spLocks xmlns:a="http://schemas.openxmlformats.org/drawingml/2006/main" noGrp="1"/>
          </p:cNvSpPr>
          <p:nvPr/>
        </p:nvSpPr>
        <p:spPr>
          <a:xfrm xmlns:a="http://schemas.openxmlformats.org/drawingml/2006/main">
            <a:off x="6096000" y="3390900"/>
            <a:ext cx="2286000" cy="0"/>
          </a:xfrm>
          <a:prstGeom xmlns:a="http://schemas.openxmlformats.org/drawingml/2006/main" prst="line">
            <a:avLst/>
          </a:prstGeom>
          <a:noFill xmlns:a="http://schemas.openxmlformats.org/drawingml/2006/main"/>
          <a:ln xmlns:a="http://schemas.openxmlformats.org/drawingml/2006/main" w="28575">
            <a:solidFill>
              <a:srgbClr val="C3314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14-verb-2">
            <a:extLst xmlns:a="http://schemas.openxmlformats.org/drawingml/2006/main">
              <a:ext uri="{FF2B5EF4-FFF2-40B4-BE49-F238E27FC236}">
                <a16:creationId xmlns:a16="http://schemas.microsoft.com/office/drawing/2014/main" id="{A0FE018D-B428-4C5A-8296-D122C2A9D90E}"/>
              </a:ext>
            </a:extLst>
          </p:cNvPr>
          <p:cNvSpPr>
            <a:spLocks xmlns:a="http://schemas.openxmlformats.org/drawingml/2006/main" noGrp="1"/>
          </p:cNvSpPr>
          <p:nvPr/>
        </p:nvSpPr>
        <p:spPr>
          <a:xfrm xmlns:a="http://schemas.openxmlformats.org/drawingml/2006/main">
            <a:off x="6096000" y="36385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C33148"/>
                </a:solidFill>
                <a:latin typeface="Consolas"/>
                <a:ea typeface="Consolas"/>
                <a:cs typeface="Consolas"/>
              </a:defRPr>
            </a:pPr>
            <a:r>
              <a:rPr sz="2250" b="1">
                <a:solidFill>
                  <a:srgbClr val="C33148"/>
                </a:solidFill>
                <a:latin typeface="Consolas"/>
                <a:ea typeface="Consolas"/>
                <a:cs typeface="Consolas"/>
              </a:rPr>
              <a:t>CONSTRAIN</a:t>
            </a:r>
          </a:p>
        </p:txBody>
      </p:sp>
      <p:sp>
        <p:nvSpPr>
          <p:cNvPr id="13" name="s14-verb-3-rule">
            <a:extLst xmlns:a="http://schemas.openxmlformats.org/drawingml/2006/main">
              <a:ext uri="{FF2B5EF4-FFF2-40B4-BE49-F238E27FC236}">
                <a16:creationId xmlns:a16="http://schemas.microsoft.com/office/drawing/2014/main" id="{61040B29-5C93-4469-A6FF-EA70020657C9}"/>
              </a:ext>
            </a:extLst>
          </p:cNvPr>
          <p:cNvSpPr>
            <a:spLocks xmlns:a="http://schemas.openxmlformats.org/drawingml/2006/main" noGrp="1"/>
          </p:cNvSpPr>
          <p:nvPr/>
        </p:nvSpPr>
        <p:spPr>
          <a:xfrm xmlns:a="http://schemas.openxmlformats.org/drawingml/2006/main">
            <a:off x="8839200" y="3390900"/>
            <a:ext cx="2286000" cy="0"/>
          </a:xfrm>
          <a:prstGeom xmlns:a="http://schemas.openxmlformats.org/drawingml/2006/main" prst="line">
            <a:avLst/>
          </a:prstGeom>
          <a:noFill xmlns:a="http://schemas.openxmlformats.org/drawingml/2006/main"/>
          <a:ln xmlns:a="http://schemas.openxmlformats.org/drawingml/2006/main" w="28575">
            <a:solidFill>
              <a:srgbClr val="38C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4-verb-3">
            <a:extLst xmlns:a="http://schemas.openxmlformats.org/drawingml/2006/main">
              <a:ext uri="{FF2B5EF4-FFF2-40B4-BE49-F238E27FC236}">
                <a16:creationId xmlns:a16="http://schemas.microsoft.com/office/drawing/2014/main" id="{DBF9EE04-F9A7-4750-A1D4-2F753BBEBD84}"/>
              </a:ext>
            </a:extLst>
          </p:cNvPr>
          <p:cNvSpPr>
            <a:spLocks xmlns:a="http://schemas.openxmlformats.org/drawingml/2006/main" noGrp="1"/>
          </p:cNvSpPr>
          <p:nvPr/>
        </p:nvSpPr>
        <p:spPr>
          <a:xfrm xmlns:a="http://schemas.openxmlformats.org/drawingml/2006/main">
            <a:off x="8839200" y="36385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38C7D9"/>
                </a:solidFill>
                <a:latin typeface="Consolas"/>
                <a:ea typeface="Consolas"/>
                <a:cs typeface="Consolas"/>
              </a:defRPr>
            </a:pPr>
            <a:r>
              <a:rPr sz="2250" b="1">
                <a:solidFill>
                  <a:srgbClr val="38C7D9"/>
                </a:solidFill>
                <a:latin typeface="Consolas"/>
                <a:ea typeface="Consolas"/>
                <a:cs typeface="Consolas"/>
              </a:rPr>
              <a:t>AUDIT</a:t>
            </a:r>
          </a:p>
        </p:txBody>
      </p:sp>
      <p:sp>
        <p:nvSpPr>
          <p:cNvPr id="15" name="s14-link-0">
            <a:extLst xmlns:a="http://schemas.openxmlformats.org/drawingml/2006/main">
              <a:ext uri="{FF2B5EF4-FFF2-40B4-BE49-F238E27FC236}">
                <a16:creationId xmlns:a16="http://schemas.microsoft.com/office/drawing/2014/main" id="{3BB4978D-A944-4845-8967-8E3E470EFFE3}"/>
              </a:ext>
            </a:extLst>
          </p:cNvPr>
          <p:cNvSpPr>
            <a:spLocks xmlns:a="http://schemas.openxmlformats.org/drawingml/2006/main" noGrp="1"/>
          </p:cNvSpPr>
          <p:nvPr/>
        </p:nvSpPr>
        <p:spPr>
          <a:xfrm xmlns:a="http://schemas.openxmlformats.org/drawingml/2006/main">
            <a:off x="609600" y="4953000"/>
            <a:ext cx="719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B9BAC0"/>
                </a:solidFill>
                <a:latin typeface="Consolas"/>
                <a:ea typeface="Consolas"/>
                <a:cs typeface="Consolas"/>
              </a:defRPr>
            </a:pPr>
            <a:r>
              <a:rPr sz="1350" b="0">
                <a:solidFill>
                  <a:srgbClr val="B9BAC0"/>
                </a:solidFill>
                <a:latin typeface="Consolas"/>
                <a:ea typeface="Consolas"/>
                <a:cs typeface="Consolas"/>
                <a:hlinkClick xmlns:r="http://schemas.openxmlformats.org/officeDocument/2006/relationships" r:id="Rf68af95dc529451a"/>
              </a:rPr>
              <a:t>Microsoft Copilot announcement, 25 September 2026</a:t>
            </a:r>
          </a:p>
        </p:txBody>
      </p:sp>
      <p:sp>
        <p:nvSpPr>
          <p:cNvPr id="16" name="s14-link-1">
            <a:extLst xmlns:a="http://schemas.openxmlformats.org/drawingml/2006/main">
              <a:ext uri="{FF2B5EF4-FFF2-40B4-BE49-F238E27FC236}">
                <a16:creationId xmlns:a16="http://schemas.microsoft.com/office/drawing/2014/main" id="{BE3C2A93-04B5-46BD-BD07-59E86CE1FAE1}"/>
              </a:ext>
            </a:extLst>
          </p:cNvPr>
          <p:cNvSpPr>
            <a:spLocks xmlns:a="http://schemas.openxmlformats.org/drawingml/2006/main" noGrp="1"/>
          </p:cNvSpPr>
          <p:nvPr/>
        </p:nvSpPr>
        <p:spPr>
          <a:xfrm xmlns:a="http://schemas.openxmlformats.org/drawingml/2006/main">
            <a:off x="609600" y="53340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425" b="0">
                <a:solidFill>
                  <a:srgbClr val="C33148"/>
                </a:solidFill>
                <a:latin typeface="Consolas"/>
                <a:ea typeface="Consolas"/>
                <a:cs typeface="Consolas"/>
              </a:defRPr>
            </a:pPr>
            <a:r>
              <a:rPr sz="1425" b="0">
                <a:solidFill>
                  <a:srgbClr val="C33148"/>
                </a:solidFill>
                <a:latin typeface="Consolas"/>
                <a:ea typeface="Consolas"/>
                <a:cs typeface="Consolas"/>
                <a:hlinkClick xmlns:r="http://schemas.openxmlformats.org/officeDocument/2006/relationships" r:id="R1636fc73d81243d0"/>
              </a:rPr>
              <a:t>github.com/realactivity/tula</a:t>
            </a:r>
          </a:p>
        </p:txBody>
      </p:sp>
      <p:sp>
        <p:nvSpPr>
          <p:cNvPr id="17" name="s14-link-2">
            <a:extLst xmlns:a="http://schemas.openxmlformats.org/drawingml/2006/main">
              <a:ext uri="{FF2B5EF4-FFF2-40B4-BE49-F238E27FC236}">
                <a16:creationId xmlns:a16="http://schemas.microsoft.com/office/drawing/2014/main" id="{C8810F67-F1CF-4D36-9327-A3C972FFF388}"/>
              </a:ext>
            </a:extLst>
          </p:cNvPr>
          <p:cNvSpPr>
            <a:spLocks xmlns:a="http://schemas.openxmlformats.org/drawingml/2006/main" noGrp="1"/>
          </p:cNvSpPr>
          <p:nvPr/>
        </p:nvSpPr>
        <p:spPr>
          <a:xfrm xmlns:a="http://schemas.openxmlformats.org/drawingml/2006/main">
            <a:off x="609600" y="57150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425" b="0">
                <a:solidFill>
                  <a:srgbClr val="B9BAC0"/>
                </a:solidFill>
                <a:latin typeface="Consolas"/>
                <a:ea typeface="Consolas"/>
                <a:cs typeface="Consolas"/>
              </a:defRPr>
            </a:pPr>
            <a:r>
              <a:rPr sz="1425" b="0">
                <a:solidFill>
                  <a:srgbClr val="B9BAC0"/>
                </a:solidFill>
                <a:latin typeface="Consolas"/>
                <a:ea typeface="Consolas"/>
                <a:cs typeface="Consolas"/>
                <a:hlinkClick xmlns:r="http://schemas.openxmlformats.org/officeDocument/2006/relationships" r:id="Rdaab7e7268e24244"/>
              </a:rPr>
              <a:t>github.com/microsoft/waza</a:t>
            </a:r>
          </a:p>
        </p:txBody>
      </p:sp>
      <p:sp>
        <p:nvSpPr>
          <p:cNvPr id="18" name="s14-speaker">
            <a:extLst xmlns:a="http://schemas.openxmlformats.org/drawingml/2006/main">
              <a:ext uri="{FF2B5EF4-FFF2-40B4-BE49-F238E27FC236}">
                <a16:creationId xmlns:a16="http://schemas.microsoft.com/office/drawing/2014/main" id="{3CE4EB30-60A8-4A1A-A625-CBC92754DF5F}"/>
              </a:ext>
            </a:extLst>
          </p:cNvPr>
          <p:cNvSpPr>
            <a:spLocks xmlns:a="http://schemas.openxmlformats.org/drawingml/2006/main" noGrp="1"/>
          </p:cNvSpPr>
          <p:nvPr/>
        </p:nvSpPr>
        <p:spPr>
          <a:xfrm xmlns:a="http://schemas.openxmlformats.org/drawingml/2006/main">
            <a:off x="8096250" y="5505450"/>
            <a:ext cx="3486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1650" b="1">
                <a:solidFill>
                  <a:srgbClr val="F4F4F5"/>
                </a:solidFill>
                <a:latin typeface="Segoe UI"/>
                <a:ea typeface="Segoe UI"/>
                <a:cs typeface="Segoe UI"/>
              </a:defRPr>
            </a:pPr>
            <a:r>
              <a:rPr sz="1650" b="1">
                <a:solidFill>
                  <a:srgbClr val="F4F4F5"/>
                </a:solidFill>
                <a:latin typeface="Segoe UI"/>
                <a:ea typeface="Segoe UI"/>
                <a:cs typeface="Segoe UI"/>
              </a:rPr>
              <a:t>Paul Swider  //  RealActivity</a:t>
            </a:r>
          </a:p>
        </p:txBody>
      </p:sp>
    </p:spTree>
    <p:extLst>
      <p:ext uri="{BB962C8B-B14F-4D97-AF65-F5344CB8AC3E}">
        <p14:creationId xmlns:p14="http://schemas.microsoft.com/office/powerpoint/2010/main" val="624387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2DF60B20C5234796CC4205A29B7A14" ma:contentTypeVersion="13" ma:contentTypeDescription="Create a new document." ma:contentTypeScope="" ma:versionID="38f65b7232aec387f9471d0b84c1e705">
  <xsd:schema xmlns:xsd="http://www.w3.org/2001/XMLSchema" xmlns:xs="http://www.w3.org/2001/XMLSchema" xmlns:p="http://schemas.microsoft.com/office/2006/metadata/properties" xmlns:ns2="620667fb-ab9c-44d0-a596-5219485867fd" xmlns:ns3="2f90ad7f-70d6-4050-b507-e7ffbd67291a" targetNamespace="http://schemas.microsoft.com/office/2006/metadata/properties" ma:root="true" ma:fieldsID="fce66d18c55ef8b0bd453eea471cde14" ns2:_="" ns3:_="">
    <xsd:import namespace="620667fb-ab9c-44d0-a596-5219485867fd"/>
    <xsd:import namespace="2f90ad7f-70d6-4050-b507-e7ffbd6729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LengthInSecond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0667fb-ab9c-44d0-a596-5219485867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0d260918-0ce5-4307-bbe9-322b6b644659"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f90ad7f-70d6-4050-b507-e7ffbd67291a"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dbde7881-23d6-48fd-8a70-da04a7b08c21}" ma:internalName="TaxCatchAll" ma:showField="CatchAllData" ma:web="2f90ad7f-70d6-4050-b507-e7ffbd6729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f90ad7f-70d6-4050-b507-e7ffbd67291a" xsi:nil="true"/>
    <lcf76f155ced4ddcb4097134ff3c332f xmlns="620667fb-ab9c-44d0-a596-5219485867f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C9CB263-D52A-42C6-8A86-263BFD62E579}"/>
</file>

<file path=customXml/itemProps2.xml><?xml version="1.0" encoding="utf-8"?>
<ds:datastoreItem xmlns:ds="http://schemas.openxmlformats.org/officeDocument/2006/customXml" ds:itemID="{F3581E0E-9CBC-448D-9E85-717098926B18}"/>
</file>

<file path=customXml/itemProps3.xml><?xml version="1.0" encoding="utf-8"?>
<ds:datastoreItem xmlns:ds="http://schemas.openxmlformats.org/officeDocument/2006/customXml" ds:itemID="{A6A6FA14-7DEF-420D-BD63-A6A0DBA664E3}"/>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dcterms:created xsi:type="dcterms:W3CDTF">2026-09-28T21:35:11Z</dcterms:created>
  <dcterms:modified xsi:type="dcterms:W3CDTF">2026-09-28T21:35:11Z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0x010100CE2DF60B20C5234796CC4205A29B7A14</vt:lpwstr>
  </property>
</Properties>
</file>